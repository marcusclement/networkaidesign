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Open Sauce Bold" charset="1" panose="00000800000000000000"/>
      <p:regular r:id="rId25"/>
    </p:embeddedFont>
    <p:embeddedFont>
      <p:font typeface="Open Sauce Italics" charset="1" panose="00000500000000000000"/>
      <p:regular r:id="rId26"/>
    </p:embeddedFont>
    <p:embeddedFont>
      <p:font typeface="Open Sauce Bold Italics" charset="1" panose="00000800000000000000"/>
      <p:regular r:id="rId27"/>
    </p:embeddedFont>
    <p:embeddedFont>
      <p:font typeface="Open Sauce" charset="1" panose="00000500000000000000"/>
      <p:regular r:id="rId28"/>
    </p:embeddedFont>
    <p:embeddedFont>
      <p:font typeface="HK Grotesk Bold" charset="1" panose="00000800000000000000"/>
      <p:regular r:id="rId29"/>
    </p:embeddedFont>
    <p:embeddedFont>
      <p:font typeface="HK Grotesk" charset="1" panose="00000500000000000000"/>
      <p:regular r:id="rId30"/>
    </p:embeddedFont>
    <p:embeddedFont>
      <p:font typeface="HK Grotesk Italics" charset="1" panose="000005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fonts/font35.fntdata" Type="http://schemas.openxmlformats.org/officeDocument/2006/relationships/font"/><Relationship Id="rId36" Target="notesSlides/notesSlide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how to effectively vibe code:</a:t>
            </a:r>
          </a:p>
          <a:p>
            <a:r>
              <a:rPr lang="en-US"/>
              <a:t>1. describe what you want</a:t>
            </a:r>
          </a:p>
          <a:p>
            <a:r>
              <a:rPr lang="en-US"/>
              <a:t/>
            </a:r>
          </a:p>
          <a:p>
            <a:r>
              <a:rPr lang="en-US"/>
              <a:t>you don't want to be like what Andrej said in the post. you want to vibe with intention, and be confident that you understand the product/codebase and what's changing between each prompt. </a:t>
            </a:r>
          </a:p>
          <a:p>
            <a:r>
              <a:rPr lang="en-US"/>
              <a:t/>
            </a:r>
          </a:p>
          <a:p>
            <a:r>
              <a:rPr lang="en-US"/>
              <a:t>If you're building a website, you have to outline the behavior of the website, what functions it serves, and what features it has. </a:t>
            </a:r>
          </a:p>
          <a:p>
            <a:r>
              <a:rPr lang="en-US"/>
              <a:t/>
            </a:r>
          </a:p>
          <a:p>
            <a:r>
              <a:rPr lang="en-US"/>
              <a:t>terrible example: doesn't know what website you're thinking of , so it's a blank welcome page.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make sure everyone has:</a:t>
            </a:r>
          </a:p>
          <a:p>
            <a:r>
              <a:rPr lang="en-US"/>
              <a:t>- cursor</a:t>
            </a:r>
          </a:p>
          <a:p>
            <a:r>
              <a:rPr lang="en-US"/>
              <a:t>- github</a:t>
            </a:r>
          </a:p>
          <a:p>
            <a:r>
              <a:rPr lang="en-US"/>
              <a:t>- vercel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Vibe coding existed before the term was coined. It started in late 2024 but became popular after Andrej Karpathy called it "vibe coding". </a:t>
            </a:r>
          </a:p>
          <a:p>
            <a:r>
              <a:rPr lang="en-US"/>
              <a:t/>
            </a:r>
          </a:p>
          <a:p>
            <a:r>
              <a:rPr lang="en-US"/>
              <a:t>Andrej -&gt; founding member of OpenAI and the ex-Director of AI at Tesla</a:t>
            </a:r>
          </a:p>
          <a:p>
            <a:r>
              <a:rPr lang="en-US"/>
              <a:t/>
            </a:r>
          </a:p>
          <a:p>
            <a:r>
              <a:rPr lang="en-US"/>
              <a:t>He described it as "fully giving into the vibes" and "forget that the code even exists", and letting agents write every line of code. He mentioned that Cursor Composer with Claude Sonnet was getting too good, but this was back in 2025, it's exponentially better now and easier for the average joe to build something. </a:t>
            </a:r>
          </a:p>
          <a:p>
            <a:r>
              <a:rPr lang="en-US"/>
              <a:t/>
            </a:r>
          </a:p>
          <a:p>
            <a:r>
              <a:rPr lang="en-US"/>
              <a:t>The rest of the post explains his process of using the vibe coding tools. </a:t>
            </a:r>
          </a:p>
          <a:p>
            <a:r>
              <a:rPr lang="en-US"/>
              <a:t/>
            </a:r>
          </a:p>
          <a:p>
            <a:r>
              <a:rPr lang="en-US"/>
              <a:t>TLDR: building software by describing what you want; not writing every line yourself. </a:t>
            </a:r>
          </a:p>
          <a:p>
            <a:r>
              <a:rPr lang="en-US"/>
              <a:t/>
            </a:r>
          </a:p>
          <a:p>
            <a:r>
              <a:rPr lang="en-US"/>
              <a:t>If youre building a product, you'd want a clear goal of what you're building, iterate on the details the agent missed, and perform effective quality control before shipping the final product.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76967" y="-471864"/>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2257431" y="-589922"/>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875865" y="5474562"/>
            <a:ext cx="5106168" cy="946210"/>
            <a:chOff x="0" y="0"/>
            <a:chExt cx="1236037" cy="229047"/>
          </a:xfrm>
        </p:grpSpPr>
        <p:sp>
          <p:nvSpPr>
            <p:cNvPr name="Freeform 10" id="10"/>
            <p:cNvSpPr/>
            <p:nvPr/>
          </p:nvSpPr>
          <p:spPr>
            <a:xfrm flipH="false" flipV="false" rot="0">
              <a:off x="0" y="0"/>
              <a:ext cx="1236037" cy="229047"/>
            </a:xfrm>
            <a:custGeom>
              <a:avLst/>
              <a:gdLst/>
              <a:ahLst/>
              <a:cxnLst/>
              <a:rect r="r" b="b" t="t" l="l"/>
              <a:pathLst>
                <a:path h="229047" w="1236037">
                  <a:moveTo>
                    <a:pt x="113714" y="0"/>
                  </a:moveTo>
                  <a:lnTo>
                    <a:pt x="1122323" y="0"/>
                  </a:lnTo>
                  <a:cubicBezTo>
                    <a:pt x="1152481" y="0"/>
                    <a:pt x="1181405" y="11981"/>
                    <a:pt x="1202731" y="33306"/>
                  </a:cubicBezTo>
                  <a:cubicBezTo>
                    <a:pt x="1224056" y="54632"/>
                    <a:pt x="1236037" y="83555"/>
                    <a:pt x="1236037" y="113714"/>
                  </a:cubicBezTo>
                  <a:lnTo>
                    <a:pt x="1236037" y="115332"/>
                  </a:lnTo>
                  <a:cubicBezTo>
                    <a:pt x="1236037" y="145491"/>
                    <a:pt x="1224056" y="174415"/>
                    <a:pt x="1202731" y="195740"/>
                  </a:cubicBezTo>
                  <a:cubicBezTo>
                    <a:pt x="1181405" y="217066"/>
                    <a:pt x="1152481" y="229047"/>
                    <a:pt x="1122323" y="229047"/>
                  </a:cubicBezTo>
                  <a:lnTo>
                    <a:pt x="113714" y="229047"/>
                  </a:lnTo>
                  <a:cubicBezTo>
                    <a:pt x="83555" y="229047"/>
                    <a:pt x="54632" y="217066"/>
                    <a:pt x="33306" y="195740"/>
                  </a:cubicBezTo>
                  <a:cubicBezTo>
                    <a:pt x="11981" y="174415"/>
                    <a:pt x="0" y="145491"/>
                    <a:pt x="0" y="115332"/>
                  </a:cubicBezTo>
                  <a:lnTo>
                    <a:pt x="0" y="113714"/>
                  </a:lnTo>
                  <a:cubicBezTo>
                    <a:pt x="0" y="83555"/>
                    <a:pt x="11981" y="54632"/>
                    <a:pt x="33306" y="33306"/>
                  </a:cubicBezTo>
                  <a:cubicBezTo>
                    <a:pt x="54632" y="11981"/>
                    <a:pt x="83555" y="0"/>
                    <a:pt x="113714" y="0"/>
                  </a:cubicBezTo>
                  <a:close/>
                </a:path>
              </a:pathLst>
            </a:custGeom>
            <a:solidFill>
              <a:srgbClr val="A6B3FF">
                <a:alpha val="74902"/>
              </a:srgbClr>
            </a:solidFill>
            <a:ln w="19050" cap="rnd">
              <a:solidFill>
                <a:srgbClr val="99CCFF">
                  <a:alpha val="74902"/>
                </a:srgbClr>
              </a:solidFill>
              <a:prstDash val="solid"/>
              <a:round/>
            </a:ln>
          </p:spPr>
        </p:sp>
        <p:sp>
          <p:nvSpPr>
            <p:cNvPr name="TextBox 11" id="11"/>
            <p:cNvSpPr txBox="true"/>
            <p:nvPr/>
          </p:nvSpPr>
          <p:spPr>
            <a:xfrm>
              <a:off x="0" y="-28575"/>
              <a:ext cx="1236037" cy="257622"/>
            </a:xfrm>
            <a:prstGeom prst="rect">
              <a:avLst/>
            </a:prstGeom>
          </p:spPr>
          <p:txBody>
            <a:bodyPr anchor="ctr" rtlCol="false" tIns="50800" lIns="50800" bIns="50800" rIns="50800"/>
            <a:lstStyle/>
            <a:p>
              <a:pPr algn="ctr">
                <a:lnSpc>
                  <a:spcPts val="2100"/>
                </a:lnSpc>
              </a:pPr>
            </a:p>
          </p:txBody>
        </p:sp>
      </p:grpSp>
      <p:sp>
        <p:nvSpPr>
          <p:cNvPr name="Freeform 12" id="12"/>
          <p:cNvSpPr/>
          <p:nvPr/>
        </p:nvSpPr>
        <p:spPr>
          <a:xfrm flipH="false" flipV="false" rot="0">
            <a:off x="2876801" y="3108571"/>
            <a:ext cx="3045874" cy="2365991"/>
          </a:xfrm>
          <a:custGeom>
            <a:avLst/>
            <a:gdLst/>
            <a:ahLst/>
            <a:cxnLst/>
            <a:rect r="r" b="b" t="t" l="l"/>
            <a:pathLst>
              <a:path h="2365991" w="3045874">
                <a:moveTo>
                  <a:pt x="0" y="0"/>
                </a:moveTo>
                <a:lnTo>
                  <a:pt x="3045874" y="0"/>
                </a:lnTo>
                <a:lnTo>
                  <a:pt x="3045874" y="2365991"/>
                </a:lnTo>
                <a:lnTo>
                  <a:pt x="0" y="2365991"/>
                </a:lnTo>
                <a:lnTo>
                  <a:pt x="0" y="0"/>
                </a:lnTo>
                <a:close/>
              </a:path>
            </a:pathLst>
          </a:custGeom>
          <a:blipFill>
            <a:blip r:embed="rId4"/>
            <a:stretch>
              <a:fillRect l="0" t="0" r="0" b="0"/>
            </a:stretch>
          </a:blipFill>
        </p:spPr>
      </p:sp>
      <p:sp>
        <p:nvSpPr>
          <p:cNvPr name="Freeform 13" id="13"/>
          <p:cNvSpPr/>
          <p:nvPr/>
        </p:nvSpPr>
        <p:spPr>
          <a:xfrm flipH="false" flipV="false" rot="0">
            <a:off x="16567481" y="342820"/>
            <a:ext cx="1250289" cy="928451"/>
          </a:xfrm>
          <a:custGeom>
            <a:avLst/>
            <a:gdLst/>
            <a:ahLst/>
            <a:cxnLst/>
            <a:rect r="r" b="b" t="t" l="l"/>
            <a:pathLst>
              <a:path h="928451" w="1250289">
                <a:moveTo>
                  <a:pt x="0" y="0"/>
                </a:moveTo>
                <a:lnTo>
                  <a:pt x="1250288" y="0"/>
                </a:lnTo>
                <a:lnTo>
                  <a:pt x="1250288" y="928451"/>
                </a:lnTo>
                <a:lnTo>
                  <a:pt x="0" y="928451"/>
                </a:lnTo>
                <a:lnTo>
                  <a:pt x="0" y="0"/>
                </a:lnTo>
                <a:close/>
              </a:path>
            </a:pathLst>
          </a:custGeom>
          <a:blipFill>
            <a:blip r:embed="rId5"/>
            <a:stretch>
              <a:fillRect l="-1658" t="0" r="-1658" b="0"/>
            </a:stretch>
          </a:blipFill>
        </p:spPr>
      </p:sp>
      <p:sp>
        <p:nvSpPr>
          <p:cNvPr name="TextBox 14" id="14"/>
          <p:cNvSpPr txBox="true"/>
          <p:nvPr/>
        </p:nvSpPr>
        <p:spPr>
          <a:xfrm rot="0">
            <a:off x="5607099" y="3527671"/>
            <a:ext cx="9339737" cy="1790130"/>
          </a:xfrm>
          <a:prstGeom prst="rect">
            <a:avLst/>
          </a:prstGeom>
        </p:spPr>
        <p:txBody>
          <a:bodyPr anchor="t" rtlCol="false" tIns="0" lIns="0" bIns="0" rIns="0">
            <a:spAutoFit/>
          </a:bodyPr>
          <a:lstStyle/>
          <a:p>
            <a:pPr algn="ctr" marL="0" indent="0" lvl="0">
              <a:lnSpc>
                <a:spcPts val="13086"/>
              </a:lnSpc>
            </a:pPr>
            <a:r>
              <a:rPr lang="en-US" b="true" sz="14540" spc="-872">
                <a:solidFill>
                  <a:srgbClr val="9CA5DA"/>
                </a:solidFill>
                <a:latin typeface="Open Sauce Bold"/>
                <a:ea typeface="Open Sauce Bold"/>
                <a:cs typeface="Open Sauce Bold"/>
                <a:sym typeface="Open Sauce Bold"/>
              </a:rPr>
              <a:t>Network</a:t>
            </a:r>
            <a:r>
              <a:rPr lang="en-US" b="true" sz="14540" spc="-872">
                <a:solidFill>
                  <a:srgbClr val="A6B3FF"/>
                </a:solidFill>
                <a:latin typeface="Open Sauce Bold"/>
                <a:ea typeface="Open Sauce Bold"/>
                <a:cs typeface="Open Sauce Bold"/>
                <a:sym typeface="Open Sauce Bold"/>
              </a:rPr>
              <a:t>AI</a:t>
            </a:r>
          </a:p>
        </p:txBody>
      </p:sp>
      <p:sp>
        <p:nvSpPr>
          <p:cNvPr name="TextBox 15" id="15"/>
          <p:cNvSpPr txBox="true"/>
          <p:nvPr/>
        </p:nvSpPr>
        <p:spPr>
          <a:xfrm rot="0">
            <a:off x="6263772" y="5737351"/>
            <a:ext cx="6330355" cy="553982"/>
          </a:xfrm>
          <a:prstGeom prst="rect">
            <a:avLst/>
          </a:prstGeom>
        </p:spPr>
        <p:txBody>
          <a:bodyPr anchor="t" rtlCol="false" tIns="0" lIns="0" bIns="0" rIns="0">
            <a:spAutoFit/>
          </a:bodyPr>
          <a:lstStyle/>
          <a:p>
            <a:pPr algn="ctr" marL="0" indent="0" lvl="0">
              <a:lnSpc>
                <a:spcPts val="4086"/>
              </a:lnSpc>
            </a:pPr>
            <a:r>
              <a:rPr lang="en-US" b="true" sz="4540" spc="-272">
                <a:gradFill>
                  <a:gsLst>
                    <a:gs pos="0">
                      <a:srgbClr val="99CCFF">
                        <a:alpha val="100000"/>
                      </a:srgbClr>
                    </a:gs>
                    <a:gs pos="33333">
                      <a:srgbClr val="FFFFFF">
                        <a:alpha val="100000"/>
                      </a:srgbClr>
                    </a:gs>
                    <a:gs pos="66667">
                      <a:srgbClr val="FFFFFF">
                        <a:alpha val="100000"/>
                      </a:srgbClr>
                    </a:gs>
                    <a:gs pos="100000">
                      <a:srgbClr val="99CCFF">
                        <a:alpha val="100000"/>
                      </a:srgbClr>
                    </a:gs>
                  </a:gsLst>
                  <a:lin ang="5400000"/>
                </a:gradFill>
                <a:latin typeface="Open Sauce Bold"/>
                <a:ea typeface="Open Sauce Bold"/>
                <a:cs typeface="Open Sauce Bold"/>
                <a:sym typeface="Open Sauce Bold"/>
              </a:rPr>
              <a:t> Workshop</a:t>
            </a:r>
          </a:p>
        </p:txBody>
      </p:sp>
      <p:sp>
        <p:nvSpPr>
          <p:cNvPr name="TextBox 16" id="16"/>
          <p:cNvSpPr txBox="true"/>
          <p:nvPr/>
        </p:nvSpPr>
        <p:spPr>
          <a:xfrm rot="0">
            <a:off x="2995509" y="6897437"/>
            <a:ext cx="12866879" cy="3172074"/>
          </a:xfrm>
          <a:prstGeom prst="rect">
            <a:avLst/>
          </a:prstGeom>
        </p:spPr>
        <p:txBody>
          <a:bodyPr anchor="t" rtlCol="false" tIns="0" lIns="0" bIns="0" rIns="0">
            <a:spAutoFit/>
          </a:bodyPr>
          <a:lstStyle/>
          <a:p>
            <a:pPr algn="ctr">
              <a:lnSpc>
                <a:spcPts val="6320"/>
              </a:lnSpc>
            </a:pPr>
            <a:r>
              <a:rPr lang="en-US" sz="4514" i="true" spc="-158">
                <a:solidFill>
                  <a:srgbClr val="7F8BCF"/>
                </a:solidFill>
                <a:latin typeface="Open Sauce Italics"/>
                <a:ea typeface="Open Sauce Italics"/>
                <a:cs typeface="Open Sauce Italics"/>
                <a:sym typeface="Open Sauce Italics"/>
              </a:rPr>
              <a:t>An introduction to </a:t>
            </a:r>
            <a:r>
              <a:rPr lang="en-US" b="true" sz="4514" i="true" spc="-158">
                <a:solidFill>
                  <a:srgbClr val="7F8BCF"/>
                </a:solidFill>
                <a:latin typeface="Open Sauce Bold Italics"/>
                <a:ea typeface="Open Sauce Bold Italics"/>
                <a:cs typeface="Open Sauce Bold Italics"/>
                <a:sym typeface="Open Sauce Bold Italics"/>
              </a:rPr>
              <a:t>Model Context Protocol</a:t>
            </a:r>
            <a:r>
              <a:rPr lang="en-US" sz="4514" i="true" spc="-158">
                <a:solidFill>
                  <a:srgbClr val="7F8BCF"/>
                </a:solidFill>
                <a:latin typeface="Open Sauce Italics"/>
                <a:ea typeface="Open Sauce Italics"/>
                <a:cs typeface="Open Sauce Italics"/>
                <a:sym typeface="Open Sauce Italics"/>
              </a:rPr>
              <a:t> </a:t>
            </a:r>
          </a:p>
          <a:p>
            <a:pPr algn="ctr">
              <a:lnSpc>
                <a:spcPts val="6320"/>
              </a:lnSpc>
            </a:pPr>
            <a:r>
              <a:rPr lang="en-US" sz="4514" i="true" spc="-158">
                <a:solidFill>
                  <a:srgbClr val="7F8BCF"/>
                </a:solidFill>
                <a:latin typeface="Open Sauce Italics"/>
                <a:ea typeface="Open Sauce Italics"/>
                <a:cs typeface="Open Sauce Italics"/>
                <a:sym typeface="Open Sauce Italics"/>
              </a:rPr>
              <a:t>and </a:t>
            </a:r>
            <a:r>
              <a:rPr lang="en-US" b="true" sz="4514" i="true" spc="-158">
                <a:solidFill>
                  <a:srgbClr val="7F8BCF"/>
                </a:solidFill>
                <a:latin typeface="Open Sauce Bold Italics"/>
                <a:ea typeface="Open Sauce Bold Italics"/>
                <a:cs typeface="Open Sauce Bold Italics"/>
                <a:sym typeface="Open Sauce Bold Italics"/>
              </a:rPr>
              <a:t>Retrieval-Augmented Generation</a:t>
            </a:r>
          </a:p>
          <a:p>
            <a:pPr algn="ctr">
              <a:lnSpc>
                <a:spcPts val="6320"/>
              </a:lnSpc>
            </a:pPr>
          </a:p>
          <a:p>
            <a:pPr algn="ctr">
              <a:lnSpc>
                <a:spcPts val="63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8375457" y="2598719"/>
            <a:ext cx="8063800" cy="6434427"/>
            <a:chOff x="0" y="0"/>
            <a:chExt cx="2123799" cy="1694664"/>
          </a:xfrm>
        </p:grpSpPr>
        <p:sp>
          <p:nvSpPr>
            <p:cNvPr name="Freeform 11" id="11"/>
            <p:cNvSpPr/>
            <p:nvPr/>
          </p:nvSpPr>
          <p:spPr>
            <a:xfrm flipH="false" flipV="false" rot="0">
              <a:off x="0" y="0"/>
              <a:ext cx="2123799" cy="1694664"/>
            </a:xfrm>
            <a:custGeom>
              <a:avLst/>
              <a:gdLst/>
              <a:ahLst/>
              <a:cxnLst/>
              <a:rect r="r" b="b" t="t" l="l"/>
              <a:pathLst>
                <a:path h="1694664" w="2123799">
                  <a:moveTo>
                    <a:pt x="72006" y="0"/>
                  </a:moveTo>
                  <a:lnTo>
                    <a:pt x="2051793" y="0"/>
                  </a:lnTo>
                  <a:cubicBezTo>
                    <a:pt x="2070890" y="0"/>
                    <a:pt x="2089205" y="7586"/>
                    <a:pt x="2102709" y="21090"/>
                  </a:cubicBezTo>
                  <a:cubicBezTo>
                    <a:pt x="2116213" y="34594"/>
                    <a:pt x="2123799" y="52909"/>
                    <a:pt x="2123799" y="72006"/>
                  </a:cubicBezTo>
                  <a:lnTo>
                    <a:pt x="2123799" y="1622658"/>
                  </a:lnTo>
                  <a:cubicBezTo>
                    <a:pt x="2123799" y="1641755"/>
                    <a:pt x="2116213" y="1660070"/>
                    <a:pt x="2102709" y="1673574"/>
                  </a:cubicBezTo>
                  <a:cubicBezTo>
                    <a:pt x="2089205" y="1687078"/>
                    <a:pt x="2070890" y="1694664"/>
                    <a:pt x="2051793" y="1694664"/>
                  </a:cubicBezTo>
                  <a:lnTo>
                    <a:pt x="72006" y="1694664"/>
                  </a:lnTo>
                  <a:cubicBezTo>
                    <a:pt x="52909" y="1694664"/>
                    <a:pt x="34594" y="1687078"/>
                    <a:pt x="21090" y="1673574"/>
                  </a:cubicBezTo>
                  <a:cubicBezTo>
                    <a:pt x="7586" y="1660070"/>
                    <a:pt x="0" y="1641755"/>
                    <a:pt x="0" y="1622658"/>
                  </a:cubicBezTo>
                  <a:lnTo>
                    <a:pt x="0" y="72006"/>
                  </a:lnTo>
                  <a:cubicBezTo>
                    <a:pt x="0" y="52909"/>
                    <a:pt x="7586" y="34594"/>
                    <a:pt x="21090" y="21090"/>
                  </a:cubicBezTo>
                  <a:cubicBezTo>
                    <a:pt x="34594" y="7586"/>
                    <a:pt x="52909" y="0"/>
                    <a:pt x="72006" y="0"/>
                  </a:cubicBezTo>
                  <a:close/>
                </a:path>
              </a:pathLst>
            </a:custGeom>
            <a:gradFill rotWithShape="true">
              <a:gsLst>
                <a:gs pos="0">
                  <a:srgbClr val="9CA5DA">
                    <a:alpha val="52000"/>
                  </a:srgbClr>
                </a:gs>
                <a:gs pos="25000">
                  <a:srgbClr val="FFFFFF">
                    <a:alpha val="28500"/>
                  </a:srgbClr>
                </a:gs>
                <a:gs pos="50000">
                  <a:srgbClr val="FFFFFF">
                    <a:alpha val="100000"/>
                  </a:srgbClr>
                </a:gs>
                <a:gs pos="75000">
                  <a:srgbClr val="FFFFFF">
                    <a:alpha val="23500"/>
                  </a:srgbClr>
                </a:gs>
                <a:gs pos="100000">
                  <a:srgbClr val="9CA5DA">
                    <a:alpha val="23500"/>
                  </a:srgbClr>
                </a:gs>
              </a:gsLst>
              <a:lin ang="5400000"/>
            </a:gradFill>
            <a:ln w="19050" cap="rnd">
              <a:solidFill>
                <a:srgbClr val="9CA5DA"/>
              </a:solidFill>
              <a:prstDash val="solid"/>
              <a:round/>
            </a:ln>
          </p:spPr>
        </p:sp>
        <p:sp>
          <p:nvSpPr>
            <p:cNvPr name="TextBox 12" id="12"/>
            <p:cNvSpPr txBox="true"/>
            <p:nvPr/>
          </p:nvSpPr>
          <p:spPr>
            <a:xfrm>
              <a:off x="0" y="-38100"/>
              <a:ext cx="2123799" cy="1732764"/>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726766" y="4489278"/>
            <a:ext cx="9634225" cy="2642239"/>
          </a:xfrm>
          <a:prstGeom prst="rect">
            <a:avLst/>
          </a:prstGeom>
        </p:spPr>
        <p:txBody>
          <a:bodyPr anchor="t" rtlCol="false" tIns="0" lIns="0" bIns="0" rIns="0">
            <a:spAutoFit/>
          </a:bodyPr>
          <a:lstStyle/>
          <a:p>
            <a:pPr algn="l">
              <a:lnSpc>
                <a:spcPts val="10080"/>
              </a:lnSpc>
            </a:pPr>
            <a:r>
              <a:rPr lang="en-US" sz="11200" spc="-672" b="true">
                <a:solidFill>
                  <a:srgbClr val="7681BD"/>
                </a:solidFill>
                <a:latin typeface="Open Sauce Bold"/>
                <a:ea typeface="Open Sauce Bold"/>
                <a:cs typeface="Open Sauce Bold"/>
                <a:sym typeface="Open Sauce Bold"/>
              </a:rPr>
              <a:t>Today’s</a:t>
            </a:r>
          </a:p>
          <a:p>
            <a:pPr algn="l" marL="0" indent="0" lvl="0">
              <a:lnSpc>
                <a:spcPts val="9900"/>
              </a:lnSpc>
            </a:pPr>
            <a:r>
              <a:rPr lang="en-US" sz="11000" spc="-660">
                <a:solidFill>
                  <a:srgbClr val="9CA5DA"/>
                </a:solidFill>
                <a:latin typeface="Open Sauce"/>
                <a:ea typeface="Open Sauce"/>
                <a:cs typeface="Open Sauce"/>
                <a:sym typeface="Open Sauce"/>
              </a:rPr>
              <a:t>Agenda</a:t>
            </a:r>
          </a:p>
        </p:txBody>
      </p:sp>
      <p:sp>
        <p:nvSpPr>
          <p:cNvPr name="TextBox 14" id="14"/>
          <p:cNvSpPr txBox="true"/>
          <p:nvPr/>
        </p:nvSpPr>
        <p:spPr>
          <a:xfrm rot="0">
            <a:off x="9144000" y="3955070"/>
            <a:ext cx="989415" cy="429794"/>
          </a:xfrm>
          <a:prstGeom prst="rect">
            <a:avLst/>
          </a:prstGeom>
        </p:spPr>
        <p:txBody>
          <a:bodyPr anchor="t" rtlCol="false" tIns="0" lIns="0" bIns="0" rIns="0">
            <a:spAutoFit/>
          </a:bodyPr>
          <a:lstStyle/>
          <a:p>
            <a:pPr algn="ctr">
              <a:lnSpc>
                <a:spcPts val="3135"/>
              </a:lnSpc>
            </a:pPr>
            <a:r>
              <a:rPr lang="en-US" b="true" sz="3335" spc="-156">
                <a:solidFill>
                  <a:srgbClr val="7681BD"/>
                </a:solidFill>
                <a:latin typeface="Open Sauce Bold"/>
                <a:ea typeface="Open Sauce Bold"/>
                <a:cs typeface="Open Sauce Bold"/>
                <a:sym typeface="Open Sauce Bold"/>
              </a:rPr>
              <a:t>01</a:t>
            </a:r>
          </a:p>
        </p:txBody>
      </p:sp>
      <p:sp>
        <p:nvSpPr>
          <p:cNvPr name="TextBox 15" id="15"/>
          <p:cNvSpPr txBox="true"/>
          <p:nvPr/>
        </p:nvSpPr>
        <p:spPr>
          <a:xfrm rot="0">
            <a:off x="9144000" y="4728796"/>
            <a:ext cx="989415" cy="429794"/>
          </a:xfrm>
          <a:prstGeom prst="rect">
            <a:avLst/>
          </a:prstGeom>
        </p:spPr>
        <p:txBody>
          <a:bodyPr anchor="t" rtlCol="false" tIns="0" lIns="0" bIns="0" rIns="0">
            <a:spAutoFit/>
          </a:bodyPr>
          <a:lstStyle/>
          <a:p>
            <a:pPr algn="ctr">
              <a:lnSpc>
                <a:spcPts val="3135"/>
              </a:lnSpc>
            </a:pPr>
            <a:r>
              <a:rPr lang="en-US" b="true" sz="3335" spc="-156">
                <a:solidFill>
                  <a:srgbClr val="7681BD"/>
                </a:solidFill>
                <a:latin typeface="Open Sauce Bold"/>
                <a:ea typeface="Open Sauce Bold"/>
                <a:cs typeface="Open Sauce Bold"/>
                <a:sym typeface="Open Sauce Bold"/>
              </a:rPr>
              <a:t>02</a:t>
            </a:r>
          </a:p>
        </p:txBody>
      </p:sp>
      <p:sp>
        <p:nvSpPr>
          <p:cNvPr name="TextBox 16" id="16"/>
          <p:cNvSpPr txBox="true"/>
          <p:nvPr/>
        </p:nvSpPr>
        <p:spPr>
          <a:xfrm rot="0">
            <a:off x="10508257" y="4785946"/>
            <a:ext cx="5324141" cy="403299"/>
          </a:xfrm>
          <a:prstGeom prst="rect">
            <a:avLst/>
          </a:prstGeom>
        </p:spPr>
        <p:txBody>
          <a:bodyPr anchor="t" rtlCol="false" tIns="0" lIns="0" bIns="0" rIns="0">
            <a:spAutoFit/>
          </a:bodyPr>
          <a:lstStyle/>
          <a:p>
            <a:pPr algn="l">
              <a:lnSpc>
                <a:spcPts val="2971"/>
              </a:lnSpc>
            </a:pPr>
            <a:r>
              <a:rPr lang="en-US" sz="3161" spc="-148">
                <a:solidFill>
                  <a:srgbClr val="7681BD"/>
                </a:solidFill>
                <a:latin typeface="Open Sauce"/>
                <a:ea typeface="Open Sauce"/>
                <a:cs typeface="Open Sauce"/>
                <a:sym typeface="Open Sauce"/>
              </a:rPr>
              <a:t>Intro to MCP  </a:t>
            </a:r>
          </a:p>
        </p:txBody>
      </p:sp>
      <p:sp>
        <p:nvSpPr>
          <p:cNvPr name="TextBox 17" id="17"/>
          <p:cNvSpPr txBox="true"/>
          <p:nvPr/>
        </p:nvSpPr>
        <p:spPr>
          <a:xfrm rot="0">
            <a:off x="10508257" y="5519158"/>
            <a:ext cx="5324141" cy="403299"/>
          </a:xfrm>
          <a:prstGeom prst="rect">
            <a:avLst/>
          </a:prstGeom>
        </p:spPr>
        <p:txBody>
          <a:bodyPr anchor="t" rtlCol="false" tIns="0" lIns="0" bIns="0" rIns="0">
            <a:spAutoFit/>
          </a:bodyPr>
          <a:lstStyle/>
          <a:p>
            <a:pPr algn="l">
              <a:lnSpc>
                <a:spcPts val="2971"/>
              </a:lnSpc>
            </a:pPr>
            <a:r>
              <a:rPr lang="en-US" sz="3161" spc="-148">
                <a:solidFill>
                  <a:srgbClr val="7681BD"/>
                </a:solidFill>
                <a:latin typeface="Open Sauce"/>
                <a:ea typeface="Open Sauce"/>
                <a:cs typeface="Open Sauce"/>
                <a:sym typeface="Open Sauce"/>
              </a:rPr>
              <a:t>Real Examples</a:t>
            </a:r>
          </a:p>
        </p:txBody>
      </p:sp>
      <p:sp>
        <p:nvSpPr>
          <p:cNvPr name="TextBox 18" id="18"/>
          <p:cNvSpPr txBox="true"/>
          <p:nvPr/>
        </p:nvSpPr>
        <p:spPr>
          <a:xfrm rot="0">
            <a:off x="9144000" y="5502523"/>
            <a:ext cx="989415" cy="429794"/>
          </a:xfrm>
          <a:prstGeom prst="rect">
            <a:avLst/>
          </a:prstGeom>
        </p:spPr>
        <p:txBody>
          <a:bodyPr anchor="t" rtlCol="false" tIns="0" lIns="0" bIns="0" rIns="0">
            <a:spAutoFit/>
          </a:bodyPr>
          <a:lstStyle/>
          <a:p>
            <a:pPr algn="ctr">
              <a:lnSpc>
                <a:spcPts val="3135"/>
              </a:lnSpc>
            </a:pPr>
            <a:r>
              <a:rPr lang="en-US" b="true" sz="3335" spc="-156">
                <a:solidFill>
                  <a:srgbClr val="7681BD"/>
                </a:solidFill>
                <a:latin typeface="Open Sauce Bold"/>
                <a:ea typeface="Open Sauce Bold"/>
                <a:cs typeface="Open Sauce Bold"/>
                <a:sym typeface="Open Sauce Bold"/>
              </a:rPr>
              <a:t>03</a:t>
            </a:r>
          </a:p>
        </p:txBody>
      </p:sp>
      <p:sp>
        <p:nvSpPr>
          <p:cNvPr name="TextBox 19" id="19"/>
          <p:cNvSpPr txBox="true"/>
          <p:nvPr/>
        </p:nvSpPr>
        <p:spPr>
          <a:xfrm rot="0">
            <a:off x="10508257" y="6252370"/>
            <a:ext cx="5324141" cy="403299"/>
          </a:xfrm>
          <a:prstGeom prst="rect">
            <a:avLst/>
          </a:prstGeom>
        </p:spPr>
        <p:txBody>
          <a:bodyPr anchor="t" rtlCol="false" tIns="0" lIns="0" bIns="0" rIns="0">
            <a:spAutoFit/>
          </a:bodyPr>
          <a:lstStyle/>
          <a:p>
            <a:pPr algn="l">
              <a:lnSpc>
                <a:spcPts val="2971"/>
              </a:lnSpc>
            </a:pPr>
            <a:r>
              <a:rPr lang="en-US" sz="3161" spc="-148">
                <a:solidFill>
                  <a:srgbClr val="7681BD"/>
                </a:solidFill>
                <a:latin typeface="Open Sauce"/>
                <a:ea typeface="Open Sauce"/>
                <a:cs typeface="Open Sauce"/>
                <a:sym typeface="Open Sauce"/>
              </a:rPr>
              <a:t>Demo &amp; Applications</a:t>
            </a:r>
          </a:p>
        </p:txBody>
      </p:sp>
      <p:sp>
        <p:nvSpPr>
          <p:cNvPr name="TextBox 20" id="20"/>
          <p:cNvSpPr txBox="true"/>
          <p:nvPr/>
        </p:nvSpPr>
        <p:spPr>
          <a:xfrm rot="0">
            <a:off x="9144000" y="6276249"/>
            <a:ext cx="989415" cy="429794"/>
          </a:xfrm>
          <a:prstGeom prst="rect">
            <a:avLst/>
          </a:prstGeom>
        </p:spPr>
        <p:txBody>
          <a:bodyPr anchor="t" rtlCol="false" tIns="0" lIns="0" bIns="0" rIns="0">
            <a:spAutoFit/>
          </a:bodyPr>
          <a:lstStyle/>
          <a:p>
            <a:pPr algn="ctr">
              <a:lnSpc>
                <a:spcPts val="3135"/>
              </a:lnSpc>
            </a:pPr>
            <a:r>
              <a:rPr lang="en-US" b="true" sz="3335" spc="-156">
                <a:solidFill>
                  <a:srgbClr val="7681BD"/>
                </a:solidFill>
                <a:latin typeface="Open Sauce Bold"/>
                <a:ea typeface="Open Sauce Bold"/>
                <a:cs typeface="Open Sauce Bold"/>
                <a:sym typeface="Open Sauce Bold"/>
              </a:rPr>
              <a:t>04</a:t>
            </a:r>
          </a:p>
        </p:txBody>
      </p:sp>
      <p:sp>
        <p:nvSpPr>
          <p:cNvPr name="TextBox 21" id="21"/>
          <p:cNvSpPr txBox="true"/>
          <p:nvPr/>
        </p:nvSpPr>
        <p:spPr>
          <a:xfrm rot="0">
            <a:off x="10508257" y="6985582"/>
            <a:ext cx="5324141" cy="403299"/>
          </a:xfrm>
          <a:prstGeom prst="rect">
            <a:avLst/>
          </a:prstGeom>
        </p:spPr>
        <p:txBody>
          <a:bodyPr anchor="t" rtlCol="false" tIns="0" lIns="0" bIns="0" rIns="0">
            <a:spAutoFit/>
          </a:bodyPr>
          <a:lstStyle/>
          <a:p>
            <a:pPr algn="l">
              <a:lnSpc>
                <a:spcPts val="2971"/>
              </a:lnSpc>
            </a:pPr>
            <a:r>
              <a:rPr lang="en-US" sz="3161" spc="-148">
                <a:solidFill>
                  <a:srgbClr val="7681BD"/>
                </a:solidFill>
                <a:latin typeface="Open Sauce"/>
                <a:ea typeface="Open Sauce"/>
                <a:cs typeface="Open Sauce"/>
                <a:sym typeface="Open Sauce"/>
              </a:rPr>
              <a:t>Intro to RAG &amp; NotebookLM</a:t>
            </a:r>
          </a:p>
        </p:txBody>
      </p:sp>
      <p:sp>
        <p:nvSpPr>
          <p:cNvPr name="TextBox 22" id="22"/>
          <p:cNvSpPr txBox="true"/>
          <p:nvPr/>
        </p:nvSpPr>
        <p:spPr>
          <a:xfrm rot="0">
            <a:off x="9144000" y="7049975"/>
            <a:ext cx="989415" cy="429794"/>
          </a:xfrm>
          <a:prstGeom prst="rect">
            <a:avLst/>
          </a:prstGeom>
        </p:spPr>
        <p:txBody>
          <a:bodyPr anchor="t" rtlCol="false" tIns="0" lIns="0" bIns="0" rIns="0">
            <a:spAutoFit/>
          </a:bodyPr>
          <a:lstStyle/>
          <a:p>
            <a:pPr algn="ctr">
              <a:lnSpc>
                <a:spcPts val="3135"/>
              </a:lnSpc>
            </a:pPr>
            <a:r>
              <a:rPr lang="en-US" b="true" sz="3335" spc="-156">
                <a:solidFill>
                  <a:srgbClr val="7681BD"/>
                </a:solidFill>
                <a:latin typeface="Open Sauce Bold"/>
                <a:ea typeface="Open Sauce Bold"/>
                <a:cs typeface="Open Sauce Bold"/>
                <a:sym typeface="Open Sauce Bold"/>
              </a:rPr>
              <a:t>05</a:t>
            </a:r>
          </a:p>
        </p:txBody>
      </p:sp>
      <p:sp>
        <p:nvSpPr>
          <p:cNvPr name="TextBox 23" id="23"/>
          <p:cNvSpPr txBox="true"/>
          <p:nvPr/>
        </p:nvSpPr>
        <p:spPr>
          <a:xfrm rot="0">
            <a:off x="10508257" y="7755994"/>
            <a:ext cx="5324141" cy="403299"/>
          </a:xfrm>
          <a:prstGeom prst="rect">
            <a:avLst/>
          </a:prstGeom>
        </p:spPr>
        <p:txBody>
          <a:bodyPr anchor="t" rtlCol="false" tIns="0" lIns="0" bIns="0" rIns="0">
            <a:spAutoFit/>
          </a:bodyPr>
          <a:lstStyle/>
          <a:p>
            <a:pPr algn="l">
              <a:lnSpc>
                <a:spcPts val="2971"/>
              </a:lnSpc>
            </a:pPr>
            <a:r>
              <a:rPr lang="en-US" sz="3161" spc="-148">
                <a:solidFill>
                  <a:srgbClr val="7681BD"/>
                </a:solidFill>
                <a:latin typeface="Open Sauce"/>
                <a:ea typeface="Open Sauce"/>
                <a:cs typeface="Open Sauce"/>
                <a:sym typeface="Open Sauce"/>
              </a:rPr>
              <a:t>Announcements</a:t>
            </a:r>
          </a:p>
        </p:txBody>
      </p:sp>
      <p:sp>
        <p:nvSpPr>
          <p:cNvPr name="TextBox 24" id="24"/>
          <p:cNvSpPr txBox="true"/>
          <p:nvPr/>
        </p:nvSpPr>
        <p:spPr>
          <a:xfrm rot="0">
            <a:off x="9144000" y="7755994"/>
            <a:ext cx="989415" cy="429794"/>
          </a:xfrm>
          <a:prstGeom prst="rect">
            <a:avLst/>
          </a:prstGeom>
        </p:spPr>
        <p:txBody>
          <a:bodyPr anchor="t" rtlCol="false" tIns="0" lIns="0" bIns="0" rIns="0">
            <a:spAutoFit/>
          </a:bodyPr>
          <a:lstStyle/>
          <a:p>
            <a:pPr algn="ctr">
              <a:lnSpc>
                <a:spcPts val="3135"/>
              </a:lnSpc>
            </a:pPr>
            <a:r>
              <a:rPr lang="en-US" b="true" sz="3335" spc="-156">
                <a:solidFill>
                  <a:srgbClr val="7681BD"/>
                </a:solidFill>
                <a:latin typeface="Open Sauce Bold"/>
                <a:ea typeface="Open Sauce Bold"/>
                <a:cs typeface="Open Sauce Bold"/>
                <a:sym typeface="Open Sauce Bold"/>
              </a:rPr>
              <a:t>06</a:t>
            </a:r>
          </a:p>
        </p:txBody>
      </p:sp>
      <p:sp>
        <p:nvSpPr>
          <p:cNvPr name="TextBox 25" id="25"/>
          <p:cNvSpPr txBox="true"/>
          <p:nvPr/>
        </p:nvSpPr>
        <p:spPr>
          <a:xfrm rot="0">
            <a:off x="10508257" y="3955070"/>
            <a:ext cx="5324141" cy="403299"/>
          </a:xfrm>
          <a:prstGeom prst="rect">
            <a:avLst/>
          </a:prstGeom>
        </p:spPr>
        <p:txBody>
          <a:bodyPr anchor="t" rtlCol="false" tIns="0" lIns="0" bIns="0" rIns="0">
            <a:spAutoFit/>
          </a:bodyPr>
          <a:lstStyle/>
          <a:p>
            <a:pPr algn="l">
              <a:lnSpc>
                <a:spcPts val="2971"/>
              </a:lnSpc>
            </a:pPr>
            <a:r>
              <a:rPr lang="en-US" sz="3161" spc="-148">
                <a:solidFill>
                  <a:srgbClr val="7681BD"/>
                </a:solidFill>
                <a:latin typeface="Open Sauce"/>
                <a:ea typeface="Open Sauce"/>
                <a:cs typeface="Open Sauce"/>
                <a:sym typeface="Open Sauce"/>
              </a:rPr>
              <a:t>Current Events</a:t>
            </a:r>
          </a:p>
        </p:txBody>
      </p:sp>
      <p:grpSp>
        <p:nvGrpSpPr>
          <p:cNvPr name="Group 26" id="26"/>
          <p:cNvGrpSpPr/>
          <p:nvPr/>
        </p:nvGrpSpPr>
        <p:grpSpPr>
          <a:xfrm rot="0">
            <a:off x="915508" y="365374"/>
            <a:ext cx="17528009" cy="832382"/>
            <a:chOff x="0" y="0"/>
            <a:chExt cx="23370678" cy="1109842"/>
          </a:xfrm>
        </p:grpSpPr>
        <p:sp>
          <p:nvSpPr>
            <p:cNvPr name="TextBox 27" id="27"/>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28" id="28"/>
            <p:cNvGrpSpPr/>
            <p:nvPr/>
          </p:nvGrpSpPr>
          <p:grpSpPr>
            <a:xfrm rot="0">
              <a:off x="18021129" y="169165"/>
              <a:ext cx="3513365" cy="715270"/>
              <a:chOff x="0" y="0"/>
              <a:chExt cx="749232" cy="152533"/>
            </a:xfrm>
          </p:grpSpPr>
          <p:sp>
            <p:nvSpPr>
              <p:cNvPr name="Freeform 29" id="29"/>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30" id="30"/>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31" id="31"/>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32" id="32"/>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76967" y="-471864"/>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2257431" y="-589922"/>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867324" y="5108507"/>
            <a:ext cx="10500418" cy="946210"/>
            <a:chOff x="0" y="0"/>
            <a:chExt cx="2541809" cy="229047"/>
          </a:xfrm>
        </p:grpSpPr>
        <p:sp>
          <p:nvSpPr>
            <p:cNvPr name="Freeform 10" id="10"/>
            <p:cNvSpPr/>
            <p:nvPr/>
          </p:nvSpPr>
          <p:spPr>
            <a:xfrm flipH="false" flipV="false" rot="0">
              <a:off x="0" y="0"/>
              <a:ext cx="2541809" cy="229047"/>
            </a:xfrm>
            <a:custGeom>
              <a:avLst/>
              <a:gdLst/>
              <a:ahLst/>
              <a:cxnLst/>
              <a:rect r="r" b="b" t="t" l="l"/>
              <a:pathLst>
                <a:path h="229047" w="2541809">
                  <a:moveTo>
                    <a:pt x="55297" y="0"/>
                  </a:moveTo>
                  <a:lnTo>
                    <a:pt x="2486512" y="0"/>
                  </a:lnTo>
                  <a:cubicBezTo>
                    <a:pt x="2517052" y="0"/>
                    <a:pt x="2541809" y="24757"/>
                    <a:pt x="2541809" y="55297"/>
                  </a:cubicBezTo>
                  <a:lnTo>
                    <a:pt x="2541809" y="173749"/>
                  </a:lnTo>
                  <a:cubicBezTo>
                    <a:pt x="2541809" y="188415"/>
                    <a:pt x="2535983" y="202480"/>
                    <a:pt x="2525613" y="212850"/>
                  </a:cubicBezTo>
                  <a:cubicBezTo>
                    <a:pt x="2515243" y="223221"/>
                    <a:pt x="2501178" y="229047"/>
                    <a:pt x="2486512" y="229047"/>
                  </a:cubicBezTo>
                  <a:lnTo>
                    <a:pt x="55297" y="229047"/>
                  </a:lnTo>
                  <a:cubicBezTo>
                    <a:pt x="24757" y="229047"/>
                    <a:pt x="0" y="204289"/>
                    <a:pt x="0" y="173749"/>
                  </a:cubicBezTo>
                  <a:lnTo>
                    <a:pt x="0" y="55297"/>
                  </a:lnTo>
                  <a:cubicBezTo>
                    <a:pt x="0" y="24757"/>
                    <a:pt x="24757" y="0"/>
                    <a:pt x="55297" y="0"/>
                  </a:cubicBezTo>
                  <a:close/>
                </a:path>
              </a:pathLst>
            </a:custGeom>
            <a:solidFill>
              <a:srgbClr val="A6B3FF">
                <a:alpha val="74902"/>
              </a:srgbClr>
            </a:solidFill>
            <a:ln w="19050" cap="rnd">
              <a:solidFill>
                <a:srgbClr val="99CCFF">
                  <a:alpha val="74902"/>
                </a:srgbClr>
              </a:solidFill>
              <a:prstDash val="solid"/>
              <a:round/>
            </a:ln>
          </p:spPr>
        </p:sp>
        <p:sp>
          <p:nvSpPr>
            <p:cNvPr name="TextBox 11" id="11"/>
            <p:cNvSpPr txBox="true"/>
            <p:nvPr/>
          </p:nvSpPr>
          <p:spPr>
            <a:xfrm>
              <a:off x="0" y="-28575"/>
              <a:ext cx="2541809" cy="257622"/>
            </a:xfrm>
            <a:prstGeom prst="rect">
              <a:avLst/>
            </a:prstGeom>
          </p:spPr>
          <p:txBody>
            <a:bodyPr anchor="ctr" rtlCol="false" tIns="50800" lIns="50800" bIns="50800" rIns="50800"/>
            <a:lstStyle/>
            <a:p>
              <a:pPr algn="ctr">
                <a:lnSpc>
                  <a:spcPts val="2100"/>
                </a:lnSpc>
              </a:pPr>
            </a:p>
          </p:txBody>
        </p:sp>
      </p:grpSp>
      <p:sp>
        <p:nvSpPr>
          <p:cNvPr name="TextBox 12" id="12"/>
          <p:cNvSpPr txBox="true"/>
          <p:nvPr/>
        </p:nvSpPr>
        <p:spPr>
          <a:xfrm rot="0">
            <a:off x="2126187" y="3196151"/>
            <a:ext cx="14035625" cy="1792254"/>
          </a:xfrm>
          <a:prstGeom prst="rect">
            <a:avLst/>
          </a:prstGeom>
        </p:spPr>
        <p:txBody>
          <a:bodyPr anchor="t" rtlCol="false" tIns="0" lIns="0" bIns="0" rIns="0">
            <a:spAutoFit/>
          </a:bodyPr>
          <a:lstStyle/>
          <a:p>
            <a:pPr algn="ctr" marL="0" indent="0" lvl="0">
              <a:lnSpc>
                <a:spcPts val="13086"/>
              </a:lnSpc>
            </a:pPr>
            <a:r>
              <a:rPr lang="en-US" b="true" sz="14540" spc="-872">
                <a:solidFill>
                  <a:srgbClr val="9CA5DA"/>
                </a:solidFill>
                <a:latin typeface="Open Sauce Bold"/>
                <a:ea typeface="Open Sauce Bold"/>
                <a:cs typeface="Open Sauce Bold"/>
                <a:sym typeface="Open Sauce Bold"/>
              </a:rPr>
              <a:t>Current </a:t>
            </a:r>
            <a:r>
              <a:rPr lang="en-US" sz="14540" spc="-872">
                <a:solidFill>
                  <a:srgbClr val="9CA5DA"/>
                </a:solidFill>
                <a:latin typeface="Open Sauce"/>
                <a:ea typeface="Open Sauce"/>
                <a:cs typeface="Open Sauce"/>
                <a:sym typeface="Open Sauce"/>
              </a:rPr>
              <a:t>Events</a:t>
            </a:r>
          </a:p>
        </p:txBody>
      </p:sp>
      <p:sp>
        <p:nvSpPr>
          <p:cNvPr name="TextBox 13" id="13"/>
          <p:cNvSpPr txBox="true"/>
          <p:nvPr/>
        </p:nvSpPr>
        <p:spPr>
          <a:xfrm rot="0">
            <a:off x="4230531" y="5361771"/>
            <a:ext cx="9774006" cy="553982"/>
          </a:xfrm>
          <a:prstGeom prst="rect">
            <a:avLst/>
          </a:prstGeom>
        </p:spPr>
        <p:txBody>
          <a:bodyPr anchor="t" rtlCol="false" tIns="0" lIns="0" bIns="0" rIns="0">
            <a:spAutoFit/>
          </a:bodyPr>
          <a:lstStyle/>
          <a:p>
            <a:pPr algn="ctr" marL="0" indent="0" lvl="0">
              <a:lnSpc>
                <a:spcPts val="4086"/>
              </a:lnSpc>
            </a:pPr>
            <a:r>
              <a:rPr lang="en-US" b="true" sz="4540" spc="-272">
                <a:gradFill>
                  <a:gsLst>
                    <a:gs pos="0">
                      <a:srgbClr val="99CCFF">
                        <a:alpha val="100000"/>
                      </a:srgbClr>
                    </a:gs>
                    <a:gs pos="33333">
                      <a:srgbClr val="FFFFFF">
                        <a:alpha val="100000"/>
                      </a:srgbClr>
                    </a:gs>
                    <a:gs pos="66667">
                      <a:srgbClr val="FFFFFF">
                        <a:alpha val="100000"/>
                      </a:srgbClr>
                    </a:gs>
                    <a:gs pos="100000">
                      <a:srgbClr val="99CCFF">
                        <a:alpha val="100000"/>
                      </a:srgbClr>
                    </a:gs>
                  </a:gsLst>
                  <a:lin ang="5400000"/>
                </a:gradFill>
                <a:latin typeface="Open Sauce Bold"/>
                <a:ea typeface="Open Sauce Bold"/>
                <a:cs typeface="Open Sauce Bold"/>
                <a:sym typeface="Open Sauce Bold"/>
              </a:rPr>
              <a:t>What is happening around us?</a:t>
            </a:r>
          </a:p>
        </p:txBody>
      </p:sp>
      <p:sp>
        <p:nvSpPr>
          <p:cNvPr name="TextBox 14" id="14"/>
          <p:cNvSpPr txBox="true"/>
          <p:nvPr/>
        </p:nvSpPr>
        <p:spPr>
          <a:xfrm rot="0">
            <a:off x="2710560" y="6671508"/>
            <a:ext cx="12866879" cy="3171444"/>
          </a:xfrm>
          <a:prstGeom prst="rect">
            <a:avLst/>
          </a:prstGeom>
        </p:spPr>
        <p:txBody>
          <a:bodyPr anchor="t" rtlCol="false" tIns="0" lIns="0" bIns="0" rIns="0">
            <a:spAutoFit/>
          </a:bodyPr>
          <a:lstStyle/>
          <a:p>
            <a:pPr algn="ctr">
              <a:lnSpc>
                <a:spcPts val="6320"/>
              </a:lnSpc>
            </a:pPr>
            <a:r>
              <a:rPr lang="en-US" sz="4514" i="true" spc="-158">
                <a:solidFill>
                  <a:srgbClr val="7F8BCF"/>
                </a:solidFill>
                <a:latin typeface="Open Sauce Italics"/>
                <a:ea typeface="Open Sauce Italics"/>
                <a:cs typeface="Open Sauce Italics"/>
                <a:sym typeface="Open Sauce Italics"/>
              </a:rPr>
              <a:t>Claude Design released by Anthropic</a:t>
            </a:r>
          </a:p>
          <a:p>
            <a:pPr algn="ctr">
              <a:lnSpc>
                <a:spcPts val="6320"/>
              </a:lnSpc>
            </a:pPr>
            <a:r>
              <a:rPr lang="en-US" sz="4514" i="true" spc="-158">
                <a:solidFill>
                  <a:srgbClr val="7F8BCF"/>
                </a:solidFill>
                <a:latin typeface="Open Sauce Italics"/>
                <a:ea typeface="Open Sauce Italics"/>
                <a:cs typeface="Open Sauce Italics"/>
                <a:sym typeface="Open Sauce Italics"/>
              </a:rPr>
              <a:t>DeepSeek V4 dropped</a:t>
            </a:r>
          </a:p>
          <a:p>
            <a:pPr algn="ctr">
              <a:lnSpc>
                <a:spcPts val="6320"/>
              </a:lnSpc>
            </a:pPr>
            <a:r>
              <a:rPr lang="en-US" sz="4514" i="true" spc="-158">
                <a:solidFill>
                  <a:srgbClr val="7F8BCF"/>
                </a:solidFill>
                <a:latin typeface="Open Sauce Italics"/>
                <a:ea typeface="Open Sauce Italics"/>
                <a:cs typeface="Open Sauce Italics"/>
                <a:sym typeface="Open Sauce Italics"/>
              </a:rPr>
              <a:t>OpenAI released GPT-5.5</a:t>
            </a:r>
          </a:p>
          <a:p>
            <a:pPr algn="ctr">
              <a:lnSpc>
                <a:spcPts val="6320"/>
              </a:lnSpc>
            </a:pPr>
          </a:p>
        </p:txBody>
      </p:sp>
      <p:sp>
        <p:nvSpPr>
          <p:cNvPr name="AutoShape 15" id="15"/>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6" id="16"/>
          <p:cNvGrpSpPr/>
          <p:nvPr/>
        </p:nvGrpSpPr>
        <p:grpSpPr>
          <a:xfrm rot="0">
            <a:off x="915508" y="365374"/>
            <a:ext cx="17528009" cy="832382"/>
            <a:chOff x="0" y="0"/>
            <a:chExt cx="23370678" cy="1109842"/>
          </a:xfrm>
        </p:grpSpPr>
        <p:sp>
          <p:nvSpPr>
            <p:cNvPr name="TextBox 17" id="17"/>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8" id="18"/>
            <p:cNvGrpSpPr/>
            <p:nvPr/>
          </p:nvGrpSpPr>
          <p:grpSpPr>
            <a:xfrm rot="0">
              <a:off x="18021129" y="169165"/>
              <a:ext cx="3513365" cy="715270"/>
              <a:chOff x="0" y="0"/>
              <a:chExt cx="749232" cy="152533"/>
            </a:xfrm>
          </p:grpSpPr>
          <p:sp>
            <p:nvSpPr>
              <p:cNvPr name="Freeform 19" id="19"/>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20" id="20"/>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21" id="21"/>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22" id="22"/>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471864"/>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96154" y="4163315"/>
            <a:ext cx="14695692" cy="5564219"/>
            <a:chOff x="0" y="0"/>
            <a:chExt cx="3201709" cy="1212261"/>
          </a:xfrm>
        </p:grpSpPr>
        <p:sp>
          <p:nvSpPr>
            <p:cNvPr name="Freeform 10" id="10"/>
            <p:cNvSpPr/>
            <p:nvPr/>
          </p:nvSpPr>
          <p:spPr>
            <a:xfrm flipH="false" flipV="false" rot="0">
              <a:off x="0" y="0"/>
              <a:ext cx="3201709" cy="1212261"/>
            </a:xfrm>
            <a:custGeom>
              <a:avLst/>
              <a:gdLst/>
              <a:ahLst/>
              <a:cxnLst/>
              <a:rect r="r" b="b" t="t" l="l"/>
              <a:pathLst>
                <a:path h="1212261" w="3201709">
                  <a:moveTo>
                    <a:pt x="39511" y="0"/>
                  </a:moveTo>
                  <a:lnTo>
                    <a:pt x="3162197" y="0"/>
                  </a:lnTo>
                  <a:cubicBezTo>
                    <a:pt x="3184019" y="0"/>
                    <a:pt x="3201709" y="17690"/>
                    <a:pt x="3201709" y="39511"/>
                  </a:cubicBezTo>
                  <a:lnTo>
                    <a:pt x="3201709" y="1172749"/>
                  </a:lnTo>
                  <a:cubicBezTo>
                    <a:pt x="3201709" y="1194571"/>
                    <a:pt x="3184019" y="1212261"/>
                    <a:pt x="3162197" y="1212261"/>
                  </a:cubicBezTo>
                  <a:lnTo>
                    <a:pt x="39511" y="1212261"/>
                  </a:lnTo>
                  <a:cubicBezTo>
                    <a:pt x="17690" y="1212261"/>
                    <a:pt x="0" y="1194571"/>
                    <a:pt x="0" y="1172749"/>
                  </a:cubicBezTo>
                  <a:lnTo>
                    <a:pt x="0" y="39511"/>
                  </a:lnTo>
                  <a:cubicBezTo>
                    <a:pt x="0" y="17690"/>
                    <a:pt x="17690" y="0"/>
                    <a:pt x="39511" y="0"/>
                  </a:cubicBezTo>
                  <a:close/>
                </a:path>
              </a:pathLst>
            </a:custGeom>
            <a:solidFill>
              <a:srgbClr val="FFFFFF">
                <a:alpha val="75686"/>
              </a:srgbClr>
            </a:solidFill>
            <a:ln w="19050" cap="rnd">
              <a:solidFill>
                <a:srgbClr val="A6B3FF">
                  <a:alpha val="75686"/>
                </a:srgbClr>
              </a:solidFill>
              <a:prstDash val="solid"/>
              <a:round/>
            </a:ln>
          </p:spPr>
        </p:sp>
        <p:sp>
          <p:nvSpPr>
            <p:cNvPr name="TextBox 11" id="11"/>
            <p:cNvSpPr txBox="true"/>
            <p:nvPr/>
          </p:nvSpPr>
          <p:spPr>
            <a:xfrm>
              <a:off x="0" y="-38100"/>
              <a:ext cx="3201709" cy="1250361"/>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1028700" y="1256003"/>
            <a:ext cx="16230600" cy="0"/>
          </a:xfrm>
          <a:prstGeom prst="line">
            <a:avLst/>
          </a:prstGeom>
          <a:ln cap="rnd" w="19050">
            <a:solidFill>
              <a:srgbClr val="7681BD"/>
            </a:solidFill>
            <a:prstDash val="solid"/>
            <a:headEnd type="none" len="sm" w="sm"/>
            <a:tailEnd type="none" len="sm" w="sm"/>
          </a:ln>
        </p:spPr>
      </p:sp>
      <p:sp>
        <p:nvSpPr>
          <p:cNvPr name="TextBox 13" id="13"/>
          <p:cNvSpPr txBox="true"/>
          <p:nvPr/>
        </p:nvSpPr>
        <p:spPr>
          <a:xfrm rot="0">
            <a:off x="1988513" y="2304803"/>
            <a:ext cx="12045039" cy="1464730"/>
          </a:xfrm>
          <a:prstGeom prst="rect">
            <a:avLst/>
          </a:prstGeom>
        </p:spPr>
        <p:txBody>
          <a:bodyPr anchor="t" rtlCol="false" tIns="0" lIns="0" bIns="0" rIns="0">
            <a:spAutoFit/>
          </a:bodyPr>
          <a:lstStyle/>
          <a:p>
            <a:pPr algn="l" marL="0" indent="0" lvl="0">
              <a:lnSpc>
                <a:spcPts val="11538"/>
              </a:lnSpc>
            </a:pPr>
            <a:r>
              <a:rPr lang="en-US" sz="9778" spc="-586">
                <a:solidFill>
                  <a:srgbClr val="777FC4"/>
                </a:solidFill>
                <a:latin typeface="Open Sauce"/>
                <a:ea typeface="Open Sauce"/>
                <a:cs typeface="Open Sauce"/>
                <a:sym typeface="Open Sauce"/>
              </a:rPr>
              <a:t>Let’s Discuss!</a:t>
            </a:r>
          </a:p>
        </p:txBody>
      </p:sp>
      <p:sp>
        <p:nvSpPr>
          <p:cNvPr name="TextBox 14" id="14"/>
          <p:cNvSpPr txBox="true"/>
          <p:nvPr/>
        </p:nvSpPr>
        <p:spPr>
          <a:xfrm rot="0">
            <a:off x="2411050" y="4845858"/>
            <a:ext cx="13000149" cy="530766"/>
          </a:xfrm>
          <a:prstGeom prst="rect">
            <a:avLst/>
          </a:prstGeom>
        </p:spPr>
        <p:txBody>
          <a:bodyPr anchor="t" rtlCol="false" tIns="0" lIns="0" bIns="0" rIns="0">
            <a:spAutoFit/>
          </a:bodyPr>
          <a:lstStyle/>
          <a:p>
            <a:pPr algn="l">
              <a:lnSpc>
                <a:spcPts val="3992"/>
              </a:lnSpc>
            </a:pPr>
            <a:r>
              <a:rPr lang="en-US" sz="4247" spc="-199">
                <a:solidFill>
                  <a:srgbClr val="A6B3FF"/>
                </a:solidFill>
                <a:latin typeface="Open Sauce"/>
                <a:ea typeface="Open Sauce"/>
                <a:cs typeface="Open Sauce"/>
                <a:sym typeface="Open Sauce"/>
              </a:rPr>
              <a:t>Turn and talk to the person your sitting next to about...</a:t>
            </a:r>
          </a:p>
        </p:txBody>
      </p:sp>
      <p:sp>
        <p:nvSpPr>
          <p:cNvPr name="TextBox 15" id="15"/>
          <p:cNvSpPr txBox="true"/>
          <p:nvPr/>
        </p:nvSpPr>
        <p:spPr>
          <a:xfrm rot="0">
            <a:off x="2218415" y="5611722"/>
            <a:ext cx="13108317" cy="3725771"/>
          </a:xfrm>
          <a:prstGeom prst="rect">
            <a:avLst/>
          </a:prstGeom>
        </p:spPr>
        <p:txBody>
          <a:bodyPr anchor="t" rtlCol="false" tIns="0" lIns="0" bIns="0" rIns="0">
            <a:spAutoFit/>
          </a:bodyPr>
          <a:lstStyle/>
          <a:p>
            <a:pPr algn="l" marL="591329" indent="-295665" lvl="1">
              <a:lnSpc>
                <a:spcPts val="3724"/>
              </a:lnSpc>
              <a:buAutoNum type="arabicPeriod" startAt="1"/>
            </a:pPr>
            <a:r>
              <a:rPr lang="en-US" sz="2738" spc="-68">
                <a:solidFill>
                  <a:srgbClr val="565E8F"/>
                </a:solidFill>
                <a:latin typeface="HK Grotesk"/>
                <a:ea typeface="HK Grotesk"/>
                <a:cs typeface="HK Grotesk"/>
                <a:sym typeface="HK Grotesk"/>
              </a:rPr>
              <a:t>If AI can take actions (such as sending emails), at what point should it be required to </a:t>
            </a:r>
            <a:r>
              <a:rPr lang="en-US" b="true" sz="2738" spc="-68">
                <a:solidFill>
                  <a:srgbClr val="565E8F"/>
                </a:solidFill>
                <a:latin typeface="HK Grotesk Bold"/>
                <a:ea typeface="HK Grotesk Bold"/>
                <a:cs typeface="HK Grotesk Bold"/>
                <a:sym typeface="HK Grotesk Bold"/>
              </a:rPr>
              <a:t>stop and ask </a:t>
            </a:r>
            <a:r>
              <a:rPr lang="en-US" sz="2738" spc="-68">
                <a:solidFill>
                  <a:srgbClr val="565E8F"/>
                </a:solidFill>
                <a:latin typeface="HK Grotesk"/>
                <a:ea typeface="HK Grotesk"/>
                <a:cs typeface="HK Grotesk"/>
                <a:sym typeface="HK Grotesk"/>
              </a:rPr>
              <a:t>for human approval? </a:t>
            </a:r>
          </a:p>
          <a:p>
            <a:pPr algn="l">
              <a:lnSpc>
                <a:spcPts val="3724"/>
              </a:lnSpc>
            </a:pPr>
          </a:p>
          <a:p>
            <a:pPr algn="l" marL="591329" indent="-295665" lvl="1">
              <a:lnSpc>
                <a:spcPts val="3724"/>
              </a:lnSpc>
              <a:buAutoNum type="arabicPeriod" startAt="1"/>
            </a:pPr>
            <a:r>
              <a:rPr lang="en-US" sz="2738" spc="-68">
                <a:solidFill>
                  <a:srgbClr val="565E8F"/>
                </a:solidFill>
                <a:latin typeface="HK Grotesk"/>
                <a:ea typeface="HK Grotesk"/>
                <a:cs typeface="HK Grotesk"/>
                <a:sym typeface="HK Grotesk"/>
              </a:rPr>
              <a:t>What is</a:t>
            </a:r>
            <a:r>
              <a:rPr lang="en-US" sz="2738" spc="-68">
                <a:solidFill>
                  <a:srgbClr val="565E8F"/>
                </a:solidFill>
                <a:latin typeface="HK Grotesk"/>
                <a:ea typeface="HK Grotesk"/>
                <a:cs typeface="HK Grotesk"/>
                <a:sym typeface="HK Grotesk"/>
              </a:rPr>
              <a:t> something you would like your </a:t>
            </a:r>
            <a:r>
              <a:rPr lang="en-US" b="true" sz="2738" spc="-68">
                <a:solidFill>
                  <a:srgbClr val="565E8F"/>
                </a:solidFill>
                <a:latin typeface="HK Grotesk Bold"/>
                <a:ea typeface="HK Grotesk Bold"/>
                <a:cs typeface="HK Grotesk Bold"/>
                <a:sym typeface="HK Grotesk Bold"/>
              </a:rPr>
              <a:t>preferred AI </a:t>
            </a:r>
            <a:r>
              <a:rPr lang="en-US" sz="2738" spc="-68">
                <a:solidFill>
                  <a:srgbClr val="565E8F"/>
                </a:solidFill>
                <a:latin typeface="HK Grotesk"/>
                <a:ea typeface="HK Grotesk"/>
                <a:cs typeface="HK Grotesk"/>
                <a:sym typeface="HK Grotesk"/>
              </a:rPr>
              <a:t>to do for you that it doesn’t do yet?</a:t>
            </a:r>
          </a:p>
          <a:p>
            <a:pPr algn="l">
              <a:lnSpc>
                <a:spcPts val="3724"/>
              </a:lnSpc>
            </a:pPr>
          </a:p>
          <a:p>
            <a:pPr algn="l" marL="591329" indent="-295665" lvl="1">
              <a:lnSpc>
                <a:spcPts val="3724"/>
              </a:lnSpc>
              <a:buAutoNum type="arabicPeriod" startAt="1"/>
            </a:pPr>
            <a:r>
              <a:rPr lang="en-US" sz="2738" spc="-68">
                <a:solidFill>
                  <a:srgbClr val="565E8F"/>
                </a:solidFill>
                <a:latin typeface="HK Grotesk"/>
                <a:ea typeface="HK Grotesk"/>
                <a:cs typeface="HK Grotesk"/>
                <a:sym typeface="HK Grotesk"/>
              </a:rPr>
              <a:t>Is </a:t>
            </a:r>
            <a:r>
              <a:rPr lang="en-US" sz="2738" spc="-68">
                <a:solidFill>
                  <a:srgbClr val="565E8F"/>
                </a:solidFill>
                <a:latin typeface="HK Grotesk"/>
                <a:ea typeface="HK Grotesk"/>
                <a:cs typeface="HK Grotesk"/>
                <a:sym typeface="HK Grotesk"/>
              </a:rPr>
              <a:t>AI a bigger </a:t>
            </a:r>
            <a:r>
              <a:rPr lang="en-US" b="true" sz="2738" spc="-68">
                <a:solidFill>
                  <a:srgbClr val="565E8F"/>
                </a:solidFill>
                <a:latin typeface="HK Grotesk Bold"/>
                <a:ea typeface="HK Grotesk Bold"/>
                <a:cs typeface="HK Grotesk Bold"/>
                <a:sym typeface="HK Grotesk Bold"/>
              </a:rPr>
              <a:t>opportunity or threat</a:t>
            </a:r>
            <a:r>
              <a:rPr lang="en-US" sz="2738" spc="-68">
                <a:solidFill>
                  <a:srgbClr val="565E8F"/>
                </a:solidFill>
                <a:latin typeface="HK Grotesk"/>
                <a:ea typeface="HK Grotesk"/>
                <a:cs typeface="HK Grotesk"/>
                <a:sym typeface="HK Grotesk"/>
              </a:rPr>
              <a:t> for students entering the workforce? </a:t>
            </a:r>
          </a:p>
          <a:p>
            <a:pPr algn="l">
              <a:lnSpc>
                <a:spcPts val="3724"/>
              </a:lnSpc>
            </a:pPr>
          </a:p>
          <a:p>
            <a:pPr algn="l" marL="591329" indent="-295665" lvl="1">
              <a:lnSpc>
                <a:spcPts val="3724"/>
              </a:lnSpc>
              <a:buAutoNum type="arabicPeriod" startAt="1"/>
            </a:pPr>
            <a:r>
              <a:rPr lang="en-US" sz="2738" spc="-68">
                <a:solidFill>
                  <a:srgbClr val="565E8F"/>
                </a:solidFill>
                <a:latin typeface="HK Grotesk"/>
                <a:ea typeface="HK Grotesk"/>
                <a:cs typeface="HK Grotesk"/>
                <a:sym typeface="HK Grotesk"/>
              </a:rPr>
              <a:t>Should companies </a:t>
            </a:r>
            <a:r>
              <a:rPr lang="en-US" b="true" sz="2738" spc="-68">
                <a:solidFill>
                  <a:srgbClr val="565E8F"/>
                </a:solidFill>
                <a:latin typeface="HK Grotesk Bold"/>
                <a:ea typeface="HK Grotesk Bold"/>
                <a:cs typeface="HK Grotesk Bold"/>
                <a:sym typeface="HK Grotesk Bold"/>
              </a:rPr>
              <a:t>disclose</a:t>
            </a:r>
            <a:r>
              <a:rPr lang="en-US" sz="2738" spc="-68">
                <a:solidFill>
                  <a:srgbClr val="565E8F"/>
                </a:solidFill>
                <a:latin typeface="HK Grotesk"/>
                <a:ea typeface="HK Grotesk"/>
                <a:cs typeface="HK Grotesk"/>
                <a:sym typeface="HK Grotesk"/>
              </a:rPr>
              <a:t> when content is created by AI?</a:t>
            </a:r>
          </a:p>
        </p:txBody>
      </p:sp>
      <p:grpSp>
        <p:nvGrpSpPr>
          <p:cNvPr name="Group 16" id="16"/>
          <p:cNvGrpSpPr/>
          <p:nvPr/>
        </p:nvGrpSpPr>
        <p:grpSpPr>
          <a:xfrm rot="0">
            <a:off x="915508" y="365374"/>
            <a:ext cx="17528009" cy="832382"/>
            <a:chOff x="0" y="0"/>
            <a:chExt cx="23370678" cy="1109842"/>
          </a:xfrm>
        </p:grpSpPr>
        <p:sp>
          <p:nvSpPr>
            <p:cNvPr name="TextBox 17" id="17"/>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8" id="18"/>
            <p:cNvGrpSpPr/>
            <p:nvPr/>
          </p:nvGrpSpPr>
          <p:grpSpPr>
            <a:xfrm rot="0">
              <a:off x="18021129" y="169165"/>
              <a:ext cx="3513365" cy="715270"/>
              <a:chOff x="0" y="0"/>
              <a:chExt cx="749232" cy="152533"/>
            </a:xfrm>
          </p:grpSpPr>
          <p:sp>
            <p:nvSpPr>
              <p:cNvPr name="Freeform 19" id="19"/>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20" id="20"/>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21" id="21"/>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Activity</a:t>
              </a:r>
            </a:p>
          </p:txBody>
        </p:sp>
        <p:sp>
          <p:nvSpPr>
            <p:cNvPr name="Freeform 22" id="22"/>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grpSp>
        <p:nvGrpSpPr>
          <p:cNvPr name="Group 17" id="17"/>
          <p:cNvGrpSpPr/>
          <p:nvPr/>
        </p:nvGrpSpPr>
        <p:grpSpPr>
          <a:xfrm rot="0">
            <a:off x="1277903" y="7480057"/>
            <a:ext cx="15486165" cy="2070841"/>
            <a:chOff x="0" y="0"/>
            <a:chExt cx="4531889" cy="606013"/>
          </a:xfrm>
        </p:grpSpPr>
        <p:sp>
          <p:nvSpPr>
            <p:cNvPr name="Freeform 18" id="18"/>
            <p:cNvSpPr/>
            <p:nvPr/>
          </p:nvSpPr>
          <p:spPr>
            <a:xfrm flipH="false" flipV="false" rot="0">
              <a:off x="0" y="0"/>
              <a:ext cx="4531889" cy="606013"/>
            </a:xfrm>
            <a:custGeom>
              <a:avLst/>
              <a:gdLst/>
              <a:ahLst/>
              <a:cxnLst/>
              <a:rect r="r" b="b" t="t" l="l"/>
              <a:pathLst>
                <a:path h="606013" w="4531889">
                  <a:moveTo>
                    <a:pt x="29995" y="0"/>
                  </a:moveTo>
                  <a:lnTo>
                    <a:pt x="4501894" y="0"/>
                  </a:lnTo>
                  <a:cubicBezTo>
                    <a:pt x="4518460" y="0"/>
                    <a:pt x="4531889" y="13429"/>
                    <a:pt x="4531889" y="29995"/>
                  </a:cubicBezTo>
                  <a:lnTo>
                    <a:pt x="4531889" y="576018"/>
                  </a:lnTo>
                  <a:cubicBezTo>
                    <a:pt x="4531889" y="583973"/>
                    <a:pt x="4528729" y="591603"/>
                    <a:pt x="4523104" y="597228"/>
                  </a:cubicBezTo>
                  <a:cubicBezTo>
                    <a:pt x="4517479" y="602853"/>
                    <a:pt x="4509849" y="606013"/>
                    <a:pt x="4501894" y="606013"/>
                  </a:cubicBezTo>
                  <a:lnTo>
                    <a:pt x="29995" y="606013"/>
                  </a:lnTo>
                  <a:cubicBezTo>
                    <a:pt x="22040" y="606013"/>
                    <a:pt x="14411" y="602853"/>
                    <a:pt x="8785" y="597228"/>
                  </a:cubicBezTo>
                  <a:cubicBezTo>
                    <a:pt x="3160" y="591603"/>
                    <a:pt x="0" y="583973"/>
                    <a:pt x="0" y="576018"/>
                  </a:cubicBezTo>
                  <a:lnTo>
                    <a:pt x="0" y="29995"/>
                  </a:lnTo>
                  <a:cubicBezTo>
                    <a:pt x="0" y="22040"/>
                    <a:pt x="3160" y="14411"/>
                    <a:pt x="8785" y="8785"/>
                  </a:cubicBezTo>
                  <a:cubicBezTo>
                    <a:pt x="14411" y="3160"/>
                    <a:pt x="22040" y="0"/>
                    <a:pt x="29995" y="0"/>
                  </a:cubicBezTo>
                  <a:close/>
                </a:path>
              </a:pathLst>
            </a:custGeom>
            <a:solidFill>
              <a:srgbClr val="F0F2FF">
                <a:alpha val="77647"/>
              </a:srgbClr>
            </a:solidFill>
            <a:ln w="19050" cap="rnd">
              <a:solidFill>
                <a:srgbClr val="A6B3FF">
                  <a:alpha val="77647"/>
                </a:srgbClr>
              </a:solidFill>
              <a:prstDash val="solid"/>
              <a:round/>
            </a:ln>
          </p:spPr>
        </p:sp>
        <p:sp>
          <p:nvSpPr>
            <p:cNvPr name="TextBox 19" id="19"/>
            <p:cNvSpPr txBox="true"/>
            <p:nvPr/>
          </p:nvSpPr>
          <p:spPr>
            <a:xfrm>
              <a:off x="0" y="-38100"/>
              <a:ext cx="4531889" cy="64411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327482" y="2235038"/>
            <a:ext cx="13633036" cy="1085020"/>
          </a:xfrm>
          <a:prstGeom prst="rect">
            <a:avLst/>
          </a:prstGeom>
        </p:spPr>
        <p:txBody>
          <a:bodyPr anchor="t" rtlCol="false" tIns="0" lIns="0" bIns="0" rIns="0">
            <a:spAutoFit/>
          </a:bodyPr>
          <a:lstStyle/>
          <a:p>
            <a:pPr algn="l">
              <a:lnSpc>
                <a:spcPts val="8425"/>
              </a:lnSpc>
            </a:pPr>
            <a:r>
              <a:rPr lang="en-US" sz="7391" spc="-184" b="true">
                <a:solidFill>
                  <a:srgbClr val="777FC4"/>
                </a:solidFill>
                <a:latin typeface="Open Sauce Bold"/>
                <a:ea typeface="Open Sauce Bold"/>
                <a:cs typeface="Open Sauce Bold"/>
                <a:sym typeface="Open Sauce Bold"/>
              </a:rPr>
              <a:t>Chatbots vs </a:t>
            </a:r>
            <a:r>
              <a:rPr lang="en-US" sz="7391" spc="-184" b="true">
                <a:solidFill>
                  <a:srgbClr val="565E8F"/>
                </a:solidFill>
                <a:latin typeface="Open Sauce Bold"/>
                <a:ea typeface="Open Sauce Bold"/>
                <a:cs typeface="Open Sauce Bold"/>
                <a:sym typeface="Open Sauce Bold"/>
              </a:rPr>
              <a:t>Agents with Tools</a:t>
            </a:r>
          </a:p>
        </p:txBody>
      </p:sp>
      <p:sp>
        <p:nvSpPr>
          <p:cNvPr name="TextBox 21" id="21"/>
          <p:cNvSpPr txBox="true"/>
          <p:nvPr/>
        </p:nvSpPr>
        <p:spPr>
          <a:xfrm rot="0">
            <a:off x="1277903" y="3878503"/>
            <a:ext cx="15732195" cy="5749536"/>
          </a:xfrm>
          <a:prstGeom prst="rect">
            <a:avLst/>
          </a:prstGeom>
        </p:spPr>
        <p:txBody>
          <a:bodyPr anchor="t" rtlCol="false" tIns="0" lIns="0" bIns="0" rIns="0">
            <a:spAutoFit/>
          </a:bodyPr>
          <a:lstStyle/>
          <a:p>
            <a:pPr algn="l" marL="970499" indent="-485250" lvl="1">
              <a:lnSpc>
                <a:spcPts val="4989"/>
              </a:lnSpc>
              <a:buFont typeface="Arial"/>
              <a:buChar char="•"/>
            </a:pPr>
            <a:r>
              <a:rPr lang="en-US" sz="4495" spc="-112">
                <a:solidFill>
                  <a:srgbClr val="777FC4"/>
                </a:solidFill>
                <a:latin typeface="Open Sauce"/>
                <a:ea typeface="Open Sauce"/>
                <a:cs typeface="Open Sauce"/>
                <a:sym typeface="Open Sauce"/>
              </a:rPr>
              <a:t>Many AI options like standard chatbots know things, but when given the proper tools, they can also </a:t>
            </a:r>
            <a:r>
              <a:rPr lang="en-US" b="true" sz="4495" spc="-112">
                <a:solidFill>
                  <a:srgbClr val="777FC4"/>
                </a:solidFill>
                <a:latin typeface="Open Sauce Bold"/>
                <a:ea typeface="Open Sauce Bold"/>
                <a:cs typeface="Open Sauce Bold"/>
                <a:sym typeface="Open Sauce Bold"/>
              </a:rPr>
              <a:t>DO</a:t>
            </a:r>
            <a:r>
              <a:rPr lang="en-US" sz="4495" spc="-112">
                <a:solidFill>
                  <a:srgbClr val="777FC4"/>
                </a:solidFill>
                <a:latin typeface="Open Sauce"/>
                <a:ea typeface="Open Sauce"/>
                <a:cs typeface="Open Sauce"/>
                <a:sym typeface="Open Sauce"/>
              </a:rPr>
              <a:t> things</a:t>
            </a:r>
          </a:p>
          <a:p>
            <a:pPr algn="l">
              <a:lnSpc>
                <a:spcPts val="4989"/>
              </a:lnSpc>
            </a:pPr>
          </a:p>
          <a:p>
            <a:pPr algn="l" marL="970499" indent="-485250" lvl="1">
              <a:lnSpc>
                <a:spcPts val="4989"/>
              </a:lnSpc>
              <a:buFont typeface="Arial"/>
              <a:buChar char="•"/>
            </a:pPr>
            <a:r>
              <a:rPr lang="en-US" sz="4495" spc="-112">
                <a:solidFill>
                  <a:srgbClr val="777FC4"/>
                </a:solidFill>
                <a:latin typeface="Open Sauce"/>
                <a:ea typeface="Open Sauce"/>
                <a:cs typeface="Open Sauce"/>
                <a:sym typeface="Open Sauce"/>
              </a:rPr>
              <a:t>We’ve seen this with things like agentic AI in coding (vibe coding) </a:t>
            </a:r>
          </a:p>
          <a:p>
            <a:pPr algn="l">
              <a:lnSpc>
                <a:spcPts val="4989"/>
              </a:lnSpc>
            </a:pPr>
          </a:p>
          <a:p>
            <a:pPr algn="l">
              <a:lnSpc>
                <a:spcPts val="2292"/>
              </a:lnSpc>
            </a:pPr>
          </a:p>
          <a:p>
            <a:pPr algn="ctr">
              <a:lnSpc>
                <a:spcPts val="4944"/>
              </a:lnSpc>
            </a:pPr>
            <a:r>
              <a:rPr lang="en-US" b="true" sz="4495" i="true" spc="-112">
                <a:solidFill>
                  <a:srgbClr val="777FC4"/>
                </a:solidFill>
                <a:latin typeface="Open Sauce Bold Italics"/>
                <a:ea typeface="Open Sauce Bold Italics"/>
                <a:cs typeface="Open Sauce Bold Italics"/>
                <a:sym typeface="Open Sauce Bold Italics"/>
              </a:rPr>
              <a:t>How can we personalize and utilize these tools </a:t>
            </a:r>
          </a:p>
          <a:p>
            <a:pPr algn="ctr">
              <a:lnSpc>
                <a:spcPts val="4944"/>
              </a:lnSpc>
            </a:pPr>
            <a:r>
              <a:rPr lang="en-US" b="true" sz="4495" i="true" spc="-112">
                <a:solidFill>
                  <a:srgbClr val="777FC4"/>
                </a:solidFill>
                <a:latin typeface="Open Sauce Bold Italics"/>
                <a:ea typeface="Open Sauce Bold Italics"/>
                <a:cs typeface="Open Sauce Bold Italics"/>
                <a:sym typeface="Open Sauce Bold Italics"/>
              </a:rPr>
              <a:t>with our LLMS for tasks?</a:t>
            </a:r>
          </a:p>
          <a:p>
            <a:pPr algn="l">
              <a:lnSpc>
                <a:spcPts val="356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675790" y="4803361"/>
            <a:ext cx="18963790" cy="1445657"/>
          </a:xfrm>
          <a:prstGeom prst="rect">
            <a:avLst/>
          </a:prstGeom>
        </p:spPr>
        <p:txBody>
          <a:bodyPr anchor="t" rtlCol="false" tIns="0" lIns="0" bIns="0" rIns="0">
            <a:spAutoFit/>
          </a:bodyPr>
          <a:lstStyle/>
          <a:p>
            <a:pPr algn="ctr" marL="0" indent="0" lvl="0">
              <a:lnSpc>
                <a:spcPts val="10515"/>
              </a:lnSpc>
            </a:pPr>
            <a:r>
              <a:rPr lang="en-US" b="true" sz="11683" spc="-701">
                <a:solidFill>
                  <a:srgbClr val="9CA5DA"/>
                </a:solidFill>
                <a:latin typeface="Open Sauce Bold"/>
                <a:ea typeface="Open Sauce Bold"/>
                <a:cs typeface="Open Sauce Bold"/>
                <a:sym typeface="Open Sauce Bold"/>
              </a:rPr>
              <a:t>The </a:t>
            </a:r>
            <a:r>
              <a:rPr lang="en-US" sz="11683" i="true" spc="-701">
                <a:solidFill>
                  <a:srgbClr val="9CA5DA"/>
                </a:solidFill>
                <a:latin typeface="Open Sauce Italics"/>
                <a:ea typeface="Open Sauce Italics"/>
                <a:cs typeface="Open Sauce Italics"/>
                <a:sym typeface="Open Sauce Italics"/>
              </a:rPr>
              <a:t>Problem</a:t>
            </a:r>
          </a:p>
        </p:txBody>
      </p:sp>
      <p:sp>
        <p:nvSpPr>
          <p:cNvPr name="AutoShape 10" id="10"/>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1" id="11"/>
          <p:cNvGrpSpPr/>
          <p:nvPr/>
        </p:nvGrpSpPr>
        <p:grpSpPr>
          <a:xfrm rot="0">
            <a:off x="915508" y="365374"/>
            <a:ext cx="17528009" cy="832382"/>
            <a:chOff x="0" y="0"/>
            <a:chExt cx="23370678" cy="1109842"/>
          </a:xfrm>
        </p:grpSpPr>
        <p:sp>
          <p:nvSpPr>
            <p:cNvPr name="TextBox 12" id="12"/>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3" id="13"/>
            <p:cNvGrpSpPr/>
            <p:nvPr/>
          </p:nvGrpSpPr>
          <p:grpSpPr>
            <a:xfrm rot="0">
              <a:off x="18021129" y="169165"/>
              <a:ext cx="3513365" cy="715270"/>
              <a:chOff x="0" y="0"/>
              <a:chExt cx="749232" cy="152533"/>
            </a:xfrm>
          </p:grpSpPr>
          <p:sp>
            <p:nvSpPr>
              <p:cNvPr name="Freeform 14" id="14"/>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5" id="15"/>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6" id="16"/>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7" id="17"/>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1390873" y="2366740"/>
            <a:ext cx="11180663" cy="6042744"/>
            <a:chOff x="0" y="0"/>
            <a:chExt cx="2944701" cy="1591505"/>
          </a:xfrm>
        </p:grpSpPr>
        <p:sp>
          <p:nvSpPr>
            <p:cNvPr name="Freeform 11" id="11"/>
            <p:cNvSpPr/>
            <p:nvPr/>
          </p:nvSpPr>
          <p:spPr>
            <a:xfrm flipH="false" flipV="false" rot="0">
              <a:off x="0" y="0"/>
              <a:ext cx="2944701" cy="1591505"/>
            </a:xfrm>
            <a:custGeom>
              <a:avLst/>
              <a:gdLst/>
              <a:ahLst/>
              <a:cxnLst/>
              <a:rect r="r" b="b" t="t" l="l"/>
              <a:pathLst>
                <a:path h="1591505" w="2944701">
                  <a:moveTo>
                    <a:pt x="41546" y="0"/>
                  </a:moveTo>
                  <a:lnTo>
                    <a:pt x="2903155" y="0"/>
                  </a:lnTo>
                  <a:cubicBezTo>
                    <a:pt x="2926100" y="0"/>
                    <a:pt x="2944701" y="18601"/>
                    <a:pt x="2944701" y="41546"/>
                  </a:cubicBezTo>
                  <a:lnTo>
                    <a:pt x="2944701" y="1549958"/>
                  </a:lnTo>
                  <a:cubicBezTo>
                    <a:pt x="2944701" y="1560977"/>
                    <a:pt x="2940324" y="1571544"/>
                    <a:pt x="2932533" y="1579336"/>
                  </a:cubicBezTo>
                  <a:cubicBezTo>
                    <a:pt x="2924741" y="1587127"/>
                    <a:pt x="2914174" y="1591505"/>
                    <a:pt x="2903155" y="1591505"/>
                  </a:cubicBezTo>
                  <a:lnTo>
                    <a:pt x="41546" y="1591505"/>
                  </a:lnTo>
                  <a:cubicBezTo>
                    <a:pt x="18601" y="1591505"/>
                    <a:pt x="0" y="1572904"/>
                    <a:pt x="0" y="1549958"/>
                  </a:cubicBezTo>
                  <a:lnTo>
                    <a:pt x="0" y="41546"/>
                  </a:lnTo>
                  <a:cubicBezTo>
                    <a:pt x="0" y="30528"/>
                    <a:pt x="4377" y="19960"/>
                    <a:pt x="12169" y="12169"/>
                  </a:cubicBezTo>
                  <a:cubicBezTo>
                    <a:pt x="19960" y="4377"/>
                    <a:pt x="30528" y="0"/>
                    <a:pt x="41546" y="0"/>
                  </a:cubicBezTo>
                  <a:close/>
                </a:path>
              </a:pathLst>
            </a:custGeom>
            <a:solidFill>
              <a:srgbClr val="F0F2FF">
                <a:alpha val="77647"/>
              </a:srgbClr>
            </a:solidFill>
            <a:ln w="19050" cap="rnd">
              <a:solidFill>
                <a:srgbClr val="A6B3FF">
                  <a:alpha val="77647"/>
                </a:srgbClr>
              </a:solidFill>
              <a:prstDash val="solid"/>
              <a:round/>
            </a:ln>
          </p:spPr>
        </p:sp>
        <p:sp>
          <p:nvSpPr>
            <p:cNvPr name="TextBox 12" id="12"/>
            <p:cNvSpPr txBox="true"/>
            <p:nvPr/>
          </p:nvSpPr>
          <p:spPr>
            <a:xfrm>
              <a:off x="0" y="-38100"/>
              <a:ext cx="2944701" cy="1629605"/>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0005009" y="4466382"/>
            <a:ext cx="8778039" cy="4791918"/>
          </a:xfrm>
          <a:custGeom>
            <a:avLst/>
            <a:gdLst/>
            <a:ahLst/>
            <a:cxnLst/>
            <a:rect r="r" b="b" t="t" l="l"/>
            <a:pathLst>
              <a:path h="4791918" w="8778039">
                <a:moveTo>
                  <a:pt x="0" y="0"/>
                </a:moveTo>
                <a:lnTo>
                  <a:pt x="8778039" y="0"/>
                </a:lnTo>
                <a:lnTo>
                  <a:pt x="8778039" y="4791918"/>
                </a:lnTo>
                <a:lnTo>
                  <a:pt x="0" y="4791918"/>
                </a:lnTo>
                <a:lnTo>
                  <a:pt x="0" y="0"/>
                </a:lnTo>
                <a:close/>
              </a:path>
            </a:pathLst>
          </a:custGeom>
          <a:blipFill>
            <a:blip r:embed="rId4"/>
            <a:stretch>
              <a:fillRect l="0" t="0" r="0" b="0"/>
            </a:stretch>
          </a:blipFill>
        </p:spPr>
      </p:sp>
      <p:sp>
        <p:nvSpPr>
          <p:cNvPr name="Freeform 14" id="14"/>
          <p:cNvSpPr/>
          <p:nvPr/>
        </p:nvSpPr>
        <p:spPr>
          <a:xfrm flipH="false" flipV="false" rot="0">
            <a:off x="12006319" y="9258300"/>
            <a:ext cx="5026068" cy="810454"/>
          </a:xfrm>
          <a:custGeom>
            <a:avLst/>
            <a:gdLst/>
            <a:ahLst/>
            <a:cxnLst/>
            <a:rect r="r" b="b" t="t" l="l"/>
            <a:pathLst>
              <a:path h="810454" w="5026068">
                <a:moveTo>
                  <a:pt x="0" y="0"/>
                </a:moveTo>
                <a:lnTo>
                  <a:pt x="5026069" y="0"/>
                </a:lnTo>
                <a:lnTo>
                  <a:pt x="5026069" y="810454"/>
                </a:lnTo>
                <a:lnTo>
                  <a:pt x="0" y="810454"/>
                </a:lnTo>
                <a:lnTo>
                  <a:pt x="0" y="0"/>
                </a:lnTo>
                <a:close/>
              </a:path>
            </a:pathLst>
          </a:custGeom>
          <a:blipFill>
            <a:blip r:embed="rId5"/>
            <a:stretch>
              <a:fillRect l="0" t="0" r="0" b="0"/>
            </a:stretch>
          </a:blipFill>
        </p:spPr>
      </p:sp>
      <p:sp>
        <p:nvSpPr>
          <p:cNvPr name="TextBox 15" id="15"/>
          <p:cNvSpPr txBox="true"/>
          <p:nvPr/>
        </p:nvSpPr>
        <p:spPr>
          <a:xfrm rot="0">
            <a:off x="1562977" y="2929149"/>
            <a:ext cx="9344463" cy="4851251"/>
          </a:xfrm>
          <a:prstGeom prst="rect">
            <a:avLst/>
          </a:prstGeom>
        </p:spPr>
        <p:txBody>
          <a:bodyPr anchor="t" rtlCol="false" tIns="0" lIns="0" bIns="0" rIns="0">
            <a:spAutoFit/>
          </a:bodyPr>
          <a:lstStyle/>
          <a:p>
            <a:pPr algn="l" marL="878680" indent="-439340" lvl="1">
              <a:lnSpc>
                <a:spcPts val="5534"/>
              </a:lnSpc>
              <a:buFont typeface="Arial"/>
              <a:buChar char="•"/>
            </a:pPr>
            <a:r>
              <a:rPr lang="en-US" sz="4069" spc="-101">
                <a:solidFill>
                  <a:srgbClr val="565E8F"/>
                </a:solidFill>
                <a:latin typeface="HK Grotesk"/>
                <a:ea typeface="HK Grotesk"/>
                <a:cs typeface="HK Grotesk"/>
                <a:sym typeface="HK Grotesk"/>
              </a:rPr>
              <a:t>LLMs are pow</a:t>
            </a:r>
            <a:r>
              <a:rPr lang="en-US" sz="4069" spc="-101">
                <a:solidFill>
                  <a:srgbClr val="565E8F"/>
                </a:solidFill>
                <a:latin typeface="HK Grotesk"/>
                <a:ea typeface="HK Grotesk"/>
                <a:cs typeface="HK Grotesk"/>
                <a:sym typeface="HK Grotesk"/>
              </a:rPr>
              <a:t>e</a:t>
            </a:r>
            <a:r>
              <a:rPr lang="en-US" sz="4069" spc="-101">
                <a:solidFill>
                  <a:srgbClr val="565E8F"/>
                </a:solidFill>
                <a:latin typeface="HK Grotesk"/>
                <a:ea typeface="HK Grotesk"/>
                <a:cs typeface="HK Grotesk"/>
                <a:sym typeface="HK Grotesk"/>
              </a:rPr>
              <a:t>rfu</a:t>
            </a:r>
            <a:r>
              <a:rPr lang="en-US" sz="4069" spc="-101">
                <a:solidFill>
                  <a:srgbClr val="565E8F"/>
                </a:solidFill>
                <a:latin typeface="HK Grotesk"/>
                <a:ea typeface="HK Grotesk"/>
                <a:cs typeface="HK Grotesk"/>
                <a:sym typeface="HK Grotesk"/>
              </a:rPr>
              <a:t>l </a:t>
            </a:r>
            <a:r>
              <a:rPr lang="en-US" sz="4069" spc="-101">
                <a:solidFill>
                  <a:srgbClr val="565E8F"/>
                </a:solidFill>
                <a:latin typeface="HK Grotesk"/>
                <a:ea typeface="HK Grotesk"/>
                <a:cs typeface="HK Grotesk"/>
                <a:sym typeface="HK Grotesk"/>
              </a:rPr>
              <a:t>but </a:t>
            </a:r>
            <a:r>
              <a:rPr lang="en-US" sz="4069" spc="-101">
                <a:solidFill>
                  <a:srgbClr val="565E8F"/>
                </a:solidFill>
                <a:latin typeface="HK Grotesk"/>
                <a:ea typeface="HK Grotesk"/>
                <a:cs typeface="HK Grotesk"/>
                <a:sym typeface="HK Grotesk"/>
              </a:rPr>
              <a:t>i</a:t>
            </a:r>
            <a:r>
              <a:rPr lang="en-US" sz="4069" spc="-101">
                <a:solidFill>
                  <a:srgbClr val="565E8F"/>
                </a:solidFill>
                <a:latin typeface="HK Grotesk"/>
                <a:ea typeface="HK Grotesk"/>
                <a:cs typeface="HK Grotesk"/>
                <a:sym typeface="HK Grotesk"/>
              </a:rPr>
              <a:t>so</a:t>
            </a:r>
            <a:r>
              <a:rPr lang="en-US" sz="4069" spc="-101">
                <a:solidFill>
                  <a:srgbClr val="565E8F"/>
                </a:solidFill>
                <a:latin typeface="HK Grotesk"/>
                <a:ea typeface="HK Grotesk"/>
                <a:cs typeface="HK Grotesk"/>
                <a:sym typeface="HK Grotesk"/>
              </a:rPr>
              <a:t>l</a:t>
            </a:r>
            <a:r>
              <a:rPr lang="en-US" sz="4069" spc="-101">
                <a:solidFill>
                  <a:srgbClr val="565E8F"/>
                </a:solidFill>
                <a:latin typeface="HK Grotesk"/>
                <a:ea typeface="HK Grotesk"/>
                <a:cs typeface="HK Grotesk"/>
                <a:sym typeface="HK Grotesk"/>
              </a:rPr>
              <a:t>ated</a:t>
            </a:r>
            <a:r>
              <a:rPr lang="en-US" sz="4069" spc="-101">
                <a:solidFill>
                  <a:srgbClr val="565E8F"/>
                </a:solidFill>
                <a:latin typeface="HK Grotesk"/>
                <a:ea typeface="HK Grotesk"/>
                <a:cs typeface="HK Grotesk"/>
                <a:sym typeface="HK Grotesk"/>
              </a:rPr>
              <a:t> </a:t>
            </a:r>
            <a:r>
              <a:rPr lang="en-US" sz="4069" spc="-101">
                <a:solidFill>
                  <a:srgbClr val="565E8F"/>
                </a:solidFill>
                <a:latin typeface="HK Grotesk"/>
                <a:ea typeface="HK Grotesk"/>
                <a:cs typeface="HK Grotesk"/>
                <a:sym typeface="HK Grotesk"/>
              </a:rPr>
              <a:t>by</a:t>
            </a:r>
            <a:r>
              <a:rPr lang="en-US" sz="4069" spc="-101">
                <a:solidFill>
                  <a:srgbClr val="565E8F"/>
                </a:solidFill>
                <a:latin typeface="HK Grotesk"/>
                <a:ea typeface="HK Grotesk"/>
                <a:cs typeface="HK Grotesk"/>
                <a:sym typeface="HK Grotesk"/>
              </a:rPr>
              <a:t> de</a:t>
            </a:r>
            <a:r>
              <a:rPr lang="en-US" sz="4069" spc="-101">
                <a:solidFill>
                  <a:srgbClr val="565E8F"/>
                </a:solidFill>
                <a:latin typeface="HK Grotesk"/>
                <a:ea typeface="HK Grotesk"/>
                <a:cs typeface="HK Grotesk"/>
                <a:sym typeface="HK Grotesk"/>
              </a:rPr>
              <a:t>f</a:t>
            </a:r>
            <a:r>
              <a:rPr lang="en-US" sz="4069" spc="-101">
                <a:solidFill>
                  <a:srgbClr val="565E8F"/>
                </a:solidFill>
                <a:latin typeface="HK Grotesk"/>
                <a:ea typeface="HK Grotesk"/>
                <a:cs typeface="HK Grotesk"/>
                <a:sym typeface="HK Grotesk"/>
              </a:rPr>
              <a:t>a</a:t>
            </a:r>
            <a:r>
              <a:rPr lang="en-US" sz="4069" spc="-101">
                <a:solidFill>
                  <a:srgbClr val="565E8F"/>
                </a:solidFill>
                <a:latin typeface="HK Grotesk"/>
                <a:ea typeface="HK Grotesk"/>
                <a:cs typeface="HK Grotesk"/>
                <a:sym typeface="HK Grotesk"/>
              </a:rPr>
              <a:t>ult</a:t>
            </a:r>
          </a:p>
          <a:p>
            <a:pPr algn="l" marL="878680" indent="-439340" lvl="1">
              <a:lnSpc>
                <a:spcPts val="5534"/>
              </a:lnSpc>
              <a:buFont typeface="Arial"/>
              <a:buChar char="•"/>
            </a:pPr>
            <a:r>
              <a:rPr lang="en-US" sz="4069" spc="-101">
                <a:solidFill>
                  <a:srgbClr val="565E8F"/>
                </a:solidFill>
                <a:latin typeface="HK Grotesk"/>
                <a:ea typeface="HK Grotesk"/>
                <a:cs typeface="HK Grotesk"/>
                <a:sym typeface="HK Grotesk"/>
              </a:rPr>
              <a:t>They can't check your calendar, read your emails, update </a:t>
            </a:r>
            <a:r>
              <a:rPr lang="en-US" sz="4069" spc="-101">
                <a:solidFill>
                  <a:srgbClr val="565E8F"/>
                </a:solidFill>
                <a:latin typeface="HK Grotesk"/>
                <a:ea typeface="HK Grotesk"/>
                <a:cs typeface="HK Grotesk"/>
                <a:sym typeface="HK Grotesk"/>
              </a:rPr>
              <a:t>a sp</a:t>
            </a:r>
            <a:r>
              <a:rPr lang="en-US" sz="4069" spc="-101">
                <a:solidFill>
                  <a:srgbClr val="565E8F"/>
                </a:solidFill>
                <a:latin typeface="HK Grotesk"/>
                <a:ea typeface="HK Grotesk"/>
                <a:cs typeface="HK Grotesk"/>
                <a:sym typeface="HK Grotesk"/>
              </a:rPr>
              <a:t>r</a:t>
            </a:r>
            <a:r>
              <a:rPr lang="en-US" sz="4069" spc="-101">
                <a:solidFill>
                  <a:srgbClr val="565E8F"/>
                </a:solidFill>
                <a:latin typeface="HK Grotesk"/>
                <a:ea typeface="HK Grotesk"/>
                <a:cs typeface="HK Grotesk"/>
                <a:sym typeface="HK Grotesk"/>
              </a:rPr>
              <a:t>e</a:t>
            </a:r>
            <a:r>
              <a:rPr lang="en-US" sz="4069" spc="-101">
                <a:solidFill>
                  <a:srgbClr val="565E8F"/>
                </a:solidFill>
                <a:latin typeface="HK Grotesk"/>
                <a:ea typeface="HK Grotesk"/>
                <a:cs typeface="HK Grotesk"/>
                <a:sym typeface="HK Grotesk"/>
              </a:rPr>
              <a:t>ad</a:t>
            </a:r>
            <a:r>
              <a:rPr lang="en-US" sz="4069" spc="-101">
                <a:solidFill>
                  <a:srgbClr val="565E8F"/>
                </a:solidFill>
                <a:latin typeface="HK Grotesk"/>
                <a:ea typeface="HK Grotesk"/>
                <a:cs typeface="HK Grotesk"/>
                <a:sym typeface="HK Grotesk"/>
              </a:rPr>
              <a:t>s</a:t>
            </a:r>
            <a:r>
              <a:rPr lang="en-US" sz="4069" spc="-101">
                <a:solidFill>
                  <a:srgbClr val="565E8F"/>
                </a:solidFill>
                <a:latin typeface="HK Grotesk"/>
                <a:ea typeface="HK Grotesk"/>
                <a:cs typeface="HK Grotesk"/>
                <a:sym typeface="HK Grotesk"/>
              </a:rPr>
              <a:t>heet, o</a:t>
            </a:r>
            <a:r>
              <a:rPr lang="en-US" sz="4069" spc="-101">
                <a:solidFill>
                  <a:srgbClr val="565E8F"/>
                </a:solidFill>
                <a:latin typeface="HK Grotesk"/>
                <a:ea typeface="HK Grotesk"/>
                <a:cs typeface="HK Grotesk"/>
                <a:sym typeface="HK Grotesk"/>
              </a:rPr>
              <a:t>r</a:t>
            </a:r>
            <a:r>
              <a:rPr lang="en-US" sz="4069" spc="-101">
                <a:solidFill>
                  <a:srgbClr val="565E8F"/>
                </a:solidFill>
                <a:latin typeface="HK Grotesk"/>
                <a:ea typeface="HK Grotesk"/>
                <a:cs typeface="HK Grotesk"/>
                <a:sym typeface="HK Grotesk"/>
              </a:rPr>
              <a:t> b</a:t>
            </a:r>
            <a:r>
              <a:rPr lang="en-US" sz="4069" spc="-101">
                <a:solidFill>
                  <a:srgbClr val="565E8F"/>
                </a:solidFill>
                <a:latin typeface="HK Grotesk"/>
                <a:ea typeface="HK Grotesk"/>
                <a:cs typeface="HK Grotesk"/>
                <a:sym typeface="HK Grotesk"/>
              </a:rPr>
              <a:t>r</a:t>
            </a:r>
            <a:r>
              <a:rPr lang="en-US" sz="4069" spc="-101">
                <a:solidFill>
                  <a:srgbClr val="565E8F"/>
                </a:solidFill>
                <a:latin typeface="HK Grotesk"/>
                <a:ea typeface="HK Grotesk"/>
                <a:cs typeface="HK Grotesk"/>
                <a:sym typeface="HK Grotesk"/>
              </a:rPr>
              <a:t>ows</a:t>
            </a:r>
            <a:r>
              <a:rPr lang="en-US" sz="4069" spc="-101">
                <a:solidFill>
                  <a:srgbClr val="565E8F"/>
                </a:solidFill>
                <a:latin typeface="HK Grotesk"/>
                <a:ea typeface="HK Grotesk"/>
                <a:cs typeface="HK Grotesk"/>
                <a:sym typeface="HK Grotesk"/>
              </a:rPr>
              <a:t>e </a:t>
            </a:r>
            <a:r>
              <a:rPr lang="en-US" sz="4069" spc="-101">
                <a:solidFill>
                  <a:srgbClr val="565E8F"/>
                </a:solidFill>
                <a:latin typeface="HK Grotesk"/>
                <a:ea typeface="HK Grotesk"/>
                <a:cs typeface="HK Grotesk"/>
                <a:sym typeface="HK Grotesk"/>
              </a:rPr>
              <a:t>a</a:t>
            </a:r>
            <a:r>
              <a:rPr lang="en-US" sz="4069" spc="-101">
                <a:solidFill>
                  <a:srgbClr val="565E8F"/>
                </a:solidFill>
                <a:latin typeface="HK Grotesk"/>
                <a:ea typeface="HK Grotesk"/>
                <a:cs typeface="HK Grotesk"/>
                <a:sym typeface="HK Grotesk"/>
              </a:rPr>
              <a:t> </a:t>
            </a:r>
            <a:r>
              <a:rPr lang="en-US" sz="4069" spc="-101">
                <a:solidFill>
                  <a:srgbClr val="565E8F"/>
                </a:solidFill>
                <a:latin typeface="HK Grotesk"/>
                <a:ea typeface="HK Grotesk"/>
                <a:cs typeface="HK Grotesk"/>
                <a:sym typeface="HK Grotesk"/>
              </a:rPr>
              <a:t>li</a:t>
            </a:r>
            <a:r>
              <a:rPr lang="en-US" sz="4069" spc="-101">
                <a:solidFill>
                  <a:srgbClr val="565E8F"/>
                </a:solidFill>
                <a:latin typeface="HK Grotesk"/>
                <a:ea typeface="HK Grotesk"/>
                <a:cs typeface="HK Grotesk"/>
                <a:sym typeface="HK Grotesk"/>
              </a:rPr>
              <a:t>ve</a:t>
            </a:r>
            <a:r>
              <a:rPr lang="en-US" sz="4069" spc="-101">
                <a:solidFill>
                  <a:srgbClr val="565E8F"/>
                </a:solidFill>
                <a:latin typeface="HK Grotesk"/>
                <a:ea typeface="HK Grotesk"/>
                <a:cs typeface="HK Grotesk"/>
                <a:sym typeface="HK Grotesk"/>
              </a:rPr>
              <a:t> web</a:t>
            </a:r>
            <a:r>
              <a:rPr lang="en-US" sz="4069" spc="-101">
                <a:solidFill>
                  <a:srgbClr val="565E8F"/>
                </a:solidFill>
                <a:latin typeface="HK Grotesk"/>
                <a:ea typeface="HK Grotesk"/>
                <a:cs typeface="HK Grotesk"/>
                <a:sym typeface="HK Grotesk"/>
              </a:rPr>
              <a:t>s</a:t>
            </a:r>
            <a:r>
              <a:rPr lang="en-US" sz="4069" spc="-101">
                <a:solidFill>
                  <a:srgbClr val="565E8F"/>
                </a:solidFill>
                <a:latin typeface="HK Grotesk"/>
                <a:ea typeface="HK Grotesk"/>
                <a:cs typeface="HK Grotesk"/>
                <a:sym typeface="HK Grotesk"/>
              </a:rPr>
              <a:t>ite on thei</a:t>
            </a:r>
            <a:r>
              <a:rPr lang="en-US" sz="4069" spc="-101">
                <a:solidFill>
                  <a:srgbClr val="565E8F"/>
                </a:solidFill>
                <a:latin typeface="HK Grotesk"/>
                <a:ea typeface="HK Grotesk"/>
                <a:cs typeface="HK Grotesk"/>
                <a:sym typeface="HK Grotesk"/>
              </a:rPr>
              <a:t>r o</a:t>
            </a:r>
            <a:r>
              <a:rPr lang="en-US" sz="4069" spc="-101">
                <a:solidFill>
                  <a:srgbClr val="565E8F"/>
                </a:solidFill>
                <a:latin typeface="HK Grotesk"/>
                <a:ea typeface="HK Grotesk"/>
                <a:cs typeface="HK Grotesk"/>
                <a:sym typeface="HK Grotesk"/>
              </a:rPr>
              <a:t>wn</a:t>
            </a:r>
          </a:p>
          <a:p>
            <a:pPr algn="l" marL="878680" indent="-439340" lvl="1">
              <a:lnSpc>
                <a:spcPts val="5534"/>
              </a:lnSpc>
              <a:buFont typeface="Arial"/>
              <a:buChar char="•"/>
            </a:pPr>
            <a:r>
              <a:rPr lang="en-US" sz="4069" spc="-101">
                <a:solidFill>
                  <a:srgbClr val="565E8F"/>
                </a:solidFill>
                <a:latin typeface="HK Grotesk"/>
                <a:ea typeface="HK Grotesk"/>
                <a:cs typeface="HK Grotesk"/>
                <a:sym typeface="HK Grotesk"/>
              </a:rPr>
              <a:t>Like a very smart consultant lo</a:t>
            </a:r>
            <a:r>
              <a:rPr lang="en-US" sz="4069" spc="-101">
                <a:solidFill>
                  <a:srgbClr val="565E8F"/>
                </a:solidFill>
                <a:latin typeface="HK Grotesk"/>
                <a:ea typeface="HK Grotesk"/>
                <a:cs typeface="HK Grotesk"/>
                <a:sym typeface="HK Grotesk"/>
              </a:rPr>
              <a:t>c</a:t>
            </a:r>
            <a:r>
              <a:rPr lang="en-US" sz="4069" spc="-101">
                <a:solidFill>
                  <a:srgbClr val="565E8F"/>
                </a:solidFill>
                <a:latin typeface="HK Grotesk"/>
                <a:ea typeface="HK Grotesk"/>
                <a:cs typeface="HK Grotesk"/>
                <a:sym typeface="HK Grotesk"/>
              </a:rPr>
              <a:t>ked in </a:t>
            </a:r>
            <a:r>
              <a:rPr lang="en-US" sz="4069" spc="-101">
                <a:solidFill>
                  <a:srgbClr val="565E8F"/>
                </a:solidFill>
                <a:latin typeface="HK Grotesk"/>
                <a:ea typeface="HK Grotesk"/>
                <a:cs typeface="HK Grotesk"/>
                <a:sym typeface="HK Grotesk"/>
              </a:rPr>
              <a:t>a</a:t>
            </a:r>
            <a:r>
              <a:rPr lang="en-US" sz="4069" spc="-101">
                <a:solidFill>
                  <a:srgbClr val="565E8F"/>
                </a:solidFill>
                <a:latin typeface="HK Grotesk"/>
                <a:ea typeface="HK Grotesk"/>
                <a:cs typeface="HK Grotesk"/>
                <a:sym typeface="HK Grotesk"/>
              </a:rPr>
              <a:t> </a:t>
            </a:r>
            <a:r>
              <a:rPr lang="en-US" sz="4069" spc="-101">
                <a:solidFill>
                  <a:srgbClr val="565E8F"/>
                </a:solidFill>
                <a:latin typeface="HK Grotesk"/>
                <a:ea typeface="HK Grotesk"/>
                <a:cs typeface="HK Grotesk"/>
                <a:sym typeface="HK Grotesk"/>
              </a:rPr>
              <a:t>r</a:t>
            </a:r>
            <a:r>
              <a:rPr lang="en-US" sz="4069" spc="-101">
                <a:solidFill>
                  <a:srgbClr val="565E8F"/>
                </a:solidFill>
                <a:latin typeface="HK Grotesk"/>
                <a:ea typeface="HK Grotesk"/>
                <a:cs typeface="HK Grotesk"/>
                <a:sym typeface="HK Grotesk"/>
              </a:rPr>
              <a:t>oom with no </a:t>
            </a:r>
            <a:r>
              <a:rPr lang="en-US" sz="4069" spc="-101">
                <a:solidFill>
                  <a:srgbClr val="565E8F"/>
                </a:solidFill>
                <a:latin typeface="HK Grotesk"/>
                <a:ea typeface="HK Grotesk"/>
                <a:cs typeface="HK Grotesk"/>
                <a:sym typeface="HK Grotesk"/>
              </a:rPr>
              <a:t>int</a:t>
            </a:r>
            <a:r>
              <a:rPr lang="en-US" sz="4069" spc="-101">
                <a:solidFill>
                  <a:srgbClr val="565E8F"/>
                </a:solidFill>
                <a:latin typeface="HK Grotesk"/>
                <a:ea typeface="HK Grotesk"/>
                <a:cs typeface="HK Grotesk"/>
                <a:sym typeface="HK Grotesk"/>
              </a:rPr>
              <a:t>e</a:t>
            </a:r>
            <a:r>
              <a:rPr lang="en-US" sz="4069" spc="-101">
                <a:solidFill>
                  <a:srgbClr val="565E8F"/>
                </a:solidFill>
                <a:latin typeface="HK Grotesk"/>
                <a:ea typeface="HK Grotesk"/>
                <a:cs typeface="HK Grotesk"/>
                <a:sym typeface="HK Grotesk"/>
              </a:rPr>
              <a:t>r</a:t>
            </a:r>
            <a:r>
              <a:rPr lang="en-US" sz="4069" spc="-101">
                <a:solidFill>
                  <a:srgbClr val="565E8F"/>
                </a:solidFill>
                <a:latin typeface="HK Grotesk"/>
                <a:ea typeface="HK Grotesk"/>
                <a:cs typeface="HK Grotesk"/>
                <a:sym typeface="HK Grotesk"/>
              </a:rPr>
              <a:t>net,</a:t>
            </a:r>
            <a:r>
              <a:rPr lang="en-US" sz="4069" spc="-101">
                <a:solidFill>
                  <a:srgbClr val="565E8F"/>
                </a:solidFill>
                <a:latin typeface="HK Grotesk"/>
                <a:ea typeface="HK Grotesk"/>
                <a:cs typeface="HK Grotesk"/>
                <a:sym typeface="HK Grotesk"/>
              </a:rPr>
              <a:t> </a:t>
            </a:r>
            <a:r>
              <a:rPr lang="en-US" sz="4069" spc="-101">
                <a:solidFill>
                  <a:srgbClr val="565E8F"/>
                </a:solidFill>
                <a:latin typeface="HK Grotesk"/>
                <a:ea typeface="HK Grotesk"/>
                <a:cs typeface="HK Grotesk"/>
                <a:sym typeface="HK Grotesk"/>
              </a:rPr>
              <a:t>n</a:t>
            </a:r>
            <a:r>
              <a:rPr lang="en-US" sz="4069" spc="-101">
                <a:solidFill>
                  <a:srgbClr val="565E8F"/>
                </a:solidFill>
                <a:latin typeface="HK Grotesk"/>
                <a:ea typeface="HK Grotesk"/>
                <a:cs typeface="HK Grotesk"/>
                <a:sym typeface="HK Grotesk"/>
              </a:rPr>
              <a:t>o</a:t>
            </a:r>
            <a:r>
              <a:rPr lang="en-US" sz="4069" spc="-101">
                <a:solidFill>
                  <a:srgbClr val="565E8F"/>
                </a:solidFill>
                <a:latin typeface="HK Grotesk"/>
                <a:ea typeface="HK Grotesk"/>
                <a:cs typeface="HK Grotesk"/>
                <a:sym typeface="HK Grotesk"/>
              </a:rPr>
              <a:t> </a:t>
            </a:r>
            <a:r>
              <a:rPr lang="en-US" sz="4069" spc="-101">
                <a:solidFill>
                  <a:srgbClr val="565E8F"/>
                </a:solidFill>
                <a:latin typeface="HK Grotesk"/>
                <a:ea typeface="HK Grotesk"/>
                <a:cs typeface="HK Grotesk"/>
                <a:sym typeface="HK Grotesk"/>
              </a:rPr>
              <a:t>f</a:t>
            </a:r>
            <a:r>
              <a:rPr lang="en-US" sz="4069" spc="-101">
                <a:solidFill>
                  <a:srgbClr val="565E8F"/>
                </a:solidFill>
                <a:latin typeface="HK Grotesk"/>
                <a:ea typeface="HK Grotesk"/>
                <a:cs typeface="HK Grotesk"/>
                <a:sym typeface="HK Grotesk"/>
              </a:rPr>
              <a:t>il</a:t>
            </a:r>
            <a:r>
              <a:rPr lang="en-US" sz="4069" spc="-101">
                <a:solidFill>
                  <a:srgbClr val="565E8F"/>
                </a:solidFill>
                <a:latin typeface="HK Grotesk"/>
                <a:ea typeface="HK Grotesk"/>
                <a:cs typeface="HK Grotesk"/>
                <a:sym typeface="HK Grotesk"/>
              </a:rPr>
              <a:t>es</a:t>
            </a:r>
            <a:r>
              <a:rPr lang="en-US" sz="4069" spc="-101">
                <a:solidFill>
                  <a:srgbClr val="565E8F"/>
                </a:solidFill>
                <a:latin typeface="HK Grotesk"/>
                <a:ea typeface="HK Grotesk"/>
                <a:cs typeface="HK Grotesk"/>
                <a:sym typeface="HK Grotesk"/>
              </a:rPr>
              <a:t>, </a:t>
            </a:r>
            <a:r>
              <a:rPr lang="en-US" sz="4069" spc="-101">
                <a:solidFill>
                  <a:srgbClr val="565E8F"/>
                </a:solidFill>
                <a:latin typeface="HK Grotesk"/>
                <a:ea typeface="HK Grotesk"/>
                <a:cs typeface="HK Grotesk"/>
                <a:sym typeface="HK Grotesk"/>
              </a:rPr>
              <a:t>n</a:t>
            </a:r>
            <a:r>
              <a:rPr lang="en-US" sz="4069" spc="-101">
                <a:solidFill>
                  <a:srgbClr val="565E8F"/>
                </a:solidFill>
                <a:latin typeface="HK Grotesk"/>
                <a:ea typeface="HK Grotesk"/>
                <a:cs typeface="HK Grotesk"/>
                <a:sym typeface="HK Grotesk"/>
              </a:rPr>
              <a:t>o too</a:t>
            </a:r>
            <a:r>
              <a:rPr lang="en-US" sz="4069" spc="-101">
                <a:solidFill>
                  <a:srgbClr val="565E8F"/>
                </a:solidFill>
                <a:latin typeface="HK Grotesk"/>
                <a:ea typeface="HK Grotesk"/>
                <a:cs typeface="HK Grotesk"/>
                <a:sym typeface="HK Grotesk"/>
              </a:rPr>
              <a:t>ls</a:t>
            </a:r>
          </a:p>
        </p:txBody>
      </p:sp>
      <p:grpSp>
        <p:nvGrpSpPr>
          <p:cNvPr name="Group 16" id="16"/>
          <p:cNvGrpSpPr/>
          <p:nvPr/>
        </p:nvGrpSpPr>
        <p:grpSpPr>
          <a:xfrm rot="0">
            <a:off x="915508" y="365374"/>
            <a:ext cx="17528009" cy="832382"/>
            <a:chOff x="0" y="0"/>
            <a:chExt cx="23370678" cy="1109842"/>
          </a:xfrm>
        </p:grpSpPr>
        <p:sp>
          <p:nvSpPr>
            <p:cNvPr name="TextBox 17" id="17"/>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8" id="18"/>
            <p:cNvGrpSpPr/>
            <p:nvPr/>
          </p:nvGrpSpPr>
          <p:grpSpPr>
            <a:xfrm rot="0">
              <a:off x="18021129" y="169165"/>
              <a:ext cx="3513365" cy="715270"/>
              <a:chOff x="0" y="0"/>
              <a:chExt cx="749232" cy="152533"/>
            </a:xfrm>
          </p:grpSpPr>
          <p:sp>
            <p:nvSpPr>
              <p:cNvPr name="Freeform 19" id="19"/>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20" id="20"/>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21" id="21"/>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22" id="22"/>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6"/>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471864"/>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96154" y="4163315"/>
            <a:ext cx="14695692" cy="5094985"/>
            <a:chOff x="0" y="0"/>
            <a:chExt cx="3201709" cy="1110030"/>
          </a:xfrm>
        </p:grpSpPr>
        <p:sp>
          <p:nvSpPr>
            <p:cNvPr name="Freeform 10" id="10"/>
            <p:cNvSpPr/>
            <p:nvPr/>
          </p:nvSpPr>
          <p:spPr>
            <a:xfrm flipH="false" flipV="false" rot="0">
              <a:off x="0" y="0"/>
              <a:ext cx="3201709" cy="1110030"/>
            </a:xfrm>
            <a:custGeom>
              <a:avLst/>
              <a:gdLst/>
              <a:ahLst/>
              <a:cxnLst/>
              <a:rect r="r" b="b" t="t" l="l"/>
              <a:pathLst>
                <a:path h="1110030" w="3201709">
                  <a:moveTo>
                    <a:pt x="39511" y="0"/>
                  </a:moveTo>
                  <a:lnTo>
                    <a:pt x="3162197" y="0"/>
                  </a:lnTo>
                  <a:cubicBezTo>
                    <a:pt x="3184019" y="0"/>
                    <a:pt x="3201709" y="17690"/>
                    <a:pt x="3201709" y="39511"/>
                  </a:cubicBezTo>
                  <a:lnTo>
                    <a:pt x="3201709" y="1070519"/>
                  </a:lnTo>
                  <a:cubicBezTo>
                    <a:pt x="3201709" y="1092340"/>
                    <a:pt x="3184019" y="1110030"/>
                    <a:pt x="3162197" y="1110030"/>
                  </a:cubicBezTo>
                  <a:lnTo>
                    <a:pt x="39511" y="1110030"/>
                  </a:lnTo>
                  <a:cubicBezTo>
                    <a:pt x="17690" y="1110030"/>
                    <a:pt x="0" y="1092340"/>
                    <a:pt x="0" y="1070519"/>
                  </a:cubicBezTo>
                  <a:lnTo>
                    <a:pt x="0" y="39511"/>
                  </a:lnTo>
                  <a:cubicBezTo>
                    <a:pt x="0" y="17690"/>
                    <a:pt x="17690" y="0"/>
                    <a:pt x="39511" y="0"/>
                  </a:cubicBezTo>
                  <a:close/>
                </a:path>
              </a:pathLst>
            </a:custGeom>
            <a:solidFill>
              <a:srgbClr val="FFFFFF">
                <a:alpha val="75686"/>
              </a:srgbClr>
            </a:solidFill>
            <a:ln w="19050" cap="rnd">
              <a:solidFill>
                <a:srgbClr val="A6B3FF">
                  <a:alpha val="75686"/>
                </a:srgbClr>
              </a:solidFill>
              <a:prstDash val="solid"/>
              <a:round/>
            </a:ln>
          </p:spPr>
        </p:sp>
        <p:sp>
          <p:nvSpPr>
            <p:cNvPr name="TextBox 11" id="11"/>
            <p:cNvSpPr txBox="true"/>
            <p:nvPr/>
          </p:nvSpPr>
          <p:spPr>
            <a:xfrm>
              <a:off x="0" y="-38100"/>
              <a:ext cx="3201709" cy="1148130"/>
            </a:xfrm>
            <a:prstGeom prst="rect">
              <a:avLst/>
            </a:prstGeom>
          </p:spPr>
          <p:txBody>
            <a:bodyPr anchor="ctr" rtlCol="false" tIns="50800" lIns="50800" bIns="50800" rIns="50800"/>
            <a:lstStyle/>
            <a:p>
              <a:pPr algn="ctr">
                <a:lnSpc>
                  <a:spcPts val="2659"/>
                </a:lnSpc>
              </a:pPr>
            </a:p>
          </p:txBody>
        </p:sp>
      </p:grpSp>
      <p:sp>
        <p:nvSpPr>
          <p:cNvPr name="AutoShape 12" id="12"/>
          <p:cNvSpPr/>
          <p:nvPr/>
        </p:nvSpPr>
        <p:spPr>
          <a:xfrm>
            <a:off x="1028700" y="1256003"/>
            <a:ext cx="16230600" cy="0"/>
          </a:xfrm>
          <a:prstGeom prst="line">
            <a:avLst/>
          </a:prstGeom>
          <a:ln cap="rnd" w="19050">
            <a:solidFill>
              <a:srgbClr val="7681BD"/>
            </a:solidFill>
            <a:prstDash val="solid"/>
            <a:headEnd type="none" len="sm" w="sm"/>
            <a:tailEnd type="none" len="sm" w="sm"/>
          </a:ln>
        </p:spPr>
      </p:sp>
      <p:sp>
        <p:nvSpPr>
          <p:cNvPr name="Freeform 13" id="13"/>
          <p:cNvSpPr/>
          <p:nvPr/>
        </p:nvSpPr>
        <p:spPr>
          <a:xfrm flipH="false" flipV="false" rot="0">
            <a:off x="14418452" y="7047364"/>
            <a:ext cx="1816560" cy="1865128"/>
          </a:xfrm>
          <a:custGeom>
            <a:avLst/>
            <a:gdLst/>
            <a:ahLst/>
            <a:cxnLst/>
            <a:rect r="r" b="b" t="t" l="l"/>
            <a:pathLst>
              <a:path h="1865128" w="1816560">
                <a:moveTo>
                  <a:pt x="0" y="0"/>
                </a:moveTo>
                <a:lnTo>
                  <a:pt x="1816559" y="0"/>
                </a:lnTo>
                <a:lnTo>
                  <a:pt x="1816559" y="1865128"/>
                </a:lnTo>
                <a:lnTo>
                  <a:pt x="0" y="1865128"/>
                </a:lnTo>
                <a:lnTo>
                  <a:pt x="0" y="0"/>
                </a:lnTo>
                <a:close/>
              </a:path>
            </a:pathLst>
          </a:custGeom>
          <a:blipFill>
            <a:blip r:embed="rId4"/>
            <a:stretch>
              <a:fillRect l="-1336" t="0" r="-1336" b="0"/>
            </a:stretch>
          </a:blipFill>
        </p:spPr>
      </p:sp>
      <p:sp>
        <p:nvSpPr>
          <p:cNvPr name="TextBox 14" id="14"/>
          <p:cNvSpPr txBox="true"/>
          <p:nvPr/>
        </p:nvSpPr>
        <p:spPr>
          <a:xfrm rot="0">
            <a:off x="1988513" y="2304803"/>
            <a:ext cx="12045039" cy="1464730"/>
          </a:xfrm>
          <a:prstGeom prst="rect">
            <a:avLst/>
          </a:prstGeom>
        </p:spPr>
        <p:txBody>
          <a:bodyPr anchor="t" rtlCol="false" tIns="0" lIns="0" bIns="0" rIns="0">
            <a:spAutoFit/>
          </a:bodyPr>
          <a:lstStyle/>
          <a:p>
            <a:pPr algn="l" marL="0" indent="0" lvl="0">
              <a:lnSpc>
                <a:spcPts val="11538"/>
              </a:lnSpc>
            </a:pPr>
            <a:r>
              <a:rPr lang="en-US" sz="9778" spc="-586">
                <a:solidFill>
                  <a:srgbClr val="777FC4"/>
                </a:solidFill>
                <a:latin typeface="Open Sauce"/>
                <a:ea typeface="Open Sauce"/>
                <a:cs typeface="Open Sauce"/>
                <a:sym typeface="Open Sauce"/>
              </a:rPr>
              <a:t>What is</a:t>
            </a:r>
            <a:r>
              <a:rPr lang="en-US" b="true" sz="9778" spc="-586">
                <a:solidFill>
                  <a:srgbClr val="777FC4"/>
                </a:solidFill>
                <a:latin typeface="Open Sauce Bold"/>
                <a:ea typeface="Open Sauce Bold"/>
                <a:cs typeface="Open Sauce Bold"/>
                <a:sym typeface="Open Sauce Bold"/>
              </a:rPr>
              <a:t> MCP?</a:t>
            </a:r>
          </a:p>
        </p:txBody>
      </p:sp>
      <p:sp>
        <p:nvSpPr>
          <p:cNvPr name="TextBox 15" id="15"/>
          <p:cNvSpPr txBox="true"/>
          <p:nvPr/>
        </p:nvSpPr>
        <p:spPr>
          <a:xfrm rot="0">
            <a:off x="2411050" y="4885388"/>
            <a:ext cx="12007402" cy="543593"/>
          </a:xfrm>
          <a:prstGeom prst="rect">
            <a:avLst/>
          </a:prstGeom>
        </p:spPr>
        <p:txBody>
          <a:bodyPr anchor="t" rtlCol="false" tIns="0" lIns="0" bIns="0" rIns="0">
            <a:spAutoFit/>
          </a:bodyPr>
          <a:lstStyle/>
          <a:p>
            <a:pPr algn="l">
              <a:lnSpc>
                <a:spcPts val="4086"/>
              </a:lnSpc>
            </a:pPr>
            <a:r>
              <a:rPr lang="en-US" sz="4347" spc="-204">
                <a:solidFill>
                  <a:srgbClr val="A6B3FF"/>
                </a:solidFill>
                <a:latin typeface="Open Sauce"/>
                <a:ea typeface="Open Sauce"/>
                <a:cs typeface="Open Sauce"/>
                <a:sym typeface="Open Sauce"/>
              </a:rPr>
              <a:t>Officially introduced by Anthropic in late </a:t>
            </a:r>
            <a:r>
              <a:rPr lang="en-US" sz="4347" spc="-204" b="true">
                <a:solidFill>
                  <a:srgbClr val="A6B3FF"/>
                </a:solidFill>
                <a:latin typeface="Open Sauce Bold"/>
                <a:ea typeface="Open Sauce Bold"/>
                <a:cs typeface="Open Sauce Bold"/>
                <a:sym typeface="Open Sauce Bold"/>
              </a:rPr>
              <a:t>2024</a:t>
            </a:r>
          </a:p>
        </p:txBody>
      </p:sp>
      <p:sp>
        <p:nvSpPr>
          <p:cNvPr name="TextBox 16" id="16"/>
          <p:cNvSpPr txBox="true"/>
          <p:nvPr/>
        </p:nvSpPr>
        <p:spPr>
          <a:xfrm rot="0">
            <a:off x="2218415" y="5592672"/>
            <a:ext cx="11069519" cy="3042765"/>
          </a:xfrm>
          <a:prstGeom prst="rect">
            <a:avLst/>
          </a:prstGeom>
        </p:spPr>
        <p:txBody>
          <a:bodyPr anchor="t" rtlCol="false" tIns="0" lIns="0" bIns="0" rIns="0">
            <a:spAutoFit/>
          </a:bodyPr>
          <a:lstStyle/>
          <a:p>
            <a:pPr algn="l" marL="764045" indent="-382022" lvl="1">
              <a:lnSpc>
                <a:spcPts val="4812"/>
              </a:lnSpc>
              <a:buFont typeface="Arial"/>
              <a:buChar char="•"/>
            </a:pPr>
            <a:r>
              <a:rPr lang="en-US" sz="3538" spc="-88">
                <a:solidFill>
                  <a:srgbClr val="222223"/>
                </a:solidFill>
                <a:latin typeface="HK Grotesk"/>
                <a:ea typeface="HK Grotesk"/>
                <a:cs typeface="HK Grotesk"/>
                <a:sym typeface="HK Grotesk"/>
              </a:rPr>
              <a:t>C</a:t>
            </a:r>
            <a:r>
              <a:rPr lang="en-US" sz="3538" spc="-88">
                <a:solidFill>
                  <a:srgbClr val="222223"/>
                </a:solidFill>
                <a:latin typeface="HK Grotesk"/>
                <a:ea typeface="HK Grotesk"/>
                <a:cs typeface="HK Grotesk"/>
                <a:sym typeface="HK Grotesk"/>
              </a:rPr>
              <a:t>reated as an open standard that allows AI models to connect to </a:t>
            </a:r>
            <a:r>
              <a:rPr lang="en-US" b="true" sz="3538" spc="-88">
                <a:solidFill>
                  <a:srgbClr val="222223"/>
                </a:solidFill>
                <a:latin typeface="HK Grotesk Bold"/>
                <a:ea typeface="HK Grotesk Bold"/>
                <a:cs typeface="HK Grotesk Bold"/>
                <a:sym typeface="HK Grotesk Bold"/>
              </a:rPr>
              <a:t>external</a:t>
            </a:r>
            <a:r>
              <a:rPr lang="en-US" sz="3538" spc="-88">
                <a:solidFill>
                  <a:srgbClr val="222223"/>
                </a:solidFill>
                <a:latin typeface="HK Grotesk"/>
                <a:ea typeface="HK Grotesk"/>
                <a:cs typeface="HK Grotesk"/>
                <a:sym typeface="HK Grotesk"/>
              </a:rPr>
              <a:t> tools and data sources.</a:t>
            </a:r>
          </a:p>
          <a:p>
            <a:pPr algn="l" marL="764045" indent="-382022" lvl="1">
              <a:lnSpc>
                <a:spcPts val="4812"/>
              </a:lnSpc>
              <a:buFont typeface="Arial"/>
              <a:buChar char="•"/>
            </a:pPr>
            <a:r>
              <a:rPr lang="en-US" sz="3538" spc="-88">
                <a:solidFill>
                  <a:srgbClr val="222223"/>
                </a:solidFill>
                <a:latin typeface="HK Grotesk"/>
                <a:ea typeface="HK Grotesk"/>
                <a:cs typeface="HK Grotesk"/>
                <a:sym typeface="HK Grotesk"/>
              </a:rPr>
              <a:t>USB standard but for AI</a:t>
            </a:r>
          </a:p>
          <a:p>
            <a:pPr algn="l" marL="764045" indent="-382022" lvl="1">
              <a:lnSpc>
                <a:spcPts val="4812"/>
              </a:lnSpc>
              <a:buFont typeface="Arial"/>
              <a:buChar char="•"/>
            </a:pPr>
            <a:r>
              <a:rPr lang="en-US" sz="3538" spc="-88">
                <a:solidFill>
                  <a:srgbClr val="222223"/>
                </a:solidFill>
                <a:latin typeface="HK Grotesk"/>
                <a:ea typeface="HK Grotesk"/>
                <a:cs typeface="HK Grotesk"/>
                <a:sym typeface="HK Grotesk"/>
              </a:rPr>
              <a:t>Any tool that has a MCP server can plug in</a:t>
            </a:r>
          </a:p>
          <a:p>
            <a:pPr algn="l" marL="764045" indent="-382022" lvl="1">
              <a:lnSpc>
                <a:spcPts val="4812"/>
              </a:lnSpc>
              <a:buFont typeface="Arial"/>
              <a:buChar char="•"/>
            </a:pPr>
            <a:r>
              <a:rPr lang="en-US" sz="3538" spc="-88">
                <a:solidFill>
                  <a:srgbClr val="222223"/>
                </a:solidFill>
                <a:latin typeface="HK Grotesk"/>
                <a:ea typeface="HK Grotesk"/>
                <a:cs typeface="HK Grotesk"/>
                <a:sym typeface="HK Grotesk"/>
              </a:rPr>
              <a:t>Not proprietary or specific to a single platform</a:t>
            </a:r>
          </a:p>
        </p:txBody>
      </p:sp>
      <p:grpSp>
        <p:nvGrpSpPr>
          <p:cNvPr name="Group 17" id="17"/>
          <p:cNvGrpSpPr/>
          <p:nvPr/>
        </p:nvGrpSpPr>
        <p:grpSpPr>
          <a:xfrm rot="0">
            <a:off x="915508" y="365374"/>
            <a:ext cx="17528009" cy="832382"/>
            <a:chOff x="0" y="0"/>
            <a:chExt cx="23370678" cy="1109842"/>
          </a:xfrm>
        </p:grpSpPr>
        <p:sp>
          <p:nvSpPr>
            <p:cNvPr name="TextBox 18" id="18"/>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9" id="19"/>
            <p:cNvGrpSpPr/>
            <p:nvPr/>
          </p:nvGrpSpPr>
          <p:grpSpPr>
            <a:xfrm rot="0">
              <a:off x="18021129" y="169165"/>
              <a:ext cx="3513365" cy="715270"/>
              <a:chOff x="0" y="0"/>
              <a:chExt cx="749232" cy="152533"/>
            </a:xfrm>
          </p:grpSpPr>
          <p:sp>
            <p:nvSpPr>
              <p:cNvPr name="Freeform 20" id="20"/>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21" id="21"/>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22" id="22"/>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23" id="23"/>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5"/>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112941" y="-471864"/>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69424" y="4526620"/>
            <a:ext cx="17569036" cy="3751425"/>
            <a:chOff x="0" y="0"/>
            <a:chExt cx="4627236" cy="988030"/>
          </a:xfrm>
        </p:grpSpPr>
        <p:sp>
          <p:nvSpPr>
            <p:cNvPr name="Freeform 10" id="10"/>
            <p:cNvSpPr/>
            <p:nvPr/>
          </p:nvSpPr>
          <p:spPr>
            <a:xfrm flipH="false" flipV="false" rot="0">
              <a:off x="0" y="0"/>
              <a:ext cx="4627236" cy="988030"/>
            </a:xfrm>
            <a:custGeom>
              <a:avLst/>
              <a:gdLst/>
              <a:ahLst/>
              <a:cxnLst/>
              <a:rect r="r" b="b" t="t" l="l"/>
              <a:pathLst>
                <a:path h="988030" w="4627236">
                  <a:moveTo>
                    <a:pt x="19830" y="0"/>
                  </a:moveTo>
                  <a:lnTo>
                    <a:pt x="4607406" y="0"/>
                  </a:lnTo>
                  <a:cubicBezTo>
                    <a:pt x="4618358" y="0"/>
                    <a:pt x="4627236" y="8878"/>
                    <a:pt x="4627236" y="19830"/>
                  </a:cubicBezTo>
                  <a:lnTo>
                    <a:pt x="4627236" y="968200"/>
                  </a:lnTo>
                  <a:cubicBezTo>
                    <a:pt x="4627236" y="979151"/>
                    <a:pt x="4618358" y="988030"/>
                    <a:pt x="4607406" y="988030"/>
                  </a:cubicBezTo>
                  <a:lnTo>
                    <a:pt x="19830" y="988030"/>
                  </a:lnTo>
                  <a:cubicBezTo>
                    <a:pt x="14570" y="988030"/>
                    <a:pt x="9527" y="985940"/>
                    <a:pt x="5808" y="982222"/>
                  </a:cubicBezTo>
                  <a:cubicBezTo>
                    <a:pt x="2089" y="978503"/>
                    <a:pt x="0" y="973459"/>
                    <a:pt x="0" y="968200"/>
                  </a:cubicBezTo>
                  <a:lnTo>
                    <a:pt x="0" y="19830"/>
                  </a:lnTo>
                  <a:cubicBezTo>
                    <a:pt x="0" y="8878"/>
                    <a:pt x="8878" y="0"/>
                    <a:pt x="19830" y="0"/>
                  </a:cubicBezTo>
                  <a:close/>
                </a:path>
              </a:pathLst>
            </a:custGeom>
            <a:solidFill>
              <a:srgbClr val="FFFFFF"/>
            </a:solidFill>
            <a:ln cap="rnd">
              <a:noFill/>
              <a:prstDash val="solid"/>
              <a:round/>
            </a:ln>
          </p:spPr>
        </p:sp>
        <p:sp>
          <p:nvSpPr>
            <p:cNvPr name="TextBox 11" id="11"/>
            <p:cNvSpPr txBox="true"/>
            <p:nvPr/>
          </p:nvSpPr>
          <p:spPr>
            <a:xfrm>
              <a:off x="0" y="-38100"/>
              <a:ext cx="4627236" cy="102613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799850" y="4526620"/>
            <a:ext cx="6151670" cy="3775977"/>
            <a:chOff x="0" y="0"/>
            <a:chExt cx="1620193" cy="994496"/>
          </a:xfrm>
        </p:grpSpPr>
        <p:sp>
          <p:nvSpPr>
            <p:cNvPr name="Freeform 13" id="13"/>
            <p:cNvSpPr/>
            <p:nvPr/>
          </p:nvSpPr>
          <p:spPr>
            <a:xfrm flipH="false" flipV="false" rot="0">
              <a:off x="0" y="0"/>
              <a:ext cx="1620193" cy="994496"/>
            </a:xfrm>
            <a:custGeom>
              <a:avLst/>
              <a:gdLst/>
              <a:ahLst/>
              <a:cxnLst/>
              <a:rect r="r" b="b" t="t" l="l"/>
              <a:pathLst>
                <a:path h="994496" w="1620193">
                  <a:moveTo>
                    <a:pt x="56633" y="0"/>
                  </a:moveTo>
                  <a:lnTo>
                    <a:pt x="1563560" y="0"/>
                  </a:lnTo>
                  <a:cubicBezTo>
                    <a:pt x="1578580" y="0"/>
                    <a:pt x="1592985" y="5967"/>
                    <a:pt x="1603606" y="16587"/>
                  </a:cubicBezTo>
                  <a:cubicBezTo>
                    <a:pt x="1614226" y="27208"/>
                    <a:pt x="1620193" y="41613"/>
                    <a:pt x="1620193" y="56633"/>
                  </a:cubicBezTo>
                  <a:lnTo>
                    <a:pt x="1620193" y="937863"/>
                  </a:lnTo>
                  <a:cubicBezTo>
                    <a:pt x="1620193" y="952883"/>
                    <a:pt x="1614226" y="967288"/>
                    <a:pt x="1603606" y="977909"/>
                  </a:cubicBezTo>
                  <a:cubicBezTo>
                    <a:pt x="1592985" y="988529"/>
                    <a:pt x="1578580" y="994496"/>
                    <a:pt x="1563560" y="994496"/>
                  </a:cubicBezTo>
                  <a:lnTo>
                    <a:pt x="56633" y="994496"/>
                  </a:lnTo>
                  <a:cubicBezTo>
                    <a:pt x="41613" y="994496"/>
                    <a:pt x="27208" y="988529"/>
                    <a:pt x="16587" y="977909"/>
                  </a:cubicBezTo>
                  <a:cubicBezTo>
                    <a:pt x="5967" y="967288"/>
                    <a:pt x="0" y="952883"/>
                    <a:pt x="0" y="937863"/>
                  </a:cubicBezTo>
                  <a:lnTo>
                    <a:pt x="0" y="56633"/>
                  </a:lnTo>
                  <a:cubicBezTo>
                    <a:pt x="0" y="41613"/>
                    <a:pt x="5967" y="27208"/>
                    <a:pt x="16587" y="16587"/>
                  </a:cubicBezTo>
                  <a:cubicBezTo>
                    <a:pt x="27208" y="5967"/>
                    <a:pt x="41613" y="0"/>
                    <a:pt x="56633" y="0"/>
                  </a:cubicBezTo>
                  <a:close/>
                </a:path>
              </a:pathLst>
            </a:custGeom>
            <a:gradFill rotWithShape="true">
              <a:gsLst>
                <a:gs pos="0">
                  <a:srgbClr val="A6B3FF">
                    <a:alpha val="82000"/>
                  </a:srgbClr>
                </a:gs>
                <a:gs pos="20000">
                  <a:srgbClr val="FFFFFF">
                    <a:alpha val="73500"/>
                  </a:srgbClr>
                </a:gs>
                <a:gs pos="40000">
                  <a:srgbClr val="FFFFFF">
                    <a:alpha val="44500"/>
                  </a:srgbClr>
                </a:gs>
                <a:gs pos="60000">
                  <a:srgbClr val="FFFFFF">
                    <a:alpha val="20000"/>
                  </a:srgbClr>
                </a:gs>
                <a:gs pos="80000">
                  <a:srgbClr val="A6B3FF">
                    <a:alpha val="29500"/>
                  </a:srgbClr>
                </a:gs>
                <a:gs pos="100000">
                  <a:srgbClr val="8E9BE6">
                    <a:alpha val="65000"/>
                  </a:srgbClr>
                </a:gs>
              </a:gsLst>
              <a:lin ang="5400000"/>
            </a:gradFill>
            <a:ln w="19050" cap="rnd">
              <a:solidFill>
                <a:srgbClr val="C4CAED"/>
              </a:solidFill>
              <a:prstDash val="solid"/>
              <a:round/>
            </a:ln>
          </p:spPr>
        </p:sp>
        <p:sp>
          <p:nvSpPr>
            <p:cNvPr name="TextBox 14" id="14"/>
            <p:cNvSpPr txBox="true"/>
            <p:nvPr/>
          </p:nvSpPr>
          <p:spPr>
            <a:xfrm>
              <a:off x="0" y="-38100"/>
              <a:ext cx="1620193" cy="103259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760385" y="2737224"/>
            <a:ext cx="16230600" cy="881753"/>
          </a:xfrm>
          <a:prstGeom prst="rect">
            <a:avLst/>
          </a:prstGeom>
        </p:spPr>
        <p:txBody>
          <a:bodyPr anchor="t" rtlCol="false" tIns="0" lIns="0" bIns="0" rIns="0">
            <a:spAutoFit/>
          </a:bodyPr>
          <a:lstStyle/>
          <a:p>
            <a:pPr algn="ctr" marL="0" indent="0" lvl="0">
              <a:lnSpc>
                <a:spcPts val="6428"/>
              </a:lnSpc>
            </a:pPr>
            <a:r>
              <a:rPr lang="en-US" b="true" sz="7143" spc="-428">
                <a:solidFill>
                  <a:srgbClr val="7681BD"/>
                </a:solidFill>
                <a:latin typeface="Open Sauce Bold"/>
                <a:ea typeface="Open Sauce Bold"/>
                <a:cs typeface="Open Sauce Bold"/>
                <a:sym typeface="Open Sauce Bold"/>
              </a:rPr>
              <a:t>Tool Calls vs </a:t>
            </a:r>
            <a:r>
              <a:rPr lang="en-US" b="true" sz="7143" spc="-428">
                <a:solidFill>
                  <a:srgbClr val="9CA5DA"/>
                </a:solidFill>
                <a:latin typeface="Open Sauce Bold"/>
                <a:ea typeface="Open Sauce Bold"/>
                <a:cs typeface="Open Sauce Bold"/>
                <a:sym typeface="Open Sauce Bold"/>
              </a:rPr>
              <a:t>MCP</a:t>
            </a:r>
          </a:p>
        </p:txBody>
      </p:sp>
      <p:sp>
        <p:nvSpPr>
          <p:cNvPr name="TextBox 16" id="16"/>
          <p:cNvSpPr txBox="true"/>
          <p:nvPr/>
        </p:nvSpPr>
        <p:spPr>
          <a:xfrm rot="0">
            <a:off x="932588" y="5686425"/>
            <a:ext cx="4867262" cy="2481648"/>
          </a:xfrm>
          <a:prstGeom prst="rect">
            <a:avLst/>
          </a:prstGeom>
        </p:spPr>
        <p:txBody>
          <a:bodyPr anchor="t" rtlCol="false" tIns="0" lIns="0" bIns="0" rIns="0">
            <a:spAutoFit/>
          </a:bodyPr>
          <a:lstStyle/>
          <a:p>
            <a:pPr algn="l">
              <a:lnSpc>
                <a:spcPts val="3297"/>
              </a:lnSpc>
            </a:pPr>
            <a:r>
              <a:rPr lang="en-US" sz="2997" spc="-74">
                <a:solidFill>
                  <a:srgbClr val="777FC4"/>
                </a:solidFill>
                <a:latin typeface="HK Grotesk"/>
                <a:ea typeface="HK Grotesk"/>
                <a:cs typeface="HK Grotesk"/>
                <a:sym typeface="HK Grotesk"/>
              </a:rPr>
              <a:t>Tool calls wer</a:t>
            </a:r>
            <a:r>
              <a:rPr lang="en-US" sz="2997" spc="-74">
                <a:solidFill>
                  <a:srgbClr val="777FC4"/>
                </a:solidFill>
                <a:latin typeface="HK Grotesk"/>
                <a:ea typeface="HK Grotesk"/>
                <a:cs typeface="HK Grotesk"/>
                <a:sym typeface="HK Grotesk"/>
              </a:rPr>
              <a:t>e individually hardcoded for each AI</a:t>
            </a:r>
          </a:p>
          <a:p>
            <a:pPr algn="l" marL="647184" indent="-323592" lvl="1">
              <a:lnSpc>
                <a:spcPts val="3297"/>
              </a:lnSpc>
              <a:buFont typeface="Arial"/>
              <a:buChar char="•"/>
            </a:pPr>
            <a:r>
              <a:rPr lang="en-US" sz="2997" spc="-74">
                <a:solidFill>
                  <a:srgbClr val="777FC4"/>
                </a:solidFill>
                <a:latin typeface="HK Grotesk"/>
                <a:ea typeface="HK Grotesk"/>
                <a:cs typeface="HK Grotesk"/>
                <a:sym typeface="HK Grotesk"/>
              </a:rPr>
              <a:t>Custom built &amp; hard to mass produce</a:t>
            </a:r>
          </a:p>
          <a:p>
            <a:pPr algn="l">
              <a:lnSpc>
                <a:spcPts val="3297"/>
              </a:lnSpc>
            </a:pPr>
          </a:p>
          <a:p>
            <a:pPr algn="l">
              <a:lnSpc>
                <a:spcPts val="3297"/>
              </a:lnSpc>
            </a:pPr>
          </a:p>
        </p:txBody>
      </p:sp>
      <p:sp>
        <p:nvSpPr>
          <p:cNvPr name="TextBox 17" id="17"/>
          <p:cNvSpPr txBox="true"/>
          <p:nvPr/>
        </p:nvSpPr>
        <p:spPr>
          <a:xfrm rot="0">
            <a:off x="6343637" y="5602724"/>
            <a:ext cx="5155797" cy="2885710"/>
          </a:xfrm>
          <a:prstGeom prst="rect">
            <a:avLst/>
          </a:prstGeom>
        </p:spPr>
        <p:txBody>
          <a:bodyPr anchor="t" rtlCol="false" tIns="0" lIns="0" bIns="0" rIns="0">
            <a:spAutoFit/>
          </a:bodyPr>
          <a:lstStyle/>
          <a:p>
            <a:pPr algn="l">
              <a:lnSpc>
                <a:spcPts val="3268"/>
              </a:lnSpc>
            </a:pPr>
            <a:r>
              <a:rPr lang="en-US" sz="2971" spc="-74">
                <a:solidFill>
                  <a:srgbClr val="777FC4"/>
                </a:solidFill>
                <a:latin typeface="HK Grotesk"/>
                <a:ea typeface="HK Grotesk"/>
                <a:cs typeface="HK Grotesk"/>
                <a:sym typeface="HK Grotesk"/>
              </a:rPr>
              <a:t>Agents chain multiple tool calls together to complete a goal autonomously</a:t>
            </a:r>
          </a:p>
          <a:p>
            <a:pPr algn="l" marL="641497" indent="-320748" lvl="1">
              <a:lnSpc>
                <a:spcPts val="3268"/>
              </a:lnSpc>
              <a:buFont typeface="Arial"/>
              <a:buChar char="•"/>
            </a:pPr>
            <a:r>
              <a:rPr lang="en-US" sz="2971" spc="-74">
                <a:solidFill>
                  <a:srgbClr val="777FC4"/>
                </a:solidFill>
                <a:latin typeface="HK Grotesk"/>
                <a:ea typeface="HK Grotesk"/>
                <a:cs typeface="HK Grotesk"/>
                <a:sym typeface="HK Grotesk"/>
              </a:rPr>
              <a:t>R</a:t>
            </a:r>
            <a:r>
              <a:rPr lang="en-US" sz="2971" spc="-74">
                <a:solidFill>
                  <a:srgbClr val="777FC4"/>
                </a:solidFill>
                <a:latin typeface="HK Grotesk"/>
                <a:ea typeface="HK Grotesk"/>
                <a:cs typeface="HK Grotesk"/>
                <a:sym typeface="HK Grotesk"/>
              </a:rPr>
              <a:t>elied on custom, one-off tool definitions per platform</a:t>
            </a:r>
          </a:p>
          <a:p>
            <a:pPr algn="l">
              <a:lnSpc>
                <a:spcPts val="3268"/>
              </a:lnSpc>
            </a:pPr>
          </a:p>
          <a:p>
            <a:pPr algn="l">
              <a:lnSpc>
                <a:spcPts val="3268"/>
              </a:lnSpc>
            </a:pPr>
          </a:p>
        </p:txBody>
      </p:sp>
      <p:sp>
        <p:nvSpPr>
          <p:cNvPr name="TextBox 18" id="18"/>
          <p:cNvSpPr txBox="true"/>
          <p:nvPr/>
        </p:nvSpPr>
        <p:spPr>
          <a:xfrm rot="0">
            <a:off x="938786" y="5045672"/>
            <a:ext cx="2427433" cy="427603"/>
          </a:xfrm>
          <a:prstGeom prst="rect">
            <a:avLst/>
          </a:prstGeom>
        </p:spPr>
        <p:txBody>
          <a:bodyPr anchor="t" rtlCol="false" tIns="0" lIns="0" bIns="0" rIns="0">
            <a:spAutoFit/>
          </a:bodyPr>
          <a:lstStyle/>
          <a:p>
            <a:pPr algn="l">
              <a:lnSpc>
                <a:spcPts val="3224"/>
              </a:lnSpc>
            </a:pPr>
            <a:r>
              <a:rPr lang="en-US" sz="3430" spc="-161" b="true">
                <a:solidFill>
                  <a:srgbClr val="7681BD"/>
                </a:solidFill>
                <a:latin typeface="Open Sauce Bold"/>
                <a:ea typeface="Open Sauce Bold"/>
                <a:cs typeface="Open Sauce Bold"/>
                <a:sym typeface="Open Sauce Bold"/>
              </a:rPr>
              <a:t>Pre-MCP</a:t>
            </a:r>
          </a:p>
        </p:txBody>
      </p:sp>
      <p:sp>
        <p:nvSpPr>
          <p:cNvPr name="TextBox 19" id="19"/>
          <p:cNvSpPr txBox="true"/>
          <p:nvPr/>
        </p:nvSpPr>
        <p:spPr>
          <a:xfrm rot="0">
            <a:off x="6334112" y="4976374"/>
            <a:ext cx="2800363" cy="427603"/>
          </a:xfrm>
          <a:prstGeom prst="rect">
            <a:avLst/>
          </a:prstGeom>
        </p:spPr>
        <p:txBody>
          <a:bodyPr anchor="t" rtlCol="false" tIns="0" lIns="0" bIns="0" rIns="0">
            <a:spAutoFit/>
          </a:bodyPr>
          <a:lstStyle/>
          <a:p>
            <a:pPr algn="l">
              <a:lnSpc>
                <a:spcPts val="3224"/>
              </a:lnSpc>
            </a:pPr>
            <a:r>
              <a:rPr lang="en-US" sz="3430" spc="-161" b="true">
                <a:solidFill>
                  <a:srgbClr val="7681BD"/>
                </a:solidFill>
                <a:latin typeface="Open Sauce Bold"/>
                <a:ea typeface="Open Sauce Bold"/>
                <a:cs typeface="Open Sauce Bold"/>
                <a:sym typeface="Open Sauce Bold"/>
              </a:rPr>
              <a:t>Agent Skills</a:t>
            </a:r>
          </a:p>
        </p:txBody>
      </p:sp>
      <p:sp>
        <p:nvSpPr>
          <p:cNvPr name="TextBox 20" id="20"/>
          <p:cNvSpPr txBox="true"/>
          <p:nvPr/>
        </p:nvSpPr>
        <p:spPr>
          <a:xfrm rot="0">
            <a:off x="12494445" y="5602724"/>
            <a:ext cx="5132465" cy="4629150"/>
          </a:xfrm>
          <a:prstGeom prst="rect">
            <a:avLst/>
          </a:prstGeom>
        </p:spPr>
        <p:txBody>
          <a:bodyPr anchor="t" rtlCol="false" tIns="0" lIns="0" bIns="0" rIns="0">
            <a:spAutoFit/>
          </a:bodyPr>
          <a:lstStyle/>
          <a:p>
            <a:pPr algn="l">
              <a:lnSpc>
                <a:spcPts val="3300"/>
              </a:lnSpc>
            </a:pPr>
            <a:r>
              <a:rPr lang="en-US" sz="3000" spc="-75">
                <a:solidFill>
                  <a:srgbClr val="777FC4"/>
                </a:solidFill>
                <a:latin typeface="HK Grotesk"/>
                <a:ea typeface="HK Grotesk"/>
                <a:cs typeface="HK Grotesk"/>
                <a:sym typeface="HK Grotesk"/>
              </a:rPr>
              <a:t>Instead of hardcoding individual tools, MCP standardizes how AI connects to any tool. </a:t>
            </a:r>
          </a:p>
          <a:p>
            <a:pPr algn="l" marL="647700" indent="-323850" lvl="1">
              <a:lnSpc>
                <a:spcPts val="3300"/>
              </a:lnSpc>
              <a:buFont typeface="Arial"/>
              <a:buChar char="•"/>
            </a:pPr>
            <a:r>
              <a:rPr lang="en-US" sz="3000" spc="-75">
                <a:solidFill>
                  <a:srgbClr val="777FC4"/>
                </a:solidFill>
                <a:latin typeface="HK Grotesk"/>
                <a:ea typeface="HK Grotesk"/>
                <a:cs typeface="HK Grotesk"/>
                <a:sym typeface="HK Grotesk"/>
              </a:rPr>
              <a:t>One protocol, any model, any server</a:t>
            </a:r>
          </a:p>
          <a:p>
            <a:pPr algn="l">
              <a:lnSpc>
                <a:spcPts val="3300"/>
              </a:lnSpc>
            </a:pPr>
          </a:p>
          <a:p>
            <a:pPr algn="l">
              <a:lnSpc>
                <a:spcPts val="3300"/>
              </a:lnSpc>
            </a:pPr>
          </a:p>
          <a:p>
            <a:pPr algn="l">
              <a:lnSpc>
                <a:spcPts val="3300"/>
              </a:lnSpc>
            </a:pPr>
          </a:p>
          <a:p>
            <a:pPr algn="l">
              <a:lnSpc>
                <a:spcPts val="3300"/>
              </a:lnSpc>
            </a:pPr>
          </a:p>
          <a:p>
            <a:pPr algn="l">
              <a:lnSpc>
                <a:spcPts val="3300"/>
              </a:lnSpc>
            </a:pPr>
          </a:p>
          <a:p>
            <a:pPr algn="l">
              <a:lnSpc>
                <a:spcPts val="3300"/>
              </a:lnSpc>
            </a:pPr>
          </a:p>
        </p:txBody>
      </p:sp>
      <p:sp>
        <p:nvSpPr>
          <p:cNvPr name="TextBox 21" id="21"/>
          <p:cNvSpPr txBox="true"/>
          <p:nvPr/>
        </p:nvSpPr>
        <p:spPr>
          <a:xfrm rot="0">
            <a:off x="12431249" y="4976374"/>
            <a:ext cx="4235053" cy="427603"/>
          </a:xfrm>
          <a:prstGeom prst="rect">
            <a:avLst/>
          </a:prstGeom>
        </p:spPr>
        <p:txBody>
          <a:bodyPr anchor="t" rtlCol="false" tIns="0" lIns="0" bIns="0" rIns="0">
            <a:spAutoFit/>
          </a:bodyPr>
          <a:lstStyle/>
          <a:p>
            <a:pPr algn="l">
              <a:lnSpc>
                <a:spcPts val="3224"/>
              </a:lnSpc>
            </a:pPr>
            <a:r>
              <a:rPr lang="en-US" sz="3430" spc="-161" b="true">
                <a:solidFill>
                  <a:srgbClr val="7681BD"/>
                </a:solidFill>
                <a:latin typeface="Open Sauce Bold"/>
                <a:ea typeface="Open Sauce Bold"/>
                <a:cs typeface="Open Sauce Bold"/>
                <a:sym typeface="Open Sauce Bold"/>
              </a:rPr>
              <a:t>MCP</a:t>
            </a:r>
          </a:p>
        </p:txBody>
      </p:sp>
      <p:sp>
        <p:nvSpPr>
          <p:cNvPr name="AutoShape 22" id="22"/>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23" id="23"/>
          <p:cNvGrpSpPr/>
          <p:nvPr/>
        </p:nvGrpSpPr>
        <p:grpSpPr>
          <a:xfrm rot="0">
            <a:off x="915508" y="365374"/>
            <a:ext cx="17528009" cy="832382"/>
            <a:chOff x="0" y="0"/>
            <a:chExt cx="23370678" cy="1109842"/>
          </a:xfrm>
        </p:grpSpPr>
        <p:sp>
          <p:nvSpPr>
            <p:cNvPr name="TextBox 24" id="24"/>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25" id="25"/>
            <p:cNvGrpSpPr/>
            <p:nvPr/>
          </p:nvGrpSpPr>
          <p:grpSpPr>
            <a:xfrm rot="0">
              <a:off x="18021129" y="169165"/>
              <a:ext cx="3513365" cy="715270"/>
              <a:chOff x="0" y="0"/>
              <a:chExt cx="749232" cy="152533"/>
            </a:xfrm>
          </p:grpSpPr>
          <p:sp>
            <p:nvSpPr>
              <p:cNvPr name="Freeform 26" id="26"/>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27" id="27"/>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28" id="28"/>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29" id="29"/>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5"/>
              <a:stretch>
                <a:fillRect l="0" t="0" r="0" b="0"/>
              </a:stretch>
            </a:blipFill>
          </p:spPr>
        </p:sp>
      </p:grpSp>
      <p:grpSp>
        <p:nvGrpSpPr>
          <p:cNvPr name="Group 17" id="17"/>
          <p:cNvGrpSpPr/>
          <p:nvPr/>
        </p:nvGrpSpPr>
        <p:grpSpPr>
          <a:xfrm rot="0">
            <a:off x="2709900" y="1839231"/>
            <a:ext cx="12868199" cy="1662740"/>
            <a:chOff x="0" y="0"/>
            <a:chExt cx="3822722" cy="493946"/>
          </a:xfrm>
        </p:grpSpPr>
        <p:sp>
          <p:nvSpPr>
            <p:cNvPr name="Freeform 18" id="18"/>
            <p:cNvSpPr/>
            <p:nvPr/>
          </p:nvSpPr>
          <p:spPr>
            <a:xfrm flipH="false" flipV="false" rot="0">
              <a:off x="0" y="0"/>
              <a:ext cx="3822722" cy="493946"/>
            </a:xfrm>
            <a:custGeom>
              <a:avLst/>
              <a:gdLst/>
              <a:ahLst/>
              <a:cxnLst/>
              <a:rect r="r" b="b" t="t" l="l"/>
              <a:pathLst>
                <a:path h="493946" w="3822722">
                  <a:moveTo>
                    <a:pt x="36098" y="0"/>
                  </a:moveTo>
                  <a:lnTo>
                    <a:pt x="3786624" y="0"/>
                  </a:lnTo>
                  <a:cubicBezTo>
                    <a:pt x="3806561" y="0"/>
                    <a:pt x="3822722" y="16162"/>
                    <a:pt x="3822722" y="36098"/>
                  </a:cubicBezTo>
                  <a:lnTo>
                    <a:pt x="3822722" y="457848"/>
                  </a:lnTo>
                  <a:cubicBezTo>
                    <a:pt x="3822722" y="467422"/>
                    <a:pt x="3818919" y="476603"/>
                    <a:pt x="3812149" y="483373"/>
                  </a:cubicBezTo>
                  <a:cubicBezTo>
                    <a:pt x="3805380" y="490143"/>
                    <a:pt x="3796198" y="493946"/>
                    <a:pt x="3786624" y="493946"/>
                  </a:cubicBezTo>
                  <a:lnTo>
                    <a:pt x="36098" y="493946"/>
                  </a:lnTo>
                  <a:cubicBezTo>
                    <a:pt x="16162" y="493946"/>
                    <a:pt x="0" y="477784"/>
                    <a:pt x="0" y="457848"/>
                  </a:cubicBezTo>
                  <a:lnTo>
                    <a:pt x="0" y="36098"/>
                  </a:lnTo>
                  <a:cubicBezTo>
                    <a:pt x="0" y="16162"/>
                    <a:pt x="16162" y="0"/>
                    <a:pt x="36098" y="0"/>
                  </a:cubicBezTo>
                  <a:close/>
                </a:path>
              </a:pathLst>
            </a:custGeom>
            <a:solidFill>
              <a:srgbClr val="F0F2FF">
                <a:alpha val="77647"/>
              </a:srgbClr>
            </a:solidFill>
            <a:ln w="19050" cap="rnd">
              <a:solidFill>
                <a:srgbClr val="A6B3FF">
                  <a:alpha val="77647"/>
                </a:srgbClr>
              </a:solidFill>
              <a:prstDash val="solid"/>
              <a:round/>
            </a:ln>
          </p:spPr>
        </p:sp>
        <p:sp>
          <p:nvSpPr>
            <p:cNvPr name="TextBox 19" id="19"/>
            <p:cNvSpPr txBox="true"/>
            <p:nvPr/>
          </p:nvSpPr>
          <p:spPr>
            <a:xfrm>
              <a:off x="0" y="-38100"/>
              <a:ext cx="3822722" cy="532046"/>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674128" y="2392102"/>
            <a:ext cx="12939744" cy="2324512"/>
          </a:xfrm>
          <a:prstGeom prst="rect">
            <a:avLst/>
          </a:prstGeom>
        </p:spPr>
        <p:txBody>
          <a:bodyPr anchor="t" rtlCol="false" tIns="0" lIns="0" bIns="0" rIns="0">
            <a:spAutoFit/>
          </a:bodyPr>
          <a:lstStyle/>
          <a:p>
            <a:pPr algn="ctr">
              <a:lnSpc>
                <a:spcPts val="5923"/>
              </a:lnSpc>
            </a:pPr>
            <a:r>
              <a:rPr lang="en-US" b="true" sz="6581" spc="-78">
                <a:solidFill>
                  <a:srgbClr val="565E8F"/>
                </a:solidFill>
                <a:latin typeface="Open Sauce Bold"/>
                <a:ea typeface="Open Sauce Bold"/>
                <a:cs typeface="Open Sauce Bold"/>
                <a:sym typeface="Open Sauce Bold"/>
              </a:rPr>
              <a:t>How</a:t>
            </a:r>
            <a:r>
              <a:rPr lang="en-US" b="true" sz="6581" spc="-78">
                <a:solidFill>
                  <a:srgbClr val="565E8F"/>
                </a:solidFill>
                <a:latin typeface="Open Sauce Bold"/>
                <a:ea typeface="Open Sauce Bold"/>
                <a:cs typeface="Open Sauce Bold"/>
                <a:sym typeface="Open Sauce Bold"/>
              </a:rPr>
              <a:t> does MCP work?</a:t>
            </a:r>
          </a:p>
          <a:p>
            <a:pPr algn="ctr">
              <a:lnSpc>
                <a:spcPts val="5923"/>
              </a:lnSpc>
            </a:pPr>
          </a:p>
          <a:p>
            <a:pPr algn="ctr" marL="0" indent="0" lvl="0">
              <a:lnSpc>
                <a:spcPts val="5923"/>
              </a:lnSpc>
            </a:pPr>
          </a:p>
        </p:txBody>
      </p:sp>
      <p:grpSp>
        <p:nvGrpSpPr>
          <p:cNvPr name="Group 21" id="21"/>
          <p:cNvGrpSpPr/>
          <p:nvPr/>
        </p:nvGrpSpPr>
        <p:grpSpPr>
          <a:xfrm rot="0">
            <a:off x="1942240" y="3925915"/>
            <a:ext cx="6068793" cy="936917"/>
            <a:chOff x="0" y="0"/>
            <a:chExt cx="1104647" cy="170538"/>
          </a:xfrm>
        </p:grpSpPr>
        <p:sp>
          <p:nvSpPr>
            <p:cNvPr name="Freeform 22" id="22"/>
            <p:cNvSpPr/>
            <p:nvPr/>
          </p:nvSpPr>
          <p:spPr>
            <a:xfrm flipH="false" flipV="false" rot="0">
              <a:off x="0" y="0"/>
              <a:ext cx="1104647" cy="170538"/>
            </a:xfrm>
            <a:custGeom>
              <a:avLst/>
              <a:gdLst/>
              <a:ahLst/>
              <a:cxnLst/>
              <a:rect r="r" b="b" t="t" l="l"/>
              <a:pathLst>
                <a:path h="170538" w="1104647">
                  <a:moveTo>
                    <a:pt x="85269" y="0"/>
                  </a:moveTo>
                  <a:lnTo>
                    <a:pt x="1019377" y="0"/>
                  </a:lnTo>
                  <a:cubicBezTo>
                    <a:pt x="1066470" y="0"/>
                    <a:pt x="1104647" y="38176"/>
                    <a:pt x="1104647" y="85269"/>
                  </a:cubicBezTo>
                  <a:lnTo>
                    <a:pt x="1104647" y="85269"/>
                  </a:lnTo>
                  <a:cubicBezTo>
                    <a:pt x="1104647" y="132362"/>
                    <a:pt x="1066470" y="170538"/>
                    <a:pt x="1019377" y="170538"/>
                  </a:cubicBezTo>
                  <a:lnTo>
                    <a:pt x="85269" y="170538"/>
                  </a:lnTo>
                  <a:cubicBezTo>
                    <a:pt x="38176" y="170538"/>
                    <a:pt x="0" y="132362"/>
                    <a:pt x="0" y="85269"/>
                  </a:cubicBezTo>
                  <a:lnTo>
                    <a:pt x="0" y="85269"/>
                  </a:lnTo>
                  <a:cubicBezTo>
                    <a:pt x="0" y="38176"/>
                    <a:pt x="38176" y="0"/>
                    <a:pt x="85269" y="0"/>
                  </a:cubicBezTo>
                  <a:close/>
                </a:path>
              </a:pathLst>
            </a:custGeom>
            <a:solidFill>
              <a:srgbClr val="E1E5FF">
                <a:alpha val="74902"/>
              </a:srgbClr>
            </a:solidFill>
            <a:ln w="19050" cap="rnd">
              <a:solidFill>
                <a:srgbClr val="7681BD">
                  <a:alpha val="74902"/>
                </a:srgbClr>
              </a:solidFill>
              <a:prstDash val="solid"/>
              <a:round/>
            </a:ln>
          </p:spPr>
        </p:sp>
        <p:sp>
          <p:nvSpPr>
            <p:cNvPr name="TextBox 23" id="23"/>
            <p:cNvSpPr txBox="true"/>
            <p:nvPr/>
          </p:nvSpPr>
          <p:spPr>
            <a:xfrm>
              <a:off x="0" y="-19050"/>
              <a:ext cx="1104647" cy="189588"/>
            </a:xfrm>
            <a:prstGeom prst="rect">
              <a:avLst/>
            </a:prstGeom>
          </p:spPr>
          <p:txBody>
            <a:bodyPr anchor="ctr" rtlCol="false" tIns="50800" lIns="50800" bIns="50800" rIns="50800"/>
            <a:lstStyle/>
            <a:p>
              <a:pPr algn="ctr">
                <a:lnSpc>
                  <a:spcPts val="1540"/>
                </a:lnSpc>
              </a:pPr>
            </a:p>
          </p:txBody>
        </p:sp>
      </p:grpSp>
      <p:grpSp>
        <p:nvGrpSpPr>
          <p:cNvPr name="Group 24" id="24"/>
          <p:cNvGrpSpPr/>
          <p:nvPr/>
        </p:nvGrpSpPr>
        <p:grpSpPr>
          <a:xfrm rot="0">
            <a:off x="1905155" y="5012497"/>
            <a:ext cx="6105878" cy="936917"/>
            <a:chOff x="0" y="0"/>
            <a:chExt cx="1111397" cy="170538"/>
          </a:xfrm>
        </p:grpSpPr>
        <p:sp>
          <p:nvSpPr>
            <p:cNvPr name="Freeform 25" id="25"/>
            <p:cNvSpPr/>
            <p:nvPr/>
          </p:nvSpPr>
          <p:spPr>
            <a:xfrm flipH="false" flipV="false" rot="0">
              <a:off x="0" y="0"/>
              <a:ext cx="1111397" cy="170538"/>
            </a:xfrm>
            <a:custGeom>
              <a:avLst/>
              <a:gdLst/>
              <a:ahLst/>
              <a:cxnLst/>
              <a:rect r="r" b="b" t="t" l="l"/>
              <a:pathLst>
                <a:path h="170538" w="1111397">
                  <a:moveTo>
                    <a:pt x="85269" y="0"/>
                  </a:moveTo>
                  <a:lnTo>
                    <a:pt x="1026128" y="0"/>
                  </a:lnTo>
                  <a:cubicBezTo>
                    <a:pt x="1073221" y="0"/>
                    <a:pt x="1111397" y="38176"/>
                    <a:pt x="1111397" y="85269"/>
                  </a:cubicBezTo>
                  <a:lnTo>
                    <a:pt x="1111397" y="85269"/>
                  </a:lnTo>
                  <a:cubicBezTo>
                    <a:pt x="1111397" y="132362"/>
                    <a:pt x="1073221" y="170538"/>
                    <a:pt x="1026128" y="170538"/>
                  </a:cubicBezTo>
                  <a:lnTo>
                    <a:pt x="85269" y="170538"/>
                  </a:lnTo>
                  <a:cubicBezTo>
                    <a:pt x="38176" y="170538"/>
                    <a:pt x="0" y="132362"/>
                    <a:pt x="0" y="85269"/>
                  </a:cubicBezTo>
                  <a:lnTo>
                    <a:pt x="0" y="85269"/>
                  </a:lnTo>
                  <a:cubicBezTo>
                    <a:pt x="0" y="38176"/>
                    <a:pt x="38176" y="0"/>
                    <a:pt x="85269" y="0"/>
                  </a:cubicBezTo>
                  <a:close/>
                </a:path>
              </a:pathLst>
            </a:custGeom>
            <a:solidFill>
              <a:srgbClr val="E1E5FF">
                <a:alpha val="74902"/>
              </a:srgbClr>
            </a:solidFill>
            <a:ln w="19050" cap="rnd">
              <a:solidFill>
                <a:srgbClr val="7681BD">
                  <a:alpha val="74902"/>
                </a:srgbClr>
              </a:solidFill>
              <a:prstDash val="solid"/>
              <a:round/>
            </a:ln>
          </p:spPr>
        </p:sp>
        <p:sp>
          <p:nvSpPr>
            <p:cNvPr name="TextBox 26" id="26"/>
            <p:cNvSpPr txBox="true"/>
            <p:nvPr/>
          </p:nvSpPr>
          <p:spPr>
            <a:xfrm>
              <a:off x="0" y="-19050"/>
              <a:ext cx="1111397" cy="189588"/>
            </a:xfrm>
            <a:prstGeom prst="rect">
              <a:avLst/>
            </a:prstGeom>
          </p:spPr>
          <p:txBody>
            <a:bodyPr anchor="ctr" rtlCol="false" tIns="50800" lIns="50800" bIns="50800" rIns="50800"/>
            <a:lstStyle/>
            <a:p>
              <a:pPr algn="ctr">
                <a:lnSpc>
                  <a:spcPts val="1540"/>
                </a:lnSpc>
              </a:pPr>
            </a:p>
          </p:txBody>
        </p:sp>
      </p:grpSp>
      <p:grpSp>
        <p:nvGrpSpPr>
          <p:cNvPr name="Group 27" id="27"/>
          <p:cNvGrpSpPr/>
          <p:nvPr/>
        </p:nvGrpSpPr>
        <p:grpSpPr>
          <a:xfrm rot="0">
            <a:off x="1933150" y="6101813"/>
            <a:ext cx="6077882" cy="936917"/>
            <a:chOff x="0" y="0"/>
            <a:chExt cx="1106301" cy="170538"/>
          </a:xfrm>
        </p:grpSpPr>
        <p:sp>
          <p:nvSpPr>
            <p:cNvPr name="Freeform 28" id="28"/>
            <p:cNvSpPr/>
            <p:nvPr/>
          </p:nvSpPr>
          <p:spPr>
            <a:xfrm flipH="false" flipV="false" rot="0">
              <a:off x="0" y="0"/>
              <a:ext cx="1106301" cy="170538"/>
            </a:xfrm>
            <a:custGeom>
              <a:avLst/>
              <a:gdLst/>
              <a:ahLst/>
              <a:cxnLst/>
              <a:rect r="r" b="b" t="t" l="l"/>
              <a:pathLst>
                <a:path h="170538" w="1106301">
                  <a:moveTo>
                    <a:pt x="85269" y="0"/>
                  </a:moveTo>
                  <a:lnTo>
                    <a:pt x="1021032" y="0"/>
                  </a:lnTo>
                  <a:cubicBezTo>
                    <a:pt x="1068125" y="0"/>
                    <a:pt x="1106301" y="38176"/>
                    <a:pt x="1106301" y="85269"/>
                  </a:cubicBezTo>
                  <a:lnTo>
                    <a:pt x="1106301" y="85269"/>
                  </a:lnTo>
                  <a:cubicBezTo>
                    <a:pt x="1106301" y="132362"/>
                    <a:pt x="1068125" y="170538"/>
                    <a:pt x="1021032" y="170538"/>
                  </a:cubicBezTo>
                  <a:lnTo>
                    <a:pt x="85269" y="170538"/>
                  </a:lnTo>
                  <a:cubicBezTo>
                    <a:pt x="38176" y="170538"/>
                    <a:pt x="0" y="132362"/>
                    <a:pt x="0" y="85269"/>
                  </a:cubicBezTo>
                  <a:lnTo>
                    <a:pt x="0" y="85269"/>
                  </a:lnTo>
                  <a:cubicBezTo>
                    <a:pt x="0" y="38176"/>
                    <a:pt x="38176" y="0"/>
                    <a:pt x="85269" y="0"/>
                  </a:cubicBezTo>
                  <a:close/>
                </a:path>
              </a:pathLst>
            </a:custGeom>
            <a:solidFill>
              <a:srgbClr val="E1E5FF">
                <a:alpha val="74902"/>
              </a:srgbClr>
            </a:solidFill>
            <a:ln w="19050" cap="rnd">
              <a:solidFill>
                <a:srgbClr val="7681BD">
                  <a:alpha val="74902"/>
                </a:srgbClr>
              </a:solidFill>
              <a:prstDash val="solid"/>
              <a:round/>
            </a:ln>
          </p:spPr>
        </p:sp>
        <p:sp>
          <p:nvSpPr>
            <p:cNvPr name="TextBox 29" id="29"/>
            <p:cNvSpPr txBox="true"/>
            <p:nvPr/>
          </p:nvSpPr>
          <p:spPr>
            <a:xfrm>
              <a:off x="0" y="-19050"/>
              <a:ext cx="1106301" cy="189588"/>
            </a:xfrm>
            <a:prstGeom prst="rect">
              <a:avLst/>
            </a:prstGeom>
          </p:spPr>
          <p:txBody>
            <a:bodyPr anchor="ctr" rtlCol="false" tIns="50800" lIns="50800" bIns="50800" rIns="50800"/>
            <a:lstStyle/>
            <a:p>
              <a:pPr algn="ctr">
                <a:lnSpc>
                  <a:spcPts val="1540"/>
                </a:lnSpc>
              </a:pPr>
            </a:p>
          </p:txBody>
        </p:sp>
      </p:grpSp>
      <p:sp>
        <p:nvSpPr>
          <p:cNvPr name="Freeform 30" id="30"/>
          <p:cNvSpPr/>
          <p:nvPr/>
        </p:nvSpPr>
        <p:spPr>
          <a:xfrm flipH="false" flipV="false" rot="0">
            <a:off x="8548968" y="4073471"/>
            <a:ext cx="8710332" cy="4754957"/>
          </a:xfrm>
          <a:custGeom>
            <a:avLst/>
            <a:gdLst/>
            <a:ahLst/>
            <a:cxnLst/>
            <a:rect r="r" b="b" t="t" l="l"/>
            <a:pathLst>
              <a:path h="4754957" w="8710332">
                <a:moveTo>
                  <a:pt x="0" y="0"/>
                </a:moveTo>
                <a:lnTo>
                  <a:pt x="8710332" y="0"/>
                </a:lnTo>
                <a:lnTo>
                  <a:pt x="8710332" y="4754956"/>
                </a:lnTo>
                <a:lnTo>
                  <a:pt x="0" y="4754956"/>
                </a:lnTo>
                <a:lnTo>
                  <a:pt x="0" y="0"/>
                </a:lnTo>
                <a:close/>
              </a:path>
            </a:pathLst>
          </a:custGeom>
          <a:blipFill>
            <a:blip r:embed="rId6"/>
            <a:stretch>
              <a:fillRect l="0" t="0" r="0" b="0"/>
            </a:stretch>
          </a:blipFill>
        </p:spPr>
      </p:sp>
      <p:sp>
        <p:nvSpPr>
          <p:cNvPr name="TextBox 31" id="31"/>
          <p:cNvSpPr txBox="true"/>
          <p:nvPr/>
        </p:nvSpPr>
        <p:spPr>
          <a:xfrm rot="0">
            <a:off x="2049919" y="4204326"/>
            <a:ext cx="5228348" cy="443456"/>
          </a:xfrm>
          <a:prstGeom prst="rect">
            <a:avLst/>
          </a:prstGeom>
        </p:spPr>
        <p:txBody>
          <a:bodyPr anchor="t" rtlCol="false" tIns="0" lIns="0" bIns="0" rIns="0">
            <a:spAutoFit/>
          </a:bodyPr>
          <a:lstStyle/>
          <a:p>
            <a:pPr algn="ctr" marL="0" indent="0" lvl="0">
              <a:lnSpc>
                <a:spcPts val="3275"/>
              </a:lnSpc>
            </a:pPr>
            <a:r>
              <a:rPr lang="en-US" b="true" sz="3639" spc="-218">
                <a:solidFill>
                  <a:srgbClr val="565E8F"/>
                </a:solidFill>
                <a:latin typeface="Open Sauce Bold"/>
                <a:ea typeface="Open Sauce Bold"/>
                <a:cs typeface="Open Sauce Bold"/>
                <a:sym typeface="Open Sauce Bold"/>
              </a:rPr>
              <a:t>Host </a:t>
            </a:r>
            <a:r>
              <a:rPr lang="en-US" sz="3639" spc="-218">
                <a:solidFill>
                  <a:srgbClr val="565E8F"/>
                </a:solidFill>
                <a:latin typeface="Open Sauce"/>
                <a:ea typeface="Open Sauce"/>
                <a:cs typeface="Open Sauce"/>
                <a:sym typeface="Open Sauce"/>
              </a:rPr>
              <a:t>(Claude/ChatGPT)</a:t>
            </a:r>
          </a:p>
        </p:txBody>
      </p:sp>
      <p:sp>
        <p:nvSpPr>
          <p:cNvPr name="TextBox 32" id="32"/>
          <p:cNvSpPr txBox="true"/>
          <p:nvPr/>
        </p:nvSpPr>
        <p:spPr>
          <a:xfrm rot="0">
            <a:off x="1028700" y="5309825"/>
            <a:ext cx="5228348" cy="443456"/>
          </a:xfrm>
          <a:prstGeom prst="rect">
            <a:avLst/>
          </a:prstGeom>
        </p:spPr>
        <p:txBody>
          <a:bodyPr anchor="t" rtlCol="false" tIns="0" lIns="0" bIns="0" rIns="0">
            <a:spAutoFit/>
          </a:bodyPr>
          <a:lstStyle/>
          <a:p>
            <a:pPr algn="ctr" marL="0" indent="0" lvl="0">
              <a:lnSpc>
                <a:spcPts val="3275"/>
              </a:lnSpc>
            </a:pPr>
            <a:r>
              <a:rPr lang="en-US" b="true" sz="3639" spc="-218">
                <a:solidFill>
                  <a:srgbClr val="565E8F"/>
                </a:solidFill>
                <a:latin typeface="Open Sauce Bold"/>
                <a:ea typeface="Open Sauce Bold"/>
                <a:cs typeface="Open Sauce Bold"/>
                <a:sym typeface="Open Sauce Bold"/>
              </a:rPr>
              <a:t>Client </a:t>
            </a:r>
            <a:r>
              <a:rPr lang="en-US" sz="3639" spc="-218">
                <a:solidFill>
                  <a:srgbClr val="565E8F"/>
                </a:solidFill>
                <a:latin typeface="Open Sauce"/>
                <a:ea typeface="Open Sauce"/>
                <a:cs typeface="Open Sauce"/>
                <a:sym typeface="Open Sauce"/>
              </a:rPr>
              <a:t>(Bridge)</a:t>
            </a:r>
          </a:p>
        </p:txBody>
      </p:sp>
      <p:sp>
        <p:nvSpPr>
          <p:cNvPr name="TextBox 33" id="33"/>
          <p:cNvSpPr txBox="true"/>
          <p:nvPr/>
        </p:nvSpPr>
        <p:spPr>
          <a:xfrm rot="0">
            <a:off x="1399446" y="6400931"/>
            <a:ext cx="5228348" cy="443456"/>
          </a:xfrm>
          <a:prstGeom prst="rect">
            <a:avLst/>
          </a:prstGeom>
        </p:spPr>
        <p:txBody>
          <a:bodyPr anchor="t" rtlCol="false" tIns="0" lIns="0" bIns="0" rIns="0">
            <a:spAutoFit/>
          </a:bodyPr>
          <a:lstStyle/>
          <a:p>
            <a:pPr algn="ctr" marL="0" indent="0" lvl="0">
              <a:lnSpc>
                <a:spcPts val="3275"/>
              </a:lnSpc>
            </a:pPr>
            <a:r>
              <a:rPr lang="en-US" b="true" sz="3639" spc="-218">
                <a:solidFill>
                  <a:srgbClr val="565E8F"/>
                </a:solidFill>
                <a:latin typeface="Open Sauce Bold"/>
                <a:ea typeface="Open Sauce Bold"/>
                <a:cs typeface="Open Sauce Bold"/>
                <a:sym typeface="Open Sauce Bold"/>
              </a:rPr>
              <a:t>Server </a:t>
            </a:r>
            <a:r>
              <a:rPr lang="en-US" sz="3639" spc="-218">
                <a:solidFill>
                  <a:srgbClr val="565E8F"/>
                </a:solidFill>
                <a:latin typeface="Open Sauce"/>
                <a:ea typeface="Open Sauce"/>
                <a:cs typeface="Open Sauce"/>
                <a:sym typeface="Open Sauce"/>
              </a:rPr>
              <a:t>(The Tool)</a:t>
            </a:r>
          </a:p>
        </p:txBody>
      </p:sp>
      <p:sp>
        <p:nvSpPr>
          <p:cNvPr name="TextBox 34" id="34"/>
          <p:cNvSpPr txBox="true"/>
          <p:nvPr/>
        </p:nvSpPr>
        <p:spPr>
          <a:xfrm rot="0">
            <a:off x="2049919" y="7457830"/>
            <a:ext cx="7346251" cy="1734530"/>
          </a:xfrm>
          <a:prstGeom prst="rect">
            <a:avLst/>
          </a:prstGeom>
        </p:spPr>
        <p:txBody>
          <a:bodyPr anchor="t" rtlCol="false" tIns="0" lIns="0" bIns="0" rIns="0">
            <a:spAutoFit/>
          </a:bodyPr>
          <a:lstStyle/>
          <a:p>
            <a:pPr algn="l">
              <a:lnSpc>
                <a:spcPts val="4628"/>
              </a:lnSpc>
              <a:spcBef>
                <a:spcPct val="0"/>
              </a:spcBef>
            </a:pPr>
            <a:r>
              <a:rPr lang="en-US" sz="3306">
                <a:solidFill>
                  <a:srgbClr val="565E8F"/>
                </a:solidFill>
                <a:latin typeface="Open Sauce"/>
                <a:ea typeface="Open Sauce"/>
                <a:cs typeface="Open Sauce"/>
                <a:sym typeface="Open Sauce"/>
              </a:rPr>
              <a:t>Claude asks the google calendar MCP server for your schedule, gets it back, then answers your question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5"/>
              <a:stretch>
                <a:fillRect l="0" t="0" r="0" b="0"/>
              </a:stretch>
            </a:blipFill>
          </p:spPr>
        </p:sp>
      </p:grpSp>
      <p:grpSp>
        <p:nvGrpSpPr>
          <p:cNvPr name="Group 17" id="17"/>
          <p:cNvGrpSpPr/>
          <p:nvPr/>
        </p:nvGrpSpPr>
        <p:grpSpPr>
          <a:xfrm rot="0">
            <a:off x="8103967" y="2281571"/>
            <a:ext cx="5849589" cy="1449406"/>
            <a:chOff x="0" y="0"/>
            <a:chExt cx="1972377" cy="488714"/>
          </a:xfrm>
        </p:grpSpPr>
        <p:sp>
          <p:nvSpPr>
            <p:cNvPr name="Freeform 18" id="18"/>
            <p:cNvSpPr/>
            <p:nvPr/>
          </p:nvSpPr>
          <p:spPr>
            <a:xfrm flipH="false" flipV="false" rot="0">
              <a:off x="0" y="0"/>
              <a:ext cx="1972377" cy="488714"/>
            </a:xfrm>
            <a:custGeom>
              <a:avLst/>
              <a:gdLst/>
              <a:ahLst/>
              <a:cxnLst/>
              <a:rect r="r" b="b" t="t" l="l"/>
              <a:pathLst>
                <a:path h="488714" w="1972377">
                  <a:moveTo>
                    <a:pt x="132350" y="0"/>
                  </a:moveTo>
                  <a:lnTo>
                    <a:pt x="1840027" y="0"/>
                  </a:lnTo>
                  <a:cubicBezTo>
                    <a:pt x="1913122" y="0"/>
                    <a:pt x="1972377" y="59255"/>
                    <a:pt x="1972377" y="132350"/>
                  </a:cubicBezTo>
                  <a:lnTo>
                    <a:pt x="1972377" y="356364"/>
                  </a:lnTo>
                  <a:cubicBezTo>
                    <a:pt x="1972377" y="429459"/>
                    <a:pt x="1913122" y="488714"/>
                    <a:pt x="1840027" y="488714"/>
                  </a:cubicBezTo>
                  <a:lnTo>
                    <a:pt x="132350" y="488714"/>
                  </a:lnTo>
                  <a:cubicBezTo>
                    <a:pt x="59255" y="488714"/>
                    <a:pt x="0" y="429459"/>
                    <a:pt x="0" y="356364"/>
                  </a:cubicBezTo>
                  <a:lnTo>
                    <a:pt x="0" y="132350"/>
                  </a:lnTo>
                  <a:cubicBezTo>
                    <a:pt x="0" y="59255"/>
                    <a:pt x="59255" y="0"/>
                    <a:pt x="132350" y="0"/>
                  </a:cubicBezTo>
                  <a:close/>
                </a:path>
              </a:pathLst>
            </a:custGeom>
            <a:solidFill>
              <a:srgbClr val="FFFFFF">
                <a:alpha val="75686"/>
              </a:srgbClr>
            </a:solidFill>
            <a:ln w="19050" cap="rnd">
              <a:solidFill>
                <a:srgbClr val="A6B3FF">
                  <a:alpha val="75686"/>
                </a:srgbClr>
              </a:solidFill>
              <a:prstDash val="solid"/>
              <a:round/>
            </a:ln>
          </p:spPr>
        </p:sp>
        <p:sp>
          <p:nvSpPr>
            <p:cNvPr name="TextBox 19" id="19"/>
            <p:cNvSpPr txBox="true"/>
            <p:nvPr/>
          </p:nvSpPr>
          <p:spPr>
            <a:xfrm>
              <a:off x="0" y="-38100"/>
              <a:ext cx="1972377" cy="526814"/>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9726568" y="4259744"/>
            <a:ext cx="5476813" cy="4998556"/>
          </a:xfrm>
          <a:custGeom>
            <a:avLst/>
            <a:gdLst/>
            <a:ahLst/>
            <a:cxnLst/>
            <a:rect r="r" b="b" t="t" l="l"/>
            <a:pathLst>
              <a:path h="4998556" w="5476813">
                <a:moveTo>
                  <a:pt x="0" y="0"/>
                </a:moveTo>
                <a:lnTo>
                  <a:pt x="5476813" y="0"/>
                </a:lnTo>
                <a:lnTo>
                  <a:pt x="5476813" y="4998556"/>
                </a:lnTo>
                <a:lnTo>
                  <a:pt x="0" y="4998556"/>
                </a:lnTo>
                <a:lnTo>
                  <a:pt x="0" y="0"/>
                </a:lnTo>
                <a:close/>
              </a:path>
            </a:pathLst>
          </a:custGeom>
          <a:blipFill>
            <a:blip r:embed="rId6"/>
            <a:stretch>
              <a:fillRect l="0" t="0" r="0" b="0"/>
            </a:stretch>
          </a:blipFill>
        </p:spPr>
      </p:sp>
      <p:sp>
        <p:nvSpPr>
          <p:cNvPr name="TextBox 21" id="21"/>
          <p:cNvSpPr txBox="true"/>
          <p:nvPr/>
        </p:nvSpPr>
        <p:spPr>
          <a:xfrm rot="0">
            <a:off x="5089357" y="2669286"/>
            <a:ext cx="11878808" cy="893052"/>
          </a:xfrm>
          <a:prstGeom prst="rect">
            <a:avLst/>
          </a:prstGeom>
        </p:spPr>
        <p:txBody>
          <a:bodyPr anchor="t" rtlCol="false" tIns="0" lIns="0" bIns="0" rIns="0">
            <a:spAutoFit/>
          </a:bodyPr>
          <a:lstStyle/>
          <a:p>
            <a:pPr algn="ctr" marL="0" indent="0" lvl="0">
              <a:lnSpc>
                <a:spcPts val="6586"/>
              </a:lnSpc>
            </a:pPr>
            <a:r>
              <a:rPr lang="en-US" b="true" sz="7318" spc="-146">
                <a:solidFill>
                  <a:srgbClr val="7681BD"/>
                </a:solidFill>
                <a:latin typeface="Open Sauce Bold"/>
                <a:ea typeface="Open Sauce Bold"/>
                <a:cs typeface="Open Sauce Bold"/>
                <a:sym typeface="Open Sauce Bold"/>
              </a:rPr>
              <a:t>EXAMPLES</a:t>
            </a:r>
          </a:p>
        </p:txBody>
      </p:sp>
      <p:sp>
        <p:nvSpPr>
          <p:cNvPr name="TextBox 22" id="22"/>
          <p:cNvSpPr txBox="true"/>
          <p:nvPr/>
        </p:nvSpPr>
        <p:spPr>
          <a:xfrm rot="0">
            <a:off x="-5760337" y="2621107"/>
            <a:ext cx="13578073" cy="1109871"/>
          </a:xfrm>
          <a:prstGeom prst="rect">
            <a:avLst/>
          </a:prstGeom>
        </p:spPr>
        <p:txBody>
          <a:bodyPr anchor="t" rtlCol="false" tIns="0" lIns="0" bIns="0" rIns="0">
            <a:spAutoFit/>
          </a:bodyPr>
          <a:lstStyle/>
          <a:p>
            <a:pPr algn="r" marL="0" indent="0" lvl="0">
              <a:lnSpc>
                <a:spcPts val="8119"/>
              </a:lnSpc>
            </a:pPr>
            <a:r>
              <a:rPr lang="en-US" sz="9022" spc="-541">
                <a:solidFill>
                  <a:srgbClr val="9CA5DA"/>
                </a:solidFill>
                <a:latin typeface="Open Sauce"/>
                <a:ea typeface="Open Sauce"/>
                <a:cs typeface="Open Sauce"/>
                <a:sym typeface="Open Sauce"/>
              </a:rPr>
              <a:t>Real MCP </a:t>
            </a:r>
          </a:p>
        </p:txBody>
      </p:sp>
      <p:sp>
        <p:nvSpPr>
          <p:cNvPr name="TextBox 23" id="23"/>
          <p:cNvSpPr txBox="true"/>
          <p:nvPr/>
        </p:nvSpPr>
        <p:spPr>
          <a:xfrm rot="0">
            <a:off x="2066438" y="4240694"/>
            <a:ext cx="7345830" cy="5017606"/>
          </a:xfrm>
          <a:prstGeom prst="rect">
            <a:avLst/>
          </a:prstGeom>
        </p:spPr>
        <p:txBody>
          <a:bodyPr anchor="t" rtlCol="false" tIns="0" lIns="0" bIns="0" rIns="0">
            <a:spAutoFit/>
          </a:bodyPr>
          <a:lstStyle/>
          <a:p>
            <a:pPr algn="l" marL="764310" indent="-382155" lvl="1">
              <a:lnSpc>
                <a:spcPts val="4425"/>
              </a:lnSpc>
              <a:buFont typeface="Arial"/>
              <a:buChar char="•"/>
            </a:pPr>
            <a:r>
              <a:rPr lang="en-US" b="true" sz="3540">
                <a:solidFill>
                  <a:srgbClr val="777FC4"/>
                </a:solidFill>
                <a:latin typeface="Open Sauce Bold"/>
                <a:ea typeface="Open Sauce Bold"/>
                <a:cs typeface="Open Sauce Bold"/>
                <a:sym typeface="Open Sauce Bold"/>
              </a:rPr>
              <a:t>Claude + Gmail</a:t>
            </a:r>
            <a:r>
              <a:rPr lang="en-US" sz="3540">
                <a:solidFill>
                  <a:srgbClr val="777FC4"/>
                </a:solidFill>
                <a:latin typeface="Open Sauce"/>
                <a:ea typeface="Open Sauce"/>
                <a:cs typeface="Open Sauce"/>
                <a:sym typeface="Open Sauce"/>
              </a:rPr>
              <a:t>: summarize threads, draft replies</a:t>
            </a:r>
          </a:p>
          <a:p>
            <a:pPr algn="l" marL="764310" indent="-382155" lvl="1">
              <a:lnSpc>
                <a:spcPts val="4425"/>
              </a:lnSpc>
              <a:buFont typeface="Arial"/>
              <a:buChar char="•"/>
            </a:pPr>
            <a:r>
              <a:rPr lang="en-US" b="true" sz="3540">
                <a:solidFill>
                  <a:srgbClr val="777FC4"/>
                </a:solidFill>
                <a:latin typeface="Open Sauce Bold"/>
                <a:ea typeface="Open Sauce Bold"/>
                <a:cs typeface="Open Sauce Bold"/>
                <a:sym typeface="Open Sauce Bold"/>
              </a:rPr>
              <a:t>Claude + Google Drive</a:t>
            </a:r>
            <a:r>
              <a:rPr lang="en-US" sz="3540">
                <a:solidFill>
                  <a:srgbClr val="777FC4"/>
                </a:solidFill>
                <a:latin typeface="Open Sauce"/>
                <a:ea typeface="Open Sauce"/>
                <a:cs typeface="Open Sauce"/>
                <a:sym typeface="Open Sauce"/>
              </a:rPr>
              <a:t>: find and read documents</a:t>
            </a:r>
          </a:p>
          <a:p>
            <a:pPr algn="l" marL="764310" indent="-382155" lvl="1">
              <a:lnSpc>
                <a:spcPts val="4425"/>
              </a:lnSpc>
              <a:buFont typeface="Arial"/>
              <a:buChar char="•"/>
            </a:pPr>
            <a:r>
              <a:rPr lang="en-US" b="true" sz="3540">
                <a:solidFill>
                  <a:srgbClr val="777FC4"/>
                </a:solidFill>
                <a:latin typeface="Open Sauce Bold"/>
                <a:ea typeface="Open Sauce Bold"/>
                <a:cs typeface="Open Sauce Bold"/>
                <a:sym typeface="Open Sauce Bold"/>
              </a:rPr>
              <a:t>Claude + Slack</a:t>
            </a:r>
            <a:r>
              <a:rPr lang="en-US" sz="3540">
                <a:solidFill>
                  <a:srgbClr val="777FC4"/>
                </a:solidFill>
                <a:latin typeface="Open Sauce"/>
                <a:ea typeface="Open Sauce"/>
                <a:cs typeface="Open Sauce"/>
                <a:sym typeface="Open Sauce"/>
              </a:rPr>
              <a:t>: search messages, send updates, set up automations</a:t>
            </a:r>
          </a:p>
          <a:p>
            <a:pPr algn="l" marL="764310" indent="-382155" lvl="1">
              <a:lnSpc>
                <a:spcPts val="4425"/>
              </a:lnSpc>
              <a:buFont typeface="Arial"/>
              <a:buChar char="•"/>
            </a:pPr>
            <a:r>
              <a:rPr lang="en-US" b="true" sz="3540">
                <a:solidFill>
                  <a:srgbClr val="777FC4"/>
                </a:solidFill>
                <a:latin typeface="Open Sauce Bold"/>
                <a:ea typeface="Open Sauce Bold"/>
                <a:cs typeface="Open Sauce Bold"/>
                <a:sym typeface="Open Sauce Bold"/>
              </a:rPr>
              <a:t>Claude + GitHub: </a:t>
            </a:r>
            <a:r>
              <a:rPr lang="en-US" sz="3540">
                <a:solidFill>
                  <a:srgbClr val="777FC4"/>
                </a:solidFill>
                <a:latin typeface="Open Sauce"/>
                <a:ea typeface="Open Sauce"/>
                <a:cs typeface="Open Sauce"/>
                <a:sym typeface="Open Sauce"/>
              </a:rPr>
              <a:t>review code, open issues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1832265" y="8080759"/>
            <a:ext cx="5272576" cy="749067"/>
            <a:chOff x="0" y="0"/>
            <a:chExt cx="1612226" cy="229047"/>
          </a:xfrm>
        </p:grpSpPr>
        <p:sp>
          <p:nvSpPr>
            <p:cNvPr name="Freeform 11" id="11"/>
            <p:cNvSpPr/>
            <p:nvPr/>
          </p:nvSpPr>
          <p:spPr>
            <a:xfrm flipH="false" flipV="false" rot="0">
              <a:off x="0" y="0"/>
              <a:ext cx="1612226" cy="229047"/>
            </a:xfrm>
            <a:custGeom>
              <a:avLst/>
              <a:gdLst/>
              <a:ahLst/>
              <a:cxnLst/>
              <a:rect r="r" b="b" t="t" l="l"/>
              <a:pathLst>
                <a:path h="229047" w="1612226">
                  <a:moveTo>
                    <a:pt x="110125" y="0"/>
                  </a:moveTo>
                  <a:lnTo>
                    <a:pt x="1502101" y="0"/>
                  </a:lnTo>
                  <a:cubicBezTo>
                    <a:pt x="1531308" y="0"/>
                    <a:pt x="1559319" y="11602"/>
                    <a:pt x="1579972" y="32255"/>
                  </a:cubicBezTo>
                  <a:cubicBezTo>
                    <a:pt x="1600624" y="52907"/>
                    <a:pt x="1612226" y="80918"/>
                    <a:pt x="1612226" y="110125"/>
                  </a:cubicBezTo>
                  <a:lnTo>
                    <a:pt x="1612226" y="118921"/>
                  </a:lnTo>
                  <a:cubicBezTo>
                    <a:pt x="1612226" y="179742"/>
                    <a:pt x="1562922" y="229047"/>
                    <a:pt x="1502101" y="229047"/>
                  </a:cubicBezTo>
                  <a:lnTo>
                    <a:pt x="110125" y="229047"/>
                  </a:lnTo>
                  <a:cubicBezTo>
                    <a:pt x="49305" y="229047"/>
                    <a:pt x="0" y="179742"/>
                    <a:pt x="0" y="118921"/>
                  </a:cubicBezTo>
                  <a:lnTo>
                    <a:pt x="0" y="110125"/>
                  </a:lnTo>
                  <a:cubicBezTo>
                    <a:pt x="0" y="49305"/>
                    <a:pt x="49305" y="0"/>
                    <a:pt x="110125" y="0"/>
                  </a:cubicBezTo>
                  <a:close/>
                </a:path>
              </a:pathLst>
            </a:custGeom>
            <a:solidFill>
              <a:srgbClr val="565E8F">
                <a:alpha val="74902"/>
              </a:srgbClr>
            </a:solidFill>
            <a:ln w="19050" cap="rnd">
              <a:solidFill>
                <a:srgbClr val="99CCFF">
                  <a:alpha val="74902"/>
                </a:srgbClr>
              </a:solidFill>
              <a:prstDash val="solid"/>
              <a:round/>
            </a:ln>
          </p:spPr>
        </p:sp>
        <p:sp>
          <p:nvSpPr>
            <p:cNvPr name="TextBox 12" id="12"/>
            <p:cNvSpPr txBox="true"/>
            <p:nvPr/>
          </p:nvSpPr>
          <p:spPr>
            <a:xfrm>
              <a:off x="0" y="-28575"/>
              <a:ext cx="1612226" cy="257622"/>
            </a:xfrm>
            <a:prstGeom prst="rect">
              <a:avLst/>
            </a:prstGeom>
          </p:spPr>
          <p:txBody>
            <a:bodyPr anchor="ctr" rtlCol="false" tIns="50800" lIns="50800" bIns="50800" rIns="50800"/>
            <a:lstStyle/>
            <a:p>
              <a:pPr algn="ctr">
                <a:lnSpc>
                  <a:spcPts val="2100"/>
                </a:lnSpc>
              </a:pPr>
            </a:p>
          </p:txBody>
        </p:sp>
      </p:grpSp>
      <p:grpSp>
        <p:nvGrpSpPr>
          <p:cNvPr name="Group 13" id="13"/>
          <p:cNvGrpSpPr/>
          <p:nvPr/>
        </p:nvGrpSpPr>
        <p:grpSpPr>
          <a:xfrm rot="0">
            <a:off x="3874863" y="8980558"/>
            <a:ext cx="3255190" cy="713215"/>
            <a:chOff x="0" y="0"/>
            <a:chExt cx="1045393" cy="229047"/>
          </a:xfrm>
        </p:grpSpPr>
        <p:sp>
          <p:nvSpPr>
            <p:cNvPr name="Freeform 14" id="14"/>
            <p:cNvSpPr/>
            <p:nvPr/>
          </p:nvSpPr>
          <p:spPr>
            <a:xfrm flipH="false" flipV="false" rot="0">
              <a:off x="0" y="0"/>
              <a:ext cx="1045393" cy="229047"/>
            </a:xfrm>
            <a:custGeom>
              <a:avLst/>
              <a:gdLst/>
              <a:ahLst/>
              <a:cxnLst/>
              <a:rect r="r" b="b" t="t" l="l"/>
              <a:pathLst>
                <a:path h="229047" w="1045393">
                  <a:moveTo>
                    <a:pt x="114523" y="0"/>
                  </a:moveTo>
                  <a:lnTo>
                    <a:pt x="930869" y="0"/>
                  </a:lnTo>
                  <a:cubicBezTo>
                    <a:pt x="994119" y="0"/>
                    <a:pt x="1045393" y="51274"/>
                    <a:pt x="1045393" y="114523"/>
                  </a:cubicBezTo>
                  <a:lnTo>
                    <a:pt x="1045393" y="114523"/>
                  </a:lnTo>
                  <a:cubicBezTo>
                    <a:pt x="1045393" y="144897"/>
                    <a:pt x="1033327" y="174026"/>
                    <a:pt x="1011850" y="195503"/>
                  </a:cubicBezTo>
                  <a:cubicBezTo>
                    <a:pt x="990372" y="216981"/>
                    <a:pt x="961243" y="229047"/>
                    <a:pt x="930869" y="229047"/>
                  </a:cubicBezTo>
                  <a:lnTo>
                    <a:pt x="114523" y="229047"/>
                  </a:lnTo>
                  <a:cubicBezTo>
                    <a:pt x="51274" y="229047"/>
                    <a:pt x="0" y="177773"/>
                    <a:pt x="0" y="114523"/>
                  </a:cubicBezTo>
                  <a:lnTo>
                    <a:pt x="0" y="114523"/>
                  </a:lnTo>
                  <a:cubicBezTo>
                    <a:pt x="0" y="51274"/>
                    <a:pt x="51274" y="0"/>
                    <a:pt x="114523" y="0"/>
                  </a:cubicBezTo>
                  <a:close/>
                </a:path>
              </a:pathLst>
            </a:custGeom>
            <a:solidFill>
              <a:srgbClr val="565E8F">
                <a:alpha val="74902"/>
              </a:srgbClr>
            </a:solidFill>
            <a:ln w="19050" cap="rnd">
              <a:solidFill>
                <a:srgbClr val="99CCFF">
                  <a:alpha val="74902"/>
                </a:srgbClr>
              </a:solidFill>
              <a:prstDash val="solid"/>
              <a:round/>
            </a:ln>
          </p:spPr>
        </p:sp>
        <p:sp>
          <p:nvSpPr>
            <p:cNvPr name="TextBox 15" id="15"/>
            <p:cNvSpPr txBox="true"/>
            <p:nvPr/>
          </p:nvSpPr>
          <p:spPr>
            <a:xfrm>
              <a:off x="0" y="-28575"/>
              <a:ext cx="1045393" cy="257622"/>
            </a:xfrm>
            <a:prstGeom prst="rect">
              <a:avLst/>
            </a:prstGeom>
          </p:spPr>
          <p:txBody>
            <a:bodyPr anchor="ctr" rtlCol="false" tIns="50800" lIns="50800" bIns="50800" rIns="50800"/>
            <a:lstStyle/>
            <a:p>
              <a:pPr algn="ctr">
                <a:lnSpc>
                  <a:spcPts val="2100"/>
                </a:lnSpc>
              </a:pPr>
            </a:p>
          </p:txBody>
        </p:sp>
      </p:grpSp>
      <p:sp>
        <p:nvSpPr>
          <p:cNvPr name="Freeform 16" id="16"/>
          <p:cNvSpPr/>
          <p:nvPr/>
        </p:nvSpPr>
        <p:spPr>
          <a:xfrm flipH="false" flipV="false" rot="0">
            <a:off x="657832" y="2581442"/>
            <a:ext cx="7686225" cy="5255456"/>
          </a:xfrm>
          <a:custGeom>
            <a:avLst/>
            <a:gdLst/>
            <a:ahLst/>
            <a:cxnLst/>
            <a:rect r="r" b="b" t="t" l="l"/>
            <a:pathLst>
              <a:path h="5255456" w="7686225">
                <a:moveTo>
                  <a:pt x="0" y="0"/>
                </a:moveTo>
                <a:lnTo>
                  <a:pt x="7686224" y="0"/>
                </a:lnTo>
                <a:lnTo>
                  <a:pt x="7686224" y="5255456"/>
                </a:lnTo>
                <a:lnTo>
                  <a:pt x="0" y="5255456"/>
                </a:lnTo>
                <a:lnTo>
                  <a:pt x="0" y="0"/>
                </a:lnTo>
                <a:close/>
              </a:path>
            </a:pathLst>
          </a:custGeom>
          <a:blipFill>
            <a:blip r:embed="rId4"/>
            <a:stretch>
              <a:fillRect l="0" t="0" r="0" b="0"/>
            </a:stretch>
          </a:blipFill>
        </p:spPr>
      </p:sp>
      <p:sp>
        <p:nvSpPr>
          <p:cNvPr name="Freeform 17" id="17"/>
          <p:cNvSpPr/>
          <p:nvPr/>
        </p:nvSpPr>
        <p:spPr>
          <a:xfrm flipH="false" flipV="false" rot="0">
            <a:off x="8311665" y="2581442"/>
            <a:ext cx="9274694" cy="5255456"/>
          </a:xfrm>
          <a:custGeom>
            <a:avLst/>
            <a:gdLst/>
            <a:ahLst/>
            <a:cxnLst/>
            <a:rect r="r" b="b" t="t" l="l"/>
            <a:pathLst>
              <a:path h="5255456" w="9274694">
                <a:moveTo>
                  <a:pt x="0" y="0"/>
                </a:moveTo>
                <a:lnTo>
                  <a:pt x="9274695" y="0"/>
                </a:lnTo>
                <a:lnTo>
                  <a:pt x="9274695" y="5255456"/>
                </a:lnTo>
                <a:lnTo>
                  <a:pt x="0" y="5255456"/>
                </a:lnTo>
                <a:lnTo>
                  <a:pt x="0" y="0"/>
                </a:lnTo>
                <a:close/>
              </a:path>
            </a:pathLst>
          </a:custGeom>
          <a:blipFill>
            <a:blip r:embed="rId5"/>
            <a:stretch>
              <a:fillRect l="0" t="-150" r="0" b="0"/>
            </a:stretch>
          </a:blipFill>
        </p:spPr>
      </p:sp>
      <p:grpSp>
        <p:nvGrpSpPr>
          <p:cNvPr name="Group 18" id="18"/>
          <p:cNvGrpSpPr/>
          <p:nvPr/>
        </p:nvGrpSpPr>
        <p:grpSpPr>
          <a:xfrm rot="0">
            <a:off x="5676292" y="1515278"/>
            <a:ext cx="6710641" cy="1406136"/>
            <a:chOff x="0" y="0"/>
            <a:chExt cx="2332338" cy="488714"/>
          </a:xfrm>
        </p:grpSpPr>
        <p:sp>
          <p:nvSpPr>
            <p:cNvPr name="Freeform 19" id="19"/>
            <p:cNvSpPr/>
            <p:nvPr/>
          </p:nvSpPr>
          <p:spPr>
            <a:xfrm flipH="false" flipV="false" rot="0">
              <a:off x="0" y="0"/>
              <a:ext cx="2332338" cy="488714"/>
            </a:xfrm>
            <a:custGeom>
              <a:avLst/>
              <a:gdLst/>
              <a:ahLst/>
              <a:cxnLst/>
              <a:rect r="r" b="b" t="t" l="l"/>
              <a:pathLst>
                <a:path h="488714" w="2332338">
                  <a:moveTo>
                    <a:pt x="115368" y="0"/>
                  </a:moveTo>
                  <a:lnTo>
                    <a:pt x="2216970" y="0"/>
                  </a:lnTo>
                  <a:cubicBezTo>
                    <a:pt x="2280686" y="0"/>
                    <a:pt x="2332338" y="51652"/>
                    <a:pt x="2332338" y="115368"/>
                  </a:cubicBezTo>
                  <a:lnTo>
                    <a:pt x="2332338" y="373346"/>
                  </a:lnTo>
                  <a:cubicBezTo>
                    <a:pt x="2332338" y="437062"/>
                    <a:pt x="2280686" y="488714"/>
                    <a:pt x="2216970" y="488714"/>
                  </a:cubicBezTo>
                  <a:lnTo>
                    <a:pt x="115368" y="488714"/>
                  </a:lnTo>
                  <a:cubicBezTo>
                    <a:pt x="51652" y="488714"/>
                    <a:pt x="0" y="437062"/>
                    <a:pt x="0" y="373346"/>
                  </a:cubicBezTo>
                  <a:lnTo>
                    <a:pt x="0" y="115368"/>
                  </a:lnTo>
                  <a:cubicBezTo>
                    <a:pt x="0" y="51652"/>
                    <a:pt x="51652" y="0"/>
                    <a:pt x="115368" y="0"/>
                  </a:cubicBezTo>
                  <a:close/>
                </a:path>
              </a:pathLst>
            </a:custGeom>
            <a:solidFill>
              <a:srgbClr val="FFFFFF"/>
            </a:solidFill>
            <a:ln w="19050" cap="rnd">
              <a:solidFill>
                <a:srgbClr val="A6B3FF"/>
              </a:solidFill>
              <a:prstDash val="solid"/>
              <a:round/>
            </a:ln>
          </p:spPr>
        </p:sp>
        <p:sp>
          <p:nvSpPr>
            <p:cNvPr name="TextBox 20" id="20"/>
            <p:cNvSpPr txBox="true"/>
            <p:nvPr/>
          </p:nvSpPr>
          <p:spPr>
            <a:xfrm>
              <a:off x="0" y="-38100"/>
              <a:ext cx="2332338" cy="526814"/>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3692017" y="1848807"/>
            <a:ext cx="10903967" cy="967678"/>
          </a:xfrm>
          <a:prstGeom prst="rect">
            <a:avLst/>
          </a:prstGeom>
        </p:spPr>
        <p:txBody>
          <a:bodyPr anchor="t" rtlCol="false" tIns="0" lIns="0" bIns="0" rIns="0">
            <a:spAutoFit/>
          </a:bodyPr>
          <a:lstStyle/>
          <a:p>
            <a:pPr algn="ctr" marL="0" indent="0" lvl="0">
              <a:lnSpc>
                <a:spcPts val="7092"/>
              </a:lnSpc>
            </a:pPr>
            <a:r>
              <a:rPr lang="en-US" sz="7880" spc="-472">
                <a:solidFill>
                  <a:srgbClr val="7681BD"/>
                </a:solidFill>
                <a:latin typeface="Open Sauce"/>
                <a:ea typeface="Open Sauce"/>
                <a:cs typeface="Open Sauce"/>
                <a:sym typeface="Open Sauce"/>
              </a:rPr>
              <a:t>Live</a:t>
            </a:r>
            <a:r>
              <a:rPr lang="en-US" b="true" sz="7880" spc="-472">
                <a:solidFill>
                  <a:srgbClr val="7681BD"/>
                </a:solidFill>
                <a:latin typeface="Open Sauce Bold"/>
                <a:ea typeface="Open Sauce Bold"/>
                <a:cs typeface="Open Sauce Bold"/>
                <a:sym typeface="Open Sauce Bold"/>
              </a:rPr>
              <a:t> </a:t>
            </a:r>
            <a:r>
              <a:rPr lang="en-US" b="true" sz="7880" spc="-472">
                <a:solidFill>
                  <a:srgbClr val="9CA5DA"/>
                </a:solidFill>
                <a:latin typeface="Open Sauce Bold"/>
                <a:ea typeface="Open Sauce Bold"/>
                <a:cs typeface="Open Sauce Bold"/>
                <a:sym typeface="Open Sauce Bold"/>
              </a:rPr>
              <a:t>Demo</a:t>
            </a:r>
          </a:p>
        </p:txBody>
      </p:sp>
      <p:sp>
        <p:nvSpPr>
          <p:cNvPr name="TextBox 22" id="22"/>
          <p:cNvSpPr txBox="true"/>
          <p:nvPr/>
        </p:nvSpPr>
        <p:spPr>
          <a:xfrm rot="0">
            <a:off x="1976182" y="8259859"/>
            <a:ext cx="5011424" cy="459433"/>
          </a:xfrm>
          <a:prstGeom prst="rect">
            <a:avLst/>
          </a:prstGeom>
        </p:spPr>
        <p:txBody>
          <a:bodyPr anchor="t" rtlCol="false" tIns="0" lIns="0" bIns="0" rIns="0">
            <a:spAutoFit/>
          </a:bodyPr>
          <a:lstStyle/>
          <a:p>
            <a:pPr algn="ctr" marL="0" indent="0" lvl="0">
              <a:lnSpc>
                <a:spcPts val="3306"/>
              </a:lnSpc>
            </a:pPr>
            <a:r>
              <a:rPr lang="en-US" b="true" sz="3673" spc="-220">
                <a:gradFill>
                  <a:gsLst>
                    <a:gs pos="0">
                      <a:srgbClr val="99CCFF">
                        <a:alpha val="100000"/>
                      </a:srgbClr>
                    </a:gs>
                    <a:gs pos="33333">
                      <a:srgbClr val="FFFFFF">
                        <a:alpha val="100000"/>
                      </a:srgbClr>
                    </a:gs>
                    <a:gs pos="66667">
                      <a:srgbClr val="FFFFFF">
                        <a:alpha val="100000"/>
                      </a:srgbClr>
                    </a:gs>
                    <a:gs pos="100000">
                      <a:srgbClr val="99CCFF">
                        <a:alpha val="100000"/>
                      </a:srgbClr>
                    </a:gs>
                  </a:gsLst>
                  <a:lin ang="5400000"/>
                </a:gradFill>
                <a:latin typeface="Open Sauce Bold"/>
                <a:ea typeface="Open Sauce Bold"/>
                <a:cs typeface="Open Sauce Bold"/>
                <a:sym typeface="Open Sauce Bold"/>
              </a:rPr>
              <a:t>Apps and Connectors</a:t>
            </a:r>
          </a:p>
        </p:txBody>
      </p:sp>
      <p:sp>
        <p:nvSpPr>
          <p:cNvPr name="TextBox 23" id="23"/>
          <p:cNvSpPr txBox="true"/>
          <p:nvPr/>
        </p:nvSpPr>
        <p:spPr>
          <a:xfrm rot="0">
            <a:off x="3116673" y="9173374"/>
            <a:ext cx="4771570" cy="432885"/>
          </a:xfrm>
          <a:prstGeom prst="rect">
            <a:avLst/>
          </a:prstGeom>
        </p:spPr>
        <p:txBody>
          <a:bodyPr anchor="t" rtlCol="false" tIns="0" lIns="0" bIns="0" rIns="0">
            <a:spAutoFit/>
          </a:bodyPr>
          <a:lstStyle/>
          <a:p>
            <a:pPr algn="ctr" marL="0" indent="0" lvl="0">
              <a:lnSpc>
                <a:spcPts val="3147"/>
              </a:lnSpc>
            </a:pPr>
            <a:r>
              <a:rPr lang="en-US" b="true" sz="3497" spc="-209">
                <a:gradFill>
                  <a:gsLst>
                    <a:gs pos="0">
                      <a:srgbClr val="99CCFF">
                        <a:alpha val="100000"/>
                      </a:srgbClr>
                    </a:gs>
                    <a:gs pos="33333">
                      <a:srgbClr val="FFFFFF">
                        <a:alpha val="100000"/>
                      </a:srgbClr>
                    </a:gs>
                    <a:gs pos="66667">
                      <a:srgbClr val="FFFFFF">
                        <a:alpha val="100000"/>
                      </a:srgbClr>
                    </a:gs>
                    <a:gs pos="100000">
                      <a:srgbClr val="99CCFF">
                        <a:alpha val="100000"/>
                      </a:srgbClr>
                    </a:gs>
                  </a:gsLst>
                  <a:lin ang="5400000"/>
                </a:gradFill>
                <a:latin typeface="Open Sauce Bold"/>
                <a:ea typeface="Open Sauce Bold"/>
                <a:cs typeface="Open Sauce Bold"/>
                <a:sym typeface="Open Sauce Bold"/>
              </a:rPr>
              <a:t>Connectors</a:t>
            </a:r>
          </a:p>
        </p:txBody>
      </p:sp>
      <p:sp>
        <p:nvSpPr>
          <p:cNvPr name="TextBox 24" id="24"/>
          <p:cNvSpPr txBox="true"/>
          <p:nvPr/>
        </p:nvSpPr>
        <p:spPr>
          <a:xfrm rot="0">
            <a:off x="7367172" y="8351248"/>
            <a:ext cx="9656373" cy="1230044"/>
          </a:xfrm>
          <a:prstGeom prst="rect">
            <a:avLst/>
          </a:prstGeom>
        </p:spPr>
        <p:txBody>
          <a:bodyPr anchor="t" rtlCol="false" tIns="0" lIns="0" bIns="0" rIns="0">
            <a:spAutoFit/>
          </a:bodyPr>
          <a:lstStyle/>
          <a:p>
            <a:pPr algn="l">
              <a:lnSpc>
                <a:spcPts val="3206"/>
              </a:lnSpc>
            </a:pPr>
            <a:r>
              <a:rPr lang="en-US" sz="3306">
                <a:solidFill>
                  <a:srgbClr val="565E8F"/>
                </a:solidFill>
                <a:latin typeface="Open Sauce"/>
                <a:ea typeface="Open Sauce"/>
                <a:cs typeface="Open Sauce"/>
                <a:sym typeface="Open Sauce"/>
              </a:rPr>
              <a:t>on ChatGPT Settings</a:t>
            </a:r>
          </a:p>
          <a:p>
            <a:pPr algn="l">
              <a:lnSpc>
                <a:spcPts val="3206"/>
              </a:lnSpc>
            </a:pPr>
          </a:p>
          <a:p>
            <a:pPr algn="l">
              <a:lnSpc>
                <a:spcPts val="3206"/>
              </a:lnSpc>
            </a:pPr>
            <a:r>
              <a:rPr lang="en-US" sz="3306">
                <a:solidFill>
                  <a:srgbClr val="565E8F"/>
                </a:solidFill>
                <a:latin typeface="Open Sauce"/>
                <a:ea typeface="Open Sauce"/>
                <a:cs typeface="Open Sauce"/>
                <a:sym typeface="Open Sauce"/>
              </a:rPr>
              <a:t>in Claude if you click on plus next to chatbar</a:t>
            </a:r>
          </a:p>
        </p:txBody>
      </p:sp>
      <p:grpSp>
        <p:nvGrpSpPr>
          <p:cNvPr name="Group 25" id="25"/>
          <p:cNvGrpSpPr/>
          <p:nvPr/>
        </p:nvGrpSpPr>
        <p:grpSpPr>
          <a:xfrm rot="0">
            <a:off x="915508" y="365374"/>
            <a:ext cx="17528009" cy="832382"/>
            <a:chOff x="0" y="0"/>
            <a:chExt cx="23370678" cy="1109842"/>
          </a:xfrm>
        </p:grpSpPr>
        <p:sp>
          <p:nvSpPr>
            <p:cNvPr name="TextBox 26" id="26"/>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27" id="27"/>
            <p:cNvGrpSpPr/>
            <p:nvPr/>
          </p:nvGrpSpPr>
          <p:grpSpPr>
            <a:xfrm rot="0">
              <a:off x="18021129" y="169165"/>
              <a:ext cx="3513365" cy="715270"/>
              <a:chOff x="0" y="0"/>
              <a:chExt cx="749232" cy="152533"/>
            </a:xfrm>
          </p:grpSpPr>
          <p:sp>
            <p:nvSpPr>
              <p:cNvPr name="Freeform 28" id="28"/>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29" id="29"/>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30" id="30"/>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31" id="31"/>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6"/>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grpSp>
        <p:nvGrpSpPr>
          <p:cNvPr name="Group 17" id="17"/>
          <p:cNvGrpSpPr/>
          <p:nvPr/>
        </p:nvGrpSpPr>
        <p:grpSpPr>
          <a:xfrm rot="0">
            <a:off x="2090694" y="2776813"/>
            <a:ext cx="14106612" cy="6025921"/>
            <a:chOff x="0" y="0"/>
            <a:chExt cx="3715322" cy="1587074"/>
          </a:xfrm>
        </p:grpSpPr>
        <p:sp>
          <p:nvSpPr>
            <p:cNvPr name="Freeform 18" id="18"/>
            <p:cNvSpPr/>
            <p:nvPr/>
          </p:nvSpPr>
          <p:spPr>
            <a:xfrm flipH="false" flipV="false" rot="0">
              <a:off x="0" y="0"/>
              <a:ext cx="3715322" cy="1587074"/>
            </a:xfrm>
            <a:custGeom>
              <a:avLst/>
              <a:gdLst/>
              <a:ahLst/>
              <a:cxnLst/>
              <a:rect r="r" b="b" t="t" l="l"/>
              <a:pathLst>
                <a:path h="1587074" w="3715322">
                  <a:moveTo>
                    <a:pt x="41161" y="0"/>
                  </a:moveTo>
                  <a:lnTo>
                    <a:pt x="3674161" y="0"/>
                  </a:lnTo>
                  <a:cubicBezTo>
                    <a:pt x="3696893" y="0"/>
                    <a:pt x="3715322" y="18428"/>
                    <a:pt x="3715322" y="41161"/>
                  </a:cubicBezTo>
                  <a:lnTo>
                    <a:pt x="3715322" y="1545913"/>
                  </a:lnTo>
                  <a:cubicBezTo>
                    <a:pt x="3715322" y="1568645"/>
                    <a:pt x="3696893" y="1587074"/>
                    <a:pt x="3674161" y="1587074"/>
                  </a:cubicBezTo>
                  <a:lnTo>
                    <a:pt x="41161" y="1587074"/>
                  </a:lnTo>
                  <a:cubicBezTo>
                    <a:pt x="18428" y="1587074"/>
                    <a:pt x="0" y="1568645"/>
                    <a:pt x="0" y="1545913"/>
                  </a:cubicBezTo>
                  <a:lnTo>
                    <a:pt x="0" y="41161"/>
                  </a:lnTo>
                  <a:cubicBezTo>
                    <a:pt x="0" y="18428"/>
                    <a:pt x="18428" y="0"/>
                    <a:pt x="41161" y="0"/>
                  </a:cubicBezTo>
                  <a:close/>
                </a:path>
              </a:pathLst>
            </a:custGeom>
            <a:solidFill>
              <a:srgbClr val="FFFFFF">
                <a:alpha val="75686"/>
              </a:srgbClr>
            </a:solidFill>
            <a:ln w="19050" cap="rnd">
              <a:solidFill>
                <a:srgbClr val="A6B3FF">
                  <a:alpha val="75686"/>
                </a:srgbClr>
              </a:solidFill>
              <a:prstDash val="solid"/>
              <a:round/>
            </a:ln>
          </p:spPr>
        </p:sp>
        <p:sp>
          <p:nvSpPr>
            <p:cNvPr name="TextBox 19" id="19"/>
            <p:cNvSpPr txBox="true"/>
            <p:nvPr/>
          </p:nvSpPr>
          <p:spPr>
            <a:xfrm>
              <a:off x="0" y="-38100"/>
              <a:ext cx="3715322" cy="1625174"/>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876801" y="3523056"/>
            <a:ext cx="13774152" cy="5036244"/>
          </a:xfrm>
          <a:prstGeom prst="rect">
            <a:avLst/>
          </a:prstGeom>
        </p:spPr>
        <p:txBody>
          <a:bodyPr anchor="t" rtlCol="false" tIns="0" lIns="0" bIns="0" rIns="0">
            <a:spAutoFit/>
          </a:bodyPr>
          <a:lstStyle/>
          <a:p>
            <a:pPr algn="l">
              <a:lnSpc>
                <a:spcPts val="9838"/>
              </a:lnSpc>
            </a:pPr>
            <a:r>
              <a:rPr lang="en-US" sz="9369" spc="-562" b="true">
                <a:solidFill>
                  <a:srgbClr val="9CA5DA"/>
                </a:solidFill>
                <a:latin typeface="Open Sauce Bold"/>
                <a:ea typeface="Open Sauce Bold"/>
                <a:cs typeface="Open Sauce Bold"/>
                <a:sym typeface="Open Sauce Bold"/>
              </a:rPr>
              <a:t>What you can create using </a:t>
            </a:r>
            <a:r>
              <a:rPr lang="en-US" sz="9369" spc="-562" b="true">
                <a:solidFill>
                  <a:srgbClr val="565E8F"/>
                </a:solidFill>
                <a:latin typeface="Open Sauce Bold"/>
                <a:ea typeface="Open Sauce Bold"/>
                <a:cs typeface="Open Sauce Bold"/>
                <a:sym typeface="Open Sauce Bold"/>
              </a:rPr>
              <a:t>MCP</a:t>
            </a:r>
          </a:p>
          <a:p>
            <a:pPr algn="r">
              <a:lnSpc>
                <a:spcPts val="9838"/>
              </a:lnSpc>
            </a:pPr>
          </a:p>
          <a:p>
            <a:pPr algn="ctr" marL="0" indent="0" lvl="0">
              <a:lnSpc>
                <a:spcPts val="9838"/>
              </a:lnSpc>
            </a:pPr>
          </a:p>
        </p:txBody>
      </p:sp>
      <p:sp>
        <p:nvSpPr>
          <p:cNvPr name="TextBox 21" id="21"/>
          <p:cNvSpPr txBox="true"/>
          <p:nvPr/>
        </p:nvSpPr>
        <p:spPr>
          <a:xfrm rot="0">
            <a:off x="2876801" y="6304093"/>
            <a:ext cx="12331451" cy="4065458"/>
          </a:xfrm>
          <a:prstGeom prst="rect">
            <a:avLst/>
          </a:prstGeom>
        </p:spPr>
        <p:txBody>
          <a:bodyPr anchor="t" rtlCol="false" tIns="0" lIns="0" bIns="0" rIns="0">
            <a:spAutoFit/>
          </a:bodyPr>
          <a:lstStyle/>
          <a:p>
            <a:pPr algn="l">
              <a:lnSpc>
                <a:spcPts val="4325"/>
              </a:lnSpc>
            </a:pPr>
            <a:r>
              <a:rPr lang="en-US" sz="3967" spc="-238">
                <a:solidFill>
                  <a:srgbClr val="7681BD"/>
                </a:solidFill>
                <a:latin typeface="Open Sauce"/>
                <a:ea typeface="Open Sauce"/>
                <a:cs typeface="Open Sauce"/>
                <a:sym typeface="Open Sauce"/>
              </a:rPr>
              <a:t>The personal project ideas are </a:t>
            </a:r>
            <a:r>
              <a:rPr lang="en-US" sz="3967" i="true" spc="-238">
                <a:solidFill>
                  <a:srgbClr val="7681BD"/>
                </a:solidFill>
                <a:latin typeface="Open Sauce Italics"/>
                <a:ea typeface="Open Sauce Italics"/>
                <a:cs typeface="Open Sauce Italics"/>
                <a:sym typeface="Open Sauce Italics"/>
              </a:rPr>
              <a:t>endless</a:t>
            </a:r>
            <a:r>
              <a:rPr lang="en-US" sz="3967" spc="-238">
                <a:solidFill>
                  <a:srgbClr val="7681BD"/>
                </a:solidFill>
                <a:latin typeface="Open Sauce"/>
                <a:ea typeface="Open Sauce"/>
                <a:cs typeface="Open Sauce"/>
                <a:sym typeface="Open Sauce"/>
              </a:rPr>
              <a:t> with MCP.</a:t>
            </a:r>
          </a:p>
          <a:p>
            <a:pPr algn="l">
              <a:lnSpc>
                <a:spcPts val="1983"/>
              </a:lnSpc>
            </a:pPr>
          </a:p>
          <a:p>
            <a:pPr algn="l">
              <a:lnSpc>
                <a:spcPts val="4325"/>
              </a:lnSpc>
            </a:pPr>
            <a:r>
              <a:rPr lang="en-US" sz="3967" spc="-238">
                <a:solidFill>
                  <a:srgbClr val="565E8F"/>
                </a:solidFill>
                <a:latin typeface="Open Sauce"/>
                <a:ea typeface="Open Sauce"/>
                <a:cs typeface="Open Sauce"/>
                <a:sym typeface="Open Sauce"/>
              </a:rPr>
              <a:t>It can easily be utilized to create a product or system that saves you time or offers convenience. </a:t>
            </a:r>
          </a:p>
          <a:p>
            <a:pPr algn="l">
              <a:lnSpc>
                <a:spcPts val="4325"/>
              </a:lnSpc>
            </a:pPr>
          </a:p>
          <a:p>
            <a:pPr algn="l">
              <a:lnSpc>
                <a:spcPts val="4325"/>
              </a:lnSpc>
            </a:pPr>
          </a:p>
          <a:p>
            <a:pPr algn="l">
              <a:lnSpc>
                <a:spcPts val="4325"/>
              </a:lnSpc>
            </a:pPr>
          </a:p>
          <a:p>
            <a:pPr algn="l" marL="0" indent="0" lvl="0">
              <a:lnSpc>
                <a:spcPts val="432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grpSp>
        <p:nvGrpSpPr>
          <p:cNvPr name="Group 17" id="17"/>
          <p:cNvGrpSpPr/>
          <p:nvPr/>
        </p:nvGrpSpPr>
        <p:grpSpPr>
          <a:xfrm rot="0">
            <a:off x="6156844" y="4091683"/>
            <a:ext cx="10316152" cy="4591110"/>
            <a:chOff x="0" y="0"/>
            <a:chExt cx="3282026" cy="1460636"/>
          </a:xfrm>
        </p:grpSpPr>
        <p:sp>
          <p:nvSpPr>
            <p:cNvPr name="Freeform 18" id="18"/>
            <p:cNvSpPr/>
            <p:nvPr/>
          </p:nvSpPr>
          <p:spPr>
            <a:xfrm flipH="false" flipV="false" rot="0">
              <a:off x="0" y="0"/>
              <a:ext cx="3282026" cy="1460636"/>
            </a:xfrm>
            <a:custGeom>
              <a:avLst/>
              <a:gdLst/>
              <a:ahLst/>
              <a:cxnLst/>
              <a:rect r="r" b="b" t="t" l="l"/>
              <a:pathLst>
                <a:path h="1460636" w="3282026">
                  <a:moveTo>
                    <a:pt x="56285" y="0"/>
                  </a:moveTo>
                  <a:lnTo>
                    <a:pt x="3225741" y="0"/>
                  </a:lnTo>
                  <a:cubicBezTo>
                    <a:pt x="3240668" y="0"/>
                    <a:pt x="3254985" y="5930"/>
                    <a:pt x="3265540" y="16485"/>
                  </a:cubicBezTo>
                  <a:cubicBezTo>
                    <a:pt x="3276096" y="27041"/>
                    <a:pt x="3282026" y="41357"/>
                    <a:pt x="3282026" y="56285"/>
                  </a:cubicBezTo>
                  <a:lnTo>
                    <a:pt x="3282026" y="1404351"/>
                  </a:lnTo>
                  <a:cubicBezTo>
                    <a:pt x="3282026" y="1419279"/>
                    <a:pt x="3276096" y="1433595"/>
                    <a:pt x="3265540" y="1444150"/>
                  </a:cubicBezTo>
                  <a:cubicBezTo>
                    <a:pt x="3254985" y="1454706"/>
                    <a:pt x="3240668" y="1460636"/>
                    <a:pt x="3225741" y="1460636"/>
                  </a:cubicBezTo>
                  <a:lnTo>
                    <a:pt x="56285" y="1460636"/>
                  </a:lnTo>
                  <a:cubicBezTo>
                    <a:pt x="41357" y="1460636"/>
                    <a:pt x="27041" y="1454706"/>
                    <a:pt x="16485" y="1444150"/>
                  </a:cubicBezTo>
                  <a:cubicBezTo>
                    <a:pt x="5930" y="1433595"/>
                    <a:pt x="0" y="1419279"/>
                    <a:pt x="0" y="1404351"/>
                  </a:cubicBezTo>
                  <a:lnTo>
                    <a:pt x="0" y="56285"/>
                  </a:lnTo>
                  <a:cubicBezTo>
                    <a:pt x="0" y="41357"/>
                    <a:pt x="5930" y="27041"/>
                    <a:pt x="16485" y="16485"/>
                  </a:cubicBezTo>
                  <a:cubicBezTo>
                    <a:pt x="27041" y="5930"/>
                    <a:pt x="41357" y="0"/>
                    <a:pt x="56285" y="0"/>
                  </a:cubicBezTo>
                  <a:close/>
                </a:path>
              </a:pathLst>
            </a:custGeom>
            <a:solidFill>
              <a:srgbClr val="565E8F">
                <a:alpha val="74902"/>
              </a:srgbClr>
            </a:solidFill>
            <a:ln w="19050" cap="rnd">
              <a:solidFill>
                <a:srgbClr val="7681BD">
                  <a:alpha val="74902"/>
                </a:srgbClr>
              </a:solidFill>
              <a:prstDash val="solid"/>
              <a:round/>
            </a:ln>
          </p:spPr>
        </p:sp>
        <p:sp>
          <p:nvSpPr>
            <p:cNvPr name="TextBox 19" id="19"/>
            <p:cNvSpPr txBox="true"/>
            <p:nvPr/>
          </p:nvSpPr>
          <p:spPr>
            <a:xfrm>
              <a:off x="0" y="-19050"/>
              <a:ext cx="3282026" cy="1479686"/>
            </a:xfrm>
            <a:prstGeom prst="rect">
              <a:avLst/>
            </a:prstGeom>
          </p:spPr>
          <p:txBody>
            <a:bodyPr anchor="ctr" rtlCol="false" tIns="50800" lIns="50800" bIns="50800" rIns="50800"/>
            <a:lstStyle/>
            <a:p>
              <a:pPr algn="ctr">
                <a:lnSpc>
                  <a:spcPts val="1540"/>
                </a:lnSpc>
              </a:pPr>
            </a:p>
          </p:txBody>
        </p:sp>
      </p:grpSp>
      <p:grpSp>
        <p:nvGrpSpPr>
          <p:cNvPr name="Group 20" id="20"/>
          <p:cNvGrpSpPr/>
          <p:nvPr/>
        </p:nvGrpSpPr>
        <p:grpSpPr>
          <a:xfrm rot="0">
            <a:off x="1423666" y="3902014"/>
            <a:ext cx="6753892" cy="4933662"/>
            <a:chOff x="0" y="0"/>
            <a:chExt cx="1778803" cy="1299401"/>
          </a:xfrm>
        </p:grpSpPr>
        <p:sp>
          <p:nvSpPr>
            <p:cNvPr name="Freeform 21" id="21"/>
            <p:cNvSpPr/>
            <p:nvPr/>
          </p:nvSpPr>
          <p:spPr>
            <a:xfrm flipH="false" flipV="false" rot="0">
              <a:off x="0" y="0"/>
              <a:ext cx="1778803" cy="1299401"/>
            </a:xfrm>
            <a:custGeom>
              <a:avLst/>
              <a:gdLst/>
              <a:ahLst/>
              <a:cxnLst/>
              <a:rect r="r" b="b" t="t" l="l"/>
              <a:pathLst>
                <a:path h="1299401" w="1778803">
                  <a:moveTo>
                    <a:pt x="85972" y="0"/>
                  </a:moveTo>
                  <a:lnTo>
                    <a:pt x="1692831" y="0"/>
                  </a:lnTo>
                  <a:cubicBezTo>
                    <a:pt x="1740312" y="0"/>
                    <a:pt x="1778803" y="38491"/>
                    <a:pt x="1778803" y="85972"/>
                  </a:cubicBezTo>
                  <a:lnTo>
                    <a:pt x="1778803" y="1213429"/>
                  </a:lnTo>
                  <a:cubicBezTo>
                    <a:pt x="1778803" y="1260910"/>
                    <a:pt x="1740312" y="1299401"/>
                    <a:pt x="1692831" y="1299401"/>
                  </a:cubicBezTo>
                  <a:lnTo>
                    <a:pt x="85972" y="1299401"/>
                  </a:lnTo>
                  <a:cubicBezTo>
                    <a:pt x="38491" y="1299401"/>
                    <a:pt x="0" y="1260910"/>
                    <a:pt x="0" y="1213429"/>
                  </a:cubicBezTo>
                  <a:lnTo>
                    <a:pt x="0" y="85972"/>
                  </a:lnTo>
                  <a:cubicBezTo>
                    <a:pt x="0" y="38491"/>
                    <a:pt x="38491" y="0"/>
                    <a:pt x="85972" y="0"/>
                  </a:cubicBezTo>
                  <a:close/>
                </a:path>
              </a:pathLst>
            </a:custGeom>
            <a:solidFill>
              <a:srgbClr val="FFFFFF"/>
            </a:solidFill>
            <a:ln w="19050" cap="rnd">
              <a:solidFill>
                <a:srgbClr val="A6B3FF"/>
              </a:solidFill>
              <a:prstDash val="solid"/>
              <a:round/>
            </a:ln>
          </p:spPr>
        </p:sp>
        <p:sp>
          <p:nvSpPr>
            <p:cNvPr name="TextBox 22" id="22"/>
            <p:cNvSpPr txBox="true"/>
            <p:nvPr/>
          </p:nvSpPr>
          <p:spPr>
            <a:xfrm>
              <a:off x="0" y="-38100"/>
              <a:ext cx="1778803" cy="1337501"/>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782209" y="2137476"/>
            <a:ext cx="14248559" cy="1096473"/>
          </a:xfrm>
          <a:prstGeom prst="rect">
            <a:avLst/>
          </a:prstGeom>
        </p:spPr>
        <p:txBody>
          <a:bodyPr anchor="t" rtlCol="false" tIns="0" lIns="0" bIns="0" rIns="0">
            <a:spAutoFit/>
          </a:bodyPr>
          <a:lstStyle/>
          <a:p>
            <a:pPr algn="ctr" marL="0" indent="0" lvl="0">
              <a:lnSpc>
                <a:spcPts val="7900"/>
              </a:lnSpc>
            </a:pPr>
            <a:r>
              <a:rPr lang="en-US" b="true" sz="8778" i="true" spc="-526">
                <a:solidFill>
                  <a:srgbClr val="9CA5DA"/>
                </a:solidFill>
                <a:latin typeface="Open Sauce Bold Italics"/>
                <a:ea typeface="Open Sauce Bold Italics"/>
                <a:cs typeface="Open Sauce Bold Italics"/>
                <a:sym typeface="Open Sauce Bold Italics"/>
              </a:rPr>
              <a:t> Bigger Picture </a:t>
            </a:r>
            <a:r>
              <a:rPr lang="en-US" b="true" sz="8778" i="true" spc="-526">
                <a:solidFill>
                  <a:srgbClr val="565E8F"/>
                </a:solidFill>
                <a:latin typeface="Open Sauce Bold Italics"/>
                <a:ea typeface="Open Sauce Bold Italics"/>
                <a:cs typeface="Open Sauce Bold Italics"/>
                <a:sym typeface="Open Sauce Bold Italics"/>
              </a:rPr>
              <a:t>of MCP</a:t>
            </a:r>
            <a:r>
              <a:rPr lang="en-US" b="true" sz="8778" i="true" spc="-526">
                <a:solidFill>
                  <a:srgbClr val="9CA5DA"/>
                </a:solidFill>
                <a:latin typeface="Open Sauce Bold Italics"/>
                <a:ea typeface="Open Sauce Bold Italics"/>
                <a:cs typeface="Open Sauce Bold Italics"/>
                <a:sym typeface="Open Sauce Bold Italics"/>
              </a:rPr>
              <a:t> </a:t>
            </a:r>
          </a:p>
        </p:txBody>
      </p:sp>
      <p:sp>
        <p:nvSpPr>
          <p:cNvPr name="TextBox 24" id="24"/>
          <p:cNvSpPr txBox="true"/>
          <p:nvPr/>
        </p:nvSpPr>
        <p:spPr>
          <a:xfrm rot="0">
            <a:off x="2085895" y="4769877"/>
            <a:ext cx="6254371" cy="3724845"/>
          </a:xfrm>
          <a:prstGeom prst="rect">
            <a:avLst/>
          </a:prstGeom>
        </p:spPr>
        <p:txBody>
          <a:bodyPr anchor="t" rtlCol="false" tIns="0" lIns="0" bIns="0" rIns="0">
            <a:spAutoFit/>
          </a:bodyPr>
          <a:lstStyle/>
          <a:p>
            <a:pPr algn="l">
              <a:lnSpc>
                <a:spcPts val="4447"/>
              </a:lnSpc>
            </a:pPr>
            <a:r>
              <a:rPr lang="en-US" sz="4447" spc="-111">
                <a:solidFill>
                  <a:srgbClr val="565E8F"/>
                </a:solidFill>
                <a:latin typeface="HK Grotesk"/>
                <a:ea typeface="HK Grotesk"/>
                <a:cs typeface="HK Grotesk"/>
                <a:sym typeface="HK Grotesk"/>
              </a:rPr>
              <a:t>MCP is becoming the standard, not just Anthropic's thing</a:t>
            </a:r>
          </a:p>
          <a:p>
            <a:pPr algn="l">
              <a:lnSpc>
                <a:spcPts val="4447"/>
              </a:lnSpc>
            </a:pPr>
          </a:p>
          <a:p>
            <a:pPr algn="l">
              <a:lnSpc>
                <a:spcPts val="3847"/>
              </a:lnSpc>
            </a:pPr>
            <a:r>
              <a:rPr lang="en-US" sz="3847" spc="-96">
                <a:solidFill>
                  <a:srgbClr val="7681BD"/>
                </a:solidFill>
                <a:latin typeface="HK Grotesk"/>
                <a:ea typeface="HK Grotesk"/>
                <a:cs typeface="HK Grotesk"/>
                <a:sym typeface="HK Grotesk"/>
              </a:rPr>
              <a:t>(other model providers adopting it)</a:t>
            </a:r>
          </a:p>
          <a:p>
            <a:pPr algn="l">
              <a:lnSpc>
                <a:spcPts val="3847"/>
              </a:lnSpc>
            </a:pPr>
          </a:p>
        </p:txBody>
      </p:sp>
      <p:sp>
        <p:nvSpPr>
          <p:cNvPr name="TextBox 25" id="25"/>
          <p:cNvSpPr txBox="true"/>
          <p:nvPr/>
        </p:nvSpPr>
        <p:spPr>
          <a:xfrm rot="0">
            <a:off x="8702453" y="4760352"/>
            <a:ext cx="7459358" cy="3628390"/>
          </a:xfrm>
          <a:prstGeom prst="rect">
            <a:avLst/>
          </a:prstGeom>
        </p:spPr>
        <p:txBody>
          <a:bodyPr anchor="t" rtlCol="false" tIns="0" lIns="0" bIns="0" rIns="0">
            <a:spAutoFit/>
          </a:bodyPr>
          <a:lstStyle/>
          <a:p>
            <a:pPr algn="l">
              <a:lnSpc>
                <a:spcPts val="4400"/>
              </a:lnSpc>
            </a:pPr>
            <a:r>
              <a:rPr lang="en-US" sz="4400" spc="-110" b="true">
                <a:solidFill>
                  <a:srgbClr val="FFFFFF"/>
                </a:solidFill>
                <a:latin typeface="HK Grotesk Bold"/>
                <a:ea typeface="HK Grotesk Bold"/>
                <a:cs typeface="HK Grotesk Bold"/>
                <a:sym typeface="HK Grotesk Bold"/>
              </a:rPr>
              <a:t>Agentic AI:</a:t>
            </a:r>
            <a:r>
              <a:rPr lang="en-US" sz="4400" spc="-110">
                <a:solidFill>
                  <a:srgbClr val="FFFFFF"/>
                </a:solidFill>
                <a:latin typeface="HK Grotesk"/>
                <a:ea typeface="HK Grotesk"/>
                <a:cs typeface="HK Grotesk"/>
                <a:sym typeface="HK Grotesk"/>
              </a:rPr>
              <a:t> the next wave isn't chatbots, it's AI that acts autonomously across yo</a:t>
            </a:r>
            <a:r>
              <a:rPr lang="en-US" sz="4400" spc="-110">
                <a:solidFill>
                  <a:srgbClr val="FFFFFF"/>
                </a:solidFill>
                <a:latin typeface="HK Grotesk"/>
                <a:ea typeface="HK Grotesk"/>
                <a:cs typeface="HK Grotesk"/>
                <a:sym typeface="HK Grotesk"/>
              </a:rPr>
              <a:t>ur</a:t>
            </a:r>
            <a:r>
              <a:rPr lang="en-US" sz="4400" spc="-110">
                <a:solidFill>
                  <a:srgbClr val="FFFFFF"/>
                </a:solidFill>
                <a:latin typeface="HK Grotesk"/>
                <a:ea typeface="HK Grotesk"/>
                <a:cs typeface="HK Grotesk"/>
                <a:sym typeface="HK Grotesk"/>
              </a:rPr>
              <a:t> tool</a:t>
            </a:r>
            <a:r>
              <a:rPr lang="en-US" sz="4400" spc="-110">
                <a:solidFill>
                  <a:srgbClr val="FFFFFF"/>
                </a:solidFill>
                <a:latin typeface="HK Grotesk"/>
                <a:ea typeface="HK Grotesk"/>
                <a:cs typeface="HK Grotesk"/>
                <a:sym typeface="HK Grotesk"/>
              </a:rPr>
              <a:t>s</a:t>
            </a:r>
          </a:p>
          <a:p>
            <a:pPr algn="l">
              <a:lnSpc>
                <a:spcPts val="4400"/>
              </a:lnSpc>
            </a:pPr>
          </a:p>
          <a:p>
            <a:pPr algn="l">
              <a:lnSpc>
                <a:spcPts val="3600"/>
              </a:lnSpc>
            </a:pPr>
            <a:r>
              <a:rPr lang="en-US" sz="3600" i="true" spc="-90">
                <a:solidFill>
                  <a:srgbClr val="FFFFFF"/>
                </a:solidFill>
                <a:latin typeface="HK Grotesk Italics"/>
                <a:ea typeface="HK Grotesk Italics"/>
                <a:cs typeface="HK Grotesk Italics"/>
                <a:sym typeface="HK Grotesk Italics"/>
              </a:rPr>
              <a:t>Pe</a:t>
            </a:r>
            <a:r>
              <a:rPr lang="en-US" sz="3600" i="true" spc="-90">
                <a:solidFill>
                  <a:srgbClr val="FFFFFF"/>
                </a:solidFill>
                <a:latin typeface="HK Grotesk Italics"/>
                <a:ea typeface="HK Grotesk Italics"/>
                <a:cs typeface="HK Grotesk Italics"/>
                <a:sym typeface="HK Grotesk Italics"/>
              </a:rPr>
              <a:t>o</a:t>
            </a:r>
            <a:r>
              <a:rPr lang="en-US" sz="3600" i="true" spc="-90">
                <a:solidFill>
                  <a:srgbClr val="FFFFFF"/>
                </a:solidFill>
                <a:latin typeface="HK Grotesk Italics"/>
                <a:ea typeface="HK Grotesk Italics"/>
                <a:cs typeface="HK Grotesk Italics"/>
                <a:sym typeface="HK Grotesk Italics"/>
              </a:rPr>
              <a:t>ple who unde</a:t>
            </a:r>
            <a:r>
              <a:rPr lang="en-US" sz="3600" i="true" spc="-90">
                <a:solidFill>
                  <a:srgbClr val="FFFFFF"/>
                </a:solidFill>
                <a:latin typeface="HK Grotesk Italics"/>
                <a:ea typeface="HK Grotesk Italics"/>
                <a:cs typeface="HK Grotesk Italics"/>
                <a:sym typeface="HK Grotesk Italics"/>
              </a:rPr>
              <a:t>r</a:t>
            </a:r>
            <a:r>
              <a:rPr lang="en-US" sz="3600" i="true" spc="-90">
                <a:solidFill>
                  <a:srgbClr val="FFFFFF"/>
                </a:solidFill>
                <a:latin typeface="HK Grotesk Italics"/>
                <a:ea typeface="HK Grotesk Italics"/>
                <a:cs typeface="HK Grotesk Italics"/>
                <a:sym typeface="HK Grotesk Italics"/>
              </a:rPr>
              <a:t>stand</a:t>
            </a:r>
            <a:r>
              <a:rPr lang="en-US" sz="3600" i="true" spc="-90">
                <a:solidFill>
                  <a:srgbClr val="FFFFFF"/>
                </a:solidFill>
                <a:latin typeface="HK Grotesk Italics"/>
                <a:ea typeface="HK Grotesk Italics"/>
                <a:cs typeface="HK Grotesk Italics"/>
                <a:sym typeface="HK Grotesk Italics"/>
              </a:rPr>
              <a:t> </a:t>
            </a:r>
            <a:r>
              <a:rPr lang="en-US" sz="3600" i="true" spc="-90">
                <a:solidFill>
                  <a:srgbClr val="FFFFFF"/>
                </a:solidFill>
                <a:latin typeface="HK Grotesk Italics"/>
                <a:ea typeface="HK Grotesk Italics"/>
                <a:cs typeface="HK Grotesk Italics"/>
                <a:sym typeface="HK Grotesk Italics"/>
              </a:rPr>
              <a:t>this laye</a:t>
            </a:r>
            <a:r>
              <a:rPr lang="en-US" sz="3600" i="true" spc="-90">
                <a:solidFill>
                  <a:srgbClr val="FFFFFF"/>
                </a:solidFill>
                <a:latin typeface="HK Grotesk Italics"/>
                <a:ea typeface="HK Grotesk Italics"/>
                <a:cs typeface="HK Grotesk Italics"/>
                <a:sym typeface="HK Grotesk Italics"/>
              </a:rPr>
              <a:t>r</a:t>
            </a:r>
            <a:r>
              <a:rPr lang="en-US" sz="3600" i="true" spc="-90">
                <a:solidFill>
                  <a:srgbClr val="FFFFFF"/>
                </a:solidFill>
                <a:latin typeface="HK Grotesk Italics"/>
                <a:ea typeface="HK Grotesk Italics"/>
                <a:cs typeface="HK Grotesk Italics"/>
                <a:sym typeface="HK Grotesk Italics"/>
              </a:rPr>
              <a:t> </a:t>
            </a:r>
            <a:r>
              <a:rPr lang="en-US" sz="3600" i="true" spc="-90">
                <a:solidFill>
                  <a:srgbClr val="FFFFFF"/>
                </a:solidFill>
                <a:latin typeface="HK Grotesk Italics"/>
                <a:ea typeface="HK Grotesk Italics"/>
                <a:cs typeface="HK Grotesk Italics"/>
                <a:sym typeface="HK Grotesk Italics"/>
              </a:rPr>
              <a:t>a</a:t>
            </a:r>
            <a:r>
              <a:rPr lang="en-US" sz="3600" i="true" spc="-90">
                <a:solidFill>
                  <a:srgbClr val="FFFFFF"/>
                </a:solidFill>
                <a:latin typeface="HK Grotesk Italics"/>
                <a:ea typeface="HK Grotesk Italics"/>
                <a:cs typeface="HK Grotesk Italics"/>
                <a:sym typeface="HK Grotesk Italics"/>
              </a:rPr>
              <a:t>nd </a:t>
            </a:r>
            <a:r>
              <a:rPr lang="en-US" sz="3600" i="true" spc="-90">
                <a:solidFill>
                  <a:srgbClr val="FFFFFF"/>
                </a:solidFill>
                <a:latin typeface="HK Grotesk Italics"/>
                <a:ea typeface="HK Grotesk Italics"/>
                <a:cs typeface="HK Grotesk Italics"/>
                <a:sym typeface="HK Grotesk Italics"/>
              </a:rPr>
              <a:t>k</a:t>
            </a:r>
            <a:r>
              <a:rPr lang="en-US" sz="3600" i="true" spc="-90">
                <a:solidFill>
                  <a:srgbClr val="FFFFFF"/>
                </a:solidFill>
                <a:latin typeface="HK Grotesk Italics"/>
                <a:ea typeface="HK Grotesk Italics"/>
                <a:cs typeface="HK Grotesk Italics"/>
                <a:sym typeface="HK Grotesk Italics"/>
              </a:rPr>
              <a:t>now</a:t>
            </a:r>
            <a:r>
              <a:rPr lang="en-US" sz="3600" i="true" spc="-90">
                <a:solidFill>
                  <a:srgbClr val="FFFFFF"/>
                </a:solidFill>
                <a:latin typeface="HK Grotesk Italics"/>
                <a:ea typeface="HK Grotesk Italics"/>
                <a:cs typeface="HK Grotesk Italics"/>
                <a:sym typeface="HK Grotesk Italics"/>
              </a:rPr>
              <a:t> </a:t>
            </a:r>
            <a:r>
              <a:rPr lang="en-US" sz="3600" i="true" spc="-90">
                <a:solidFill>
                  <a:srgbClr val="FFFFFF"/>
                </a:solidFill>
                <a:latin typeface="HK Grotesk Italics"/>
                <a:ea typeface="HK Grotesk Italics"/>
                <a:cs typeface="HK Grotesk Italics"/>
                <a:sym typeface="HK Grotesk Italics"/>
              </a:rPr>
              <a:t>how to utilize it will stand out</a:t>
            </a:r>
          </a:p>
          <a:p>
            <a:pPr algn="l" marL="0" indent="0" lvl="0">
              <a:lnSpc>
                <a:spcPts val="3800"/>
              </a:lnSpc>
            </a:pPr>
            <a:r>
              <a:rPr lang="en-US" sz="3800" spc="-95">
                <a:solidFill>
                  <a:srgbClr val="FFFFFF"/>
                </a:solidFill>
                <a:latin typeface="HK Grotesk"/>
                <a:ea typeface="HK Grotesk"/>
                <a:cs typeface="HK Grotesk"/>
                <a:sym typeface="HK Grotesk"/>
              </a:rPr>
              <a:t> </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EBEBEB"/>
        </a:solidFill>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grpSp>
        <p:nvGrpSpPr>
          <p:cNvPr name="Group 17" id="17"/>
          <p:cNvGrpSpPr/>
          <p:nvPr/>
        </p:nvGrpSpPr>
        <p:grpSpPr>
          <a:xfrm rot="0">
            <a:off x="1028700" y="3413231"/>
            <a:ext cx="5746016" cy="6387371"/>
            <a:chOff x="0" y="0"/>
            <a:chExt cx="1513354" cy="1682271"/>
          </a:xfrm>
        </p:grpSpPr>
        <p:sp>
          <p:nvSpPr>
            <p:cNvPr name="Freeform 18" id="18"/>
            <p:cNvSpPr/>
            <p:nvPr/>
          </p:nvSpPr>
          <p:spPr>
            <a:xfrm flipH="false" flipV="false" rot="0">
              <a:off x="0" y="0"/>
              <a:ext cx="1513354" cy="1682271"/>
            </a:xfrm>
            <a:custGeom>
              <a:avLst/>
              <a:gdLst/>
              <a:ahLst/>
              <a:cxnLst/>
              <a:rect r="r" b="b" t="t" l="l"/>
              <a:pathLst>
                <a:path h="1682271" w="1513354">
                  <a:moveTo>
                    <a:pt x="101052" y="0"/>
                  </a:moveTo>
                  <a:lnTo>
                    <a:pt x="1412302" y="0"/>
                  </a:lnTo>
                  <a:cubicBezTo>
                    <a:pt x="1468112" y="0"/>
                    <a:pt x="1513354" y="45242"/>
                    <a:pt x="1513354" y="101052"/>
                  </a:cubicBezTo>
                  <a:lnTo>
                    <a:pt x="1513354" y="1581219"/>
                  </a:lnTo>
                  <a:cubicBezTo>
                    <a:pt x="1513354" y="1608020"/>
                    <a:pt x="1502708" y="1633722"/>
                    <a:pt x="1483757" y="1652673"/>
                  </a:cubicBezTo>
                  <a:cubicBezTo>
                    <a:pt x="1464806" y="1671624"/>
                    <a:pt x="1439103" y="1682271"/>
                    <a:pt x="1412302" y="1682271"/>
                  </a:cubicBezTo>
                  <a:lnTo>
                    <a:pt x="101052" y="1682271"/>
                  </a:lnTo>
                  <a:cubicBezTo>
                    <a:pt x="74251" y="1682271"/>
                    <a:pt x="48548" y="1671624"/>
                    <a:pt x="29597" y="1652673"/>
                  </a:cubicBezTo>
                  <a:cubicBezTo>
                    <a:pt x="10646" y="1633722"/>
                    <a:pt x="0" y="1608020"/>
                    <a:pt x="0" y="1581219"/>
                  </a:cubicBezTo>
                  <a:lnTo>
                    <a:pt x="0" y="101052"/>
                  </a:lnTo>
                  <a:cubicBezTo>
                    <a:pt x="0" y="74251"/>
                    <a:pt x="10646" y="48548"/>
                    <a:pt x="29597" y="29597"/>
                  </a:cubicBezTo>
                  <a:cubicBezTo>
                    <a:pt x="48548" y="10646"/>
                    <a:pt x="74251" y="0"/>
                    <a:pt x="101052" y="0"/>
                  </a:cubicBezTo>
                  <a:close/>
                </a:path>
              </a:pathLst>
            </a:custGeom>
            <a:solidFill>
              <a:srgbClr val="C4CAED"/>
            </a:solidFill>
            <a:ln w="19050" cap="rnd">
              <a:solidFill>
                <a:srgbClr val="A6B3FF"/>
              </a:solidFill>
              <a:prstDash val="solid"/>
              <a:round/>
            </a:ln>
          </p:spPr>
        </p:sp>
        <p:sp>
          <p:nvSpPr>
            <p:cNvPr name="TextBox 19" id="19"/>
            <p:cNvSpPr txBox="true"/>
            <p:nvPr/>
          </p:nvSpPr>
          <p:spPr>
            <a:xfrm>
              <a:off x="0" y="-38100"/>
              <a:ext cx="1513354" cy="172037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7449725" y="1722229"/>
            <a:ext cx="9933400" cy="5323393"/>
            <a:chOff x="0" y="0"/>
            <a:chExt cx="2616204" cy="1402046"/>
          </a:xfrm>
        </p:grpSpPr>
        <p:sp>
          <p:nvSpPr>
            <p:cNvPr name="Freeform 21" id="21"/>
            <p:cNvSpPr/>
            <p:nvPr/>
          </p:nvSpPr>
          <p:spPr>
            <a:xfrm flipH="false" flipV="false" rot="0">
              <a:off x="0" y="0"/>
              <a:ext cx="2616204" cy="1402046"/>
            </a:xfrm>
            <a:custGeom>
              <a:avLst/>
              <a:gdLst/>
              <a:ahLst/>
              <a:cxnLst/>
              <a:rect r="r" b="b" t="t" l="l"/>
              <a:pathLst>
                <a:path h="1402046" w="2616204">
                  <a:moveTo>
                    <a:pt x="58454" y="0"/>
                  </a:moveTo>
                  <a:lnTo>
                    <a:pt x="2557751" y="0"/>
                  </a:lnTo>
                  <a:cubicBezTo>
                    <a:pt x="2573253" y="0"/>
                    <a:pt x="2588121" y="6158"/>
                    <a:pt x="2599084" y="17121"/>
                  </a:cubicBezTo>
                  <a:cubicBezTo>
                    <a:pt x="2610046" y="28083"/>
                    <a:pt x="2616204" y="42951"/>
                    <a:pt x="2616204" y="58454"/>
                  </a:cubicBezTo>
                  <a:lnTo>
                    <a:pt x="2616204" y="1343592"/>
                  </a:lnTo>
                  <a:cubicBezTo>
                    <a:pt x="2616204" y="1359095"/>
                    <a:pt x="2610046" y="1373963"/>
                    <a:pt x="2599084" y="1384925"/>
                  </a:cubicBezTo>
                  <a:cubicBezTo>
                    <a:pt x="2588121" y="1395887"/>
                    <a:pt x="2573253" y="1402046"/>
                    <a:pt x="2557751" y="1402046"/>
                  </a:cubicBezTo>
                  <a:lnTo>
                    <a:pt x="58454" y="1402046"/>
                  </a:lnTo>
                  <a:cubicBezTo>
                    <a:pt x="42951" y="1402046"/>
                    <a:pt x="28083" y="1395887"/>
                    <a:pt x="17121" y="1384925"/>
                  </a:cubicBezTo>
                  <a:cubicBezTo>
                    <a:pt x="6158" y="1373963"/>
                    <a:pt x="0" y="1359095"/>
                    <a:pt x="0" y="1343592"/>
                  </a:cubicBezTo>
                  <a:lnTo>
                    <a:pt x="0" y="58454"/>
                  </a:lnTo>
                  <a:cubicBezTo>
                    <a:pt x="0" y="42951"/>
                    <a:pt x="6158" y="28083"/>
                    <a:pt x="17121" y="17121"/>
                  </a:cubicBezTo>
                  <a:cubicBezTo>
                    <a:pt x="28083" y="6158"/>
                    <a:pt x="42951" y="0"/>
                    <a:pt x="58454" y="0"/>
                  </a:cubicBezTo>
                  <a:close/>
                </a:path>
              </a:pathLst>
            </a:custGeom>
            <a:solidFill>
              <a:srgbClr val="E1E5FF"/>
            </a:solidFill>
            <a:ln w="19050" cap="rnd">
              <a:solidFill>
                <a:srgbClr val="A6B3FF"/>
              </a:solidFill>
              <a:prstDash val="solid"/>
              <a:round/>
            </a:ln>
          </p:spPr>
        </p:sp>
        <p:sp>
          <p:nvSpPr>
            <p:cNvPr name="TextBox 22" id="22"/>
            <p:cNvSpPr txBox="true"/>
            <p:nvPr/>
          </p:nvSpPr>
          <p:spPr>
            <a:xfrm>
              <a:off x="0" y="-38100"/>
              <a:ext cx="2616204" cy="1440146"/>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184264" y="3828544"/>
            <a:ext cx="5336221" cy="3154728"/>
          </a:xfrm>
          <a:prstGeom prst="rect">
            <a:avLst/>
          </a:prstGeom>
        </p:spPr>
        <p:txBody>
          <a:bodyPr anchor="t" rtlCol="false" tIns="0" lIns="0" bIns="0" rIns="0">
            <a:spAutoFit/>
          </a:bodyPr>
          <a:lstStyle/>
          <a:p>
            <a:pPr algn="l" marL="503859" indent="-251929" lvl="1">
              <a:lnSpc>
                <a:spcPts val="3127"/>
              </a:lnSpc>
              <a:buFont typeface="Arial"/>
              <a:buChar char="•"/>
            </a:pPr>
            <a:r>
              <a:rPr lang="en-US" sz="2333" spc="-65">
                <a:solidFill>
                  <a:srgbClr val="565E8F"/>
                </a:solidFill>
                <a:latin typeface="Open Sauce"/>
                <a:ea typeface="Open Sauce"/>
                <a:cs typeface="Open Sauce"/>
                <a:sym typeface="Open Sauce"/>
              </a:rPr>
              <a:t>LLMs are trained on data up to a cutoff date and don't know your specific documents, company files, or private information</a:t>
            </a:r>
          </a:p>
          <a:p>
            <a:pPr algn="l" marL="503859" indent="-251929" lvl="1">
              <a:lnSpc>
                <a:spcPts val="3127"/>
              </a:lnSpc>
              <a:buFont typeface="Arial"/>
              <a:buChar char="•"/>
            </a:pPr>
            <a:r>
              <a:rPr lang="en-US" sz="2333" spc="-65">
                <a:solidFill>
                  <a:srgbClr val="565E8F"/>
                </a:solidFill>
                <a:latin typeface="Open Sauce"/>
                <a:ea typeface="Open Sauce"/>
                <a:cs typeface="Open Sauce"/>
                <a:sym typeface="Open Sauce"/>
              </a:rPr>
              <a:t>Asking ChatGPT about your company's internal policy manual? It has no idea.</a:t>
            </a:r>
          </a:p>
          <a:p>
            <a:pPr algn="l" marL="0" indent="0" lvl="0">
              <a:lnSpc>
                <a:spcPts val="3127"/>
              </a:lnSpc>
            </a:pPr>
          </a:p>
        </p:txBody>
      </p:sp>
      <p:sp>
        <p:nvSpPr>
          <p:cNvPr name="TextBox 24" id="24"/>
          <p:cNvSpPr txBox="true"/>
          <p:nvPr/>
        </p:nvSpPr>
        <p:spPr>
          <a:xfrm rot="0">
            <a:off x="1114425" y="2107079"/>
            <a:ext cx="11896436" cy="893103"/>
          </a:xfrm>
          <a:prstGeom prst="rect">
            <a:avLst/>
          </a:prstGeom>
        </p:spPr>
        <p:txBody>
          <a:bodyPr anchor="t" rtlCol="false" tIns="0" lIns="0" bIns="0" rIns="0">
            <a:spAutoFit/>
          </a:bodyPr>
          <a:lstStyle/>
          <a:p>
            <a:pPr algn="just" marL="0" indent="0" lvl="0">
              <a:lnSpc>
                <a:spcPts val="6596"/>
              </a:lnSpc>
            </a:pPr>
            <a:r>
              <a:rPr lang="en-US" sz="7329" spc="-439">
                <a:solidFill>
                  <a:srgbClr val="7681BD"/>
                </a:solidFill>
                <a:latin typeface="Open Sauce"/>
                <a:ea typeface="Open Sauce"/>
                <a:cs typeface="Open Sauce"/>
                <a:sym typeface="Open Sauce"/>
              </a:rPr>
              <a:t>What is </a:t>
            </a:r>
            <a:r>
              <a:rPr lang="en-US" b="true" sz="7329" spc="-439">
                <a:solidFill>
                  <a:srgbClr val="7681BD"/>
                </a:solidFill>
                <a:latin typeface="Open Sauce Bold"/>
                <a:ea typeface="Open Sauce Bold"/>
                <a:cs typeface="Open Sauce Bold"/>
                <a:sym typeface="Open Sauce Bold"/>
              </a:rPr>
              <a:t>RAG?</a:t>
            </a:r>
          </a:p>
        </p:txBody>
      </p:sp>
      <p:sp>
        <p:nvSpPr>
          <p:cNvPr name="TextBox 25" id="25"/>
          <p:cNvSpPr txBox="true"/>
          <p:nvPr/>
        </p:nvSpPr>
        <p:spPr>
          <a:xfrm rot="0">
            <a:off x="8075223" y="2247157"/>
            <a:ext cx="17379169" cy="1035050"/>
          </a:xfrm>
          <a:prstGeom prst="rect">
            <a:avLst/>
          </a:prstGeom>
        </p:spPr>
        <p:txBody>
          <a:bodyPr anchor="t" rtlCol="false" tIns="0" lIns="0" bIns="0" rIns="0">
            <a:spAutoFit/>
          </a:bodyPr>
          <a:lstStyle/>
          <a:p>
            <a:pPr algn="l">
              <a:lnSpc>
                <a:spcPts val="3999"/>
              </a:lnSpc>
            </a:pPr>
            <a:r>
              <a:rPr lang="en-US" sz="3999" spc="-239" b="true">
                <a:solidFill>
                  <a:srgbClr val="565E8F"/>
                </a:solidFill>
                <a:latin typeface="Open Sauce Bold"/>
                <a:ea typeface="Open Sauce Bold"/>
                <a:cs typeface="Open Sauce Bold"/>
                <a:sym typeface="Open Sauce Bold"/>
              </a:rPr>
              <a:t>Retrieval-Augmented </a:t>
            </a:r>
          </a:p>
          <a:p>
            <a:pPr algn="l" marL="0" indent="0" lvl="0">
              <a:lnSpc>
                <a:spcPts val="3999"/>
              </a:lnSpc>
            </a:pPr>
            <a:r>
              <a:rPr lang="en-US" b="true" sz="3999" spc="-239">
                <a:solidFill>
                  <a:srgbClr val="565E8F"/>
                </a:solidFill>
                <a:latin typeface="Open Sauce Bold"/>
                <a:ea typeface="Open Sauce Bold"/>
                <a:cs typeface="Open Sauce Bold"/>
                <a:sym typeface="Open Sauce Bold"/>
              </a:rPr>
              <a:t>Generation</a:t>
            </a:r>
          </a:p>
        </p:txBody>
      </p:sp>
      <p:grpSp>
        <p:nvGrpSpPr>
          <p:cNvPr name="Group 26" id="26"/>
          <p:cNvGrpSpPr/>
          <p:nvPr/>
        </p:nvGrpSpPr>
        <p:grpSpPr>
          <a:xfrm rot="0">
            <a:off x="7449725" y="7320321"/>
            <a:ext cx="9933400" cy="2452077"/>
            <a:chOff x="0" y="0"/>
            <a:chExt cx="2616204" cy="645815"/>
          </a:xfrm>
        </p:grpSpPr>
        <p:sp>
          <p:nvSpPr>
            <p:cNvPr name="Freeform 27" id="27"/>
            <p:cNvSpPr/>
            <p:nvPr/>
          </p:nvSpPr>
          <p:spPr>
            <a:xfrm flipH="false" flipV="false" rot="0">
              <a:off x="0" y="0"/>
              <a:ext cx="2616204" cy="645815"/>
            </a:xfrm>
            <a:custGeom>
              <a:avLst/>
              <a:gdLst/>
              <a:ahLst/>
              <a:cxnLst/>
              <a:rect r="r" b="b" t="t" l="l"/>
              <a:pathLst>
                <a:path h="645815" w="2616204">
                  <a:moveTo>
                    <a:pt x="58454" y="0"/>
                  </a:moveTo>
                  <a:lnTo>
                    <a:pt x="2557751" y="0"/>
                  </a:lnTo>
                  <a:cubicBezTo>
                    <a:pt x="2573253" y="0"/>
                    <a:pt x="2588121" y="6158"/>
                    <a:pt x="2599084" y="17121"/>
                  </a:cubicBezTo>
                  <a:cubicBezTo>
                    <a:pt x="2610046" y="28083"/>
                    <a:pt x="2616204" y="42951"/>
                    <a:pt x="2616204" y="58454"/>
                  </a:cubicBezTo>
                  <a:lnTo>
                    <a:pt x="2616204" y="587361"/>
                  </a:lnTo>
                  <a:cubicBezTo>
                    <a:pt x="2616204" y="602864"/>
                    <a:pt x="2610046" y="617732"/>
                    <a:pt x="2599084" y="628694"/>
                  </a:cubicBezTo>
                  <a:cubicBezTo>
                    <a:pt x="2588121" y="639656"/>
                    <a:pt x="2573253" y="645815"/>
                    <a:pt x="2557751" y="645815"/>
                  </a:cubicBezTo>
                  <a:lnTo>
                    <a:pt x="58454" y="645815"/>
                  </a:lnTo>
                  <a:cubicBezTo>
                    <a:pt x="42951" y="645815"/>
                    <a:pt x="28083" y="639656"/>
                    <a:pt x="17121" y="628694"/>
                  </a:cubicBezTo>
                  <a:cubicBezTo>
                    <a:pt x="6158" y="617732"/>
                    <a:pt x="0" y="602864"/>
                    <a:pt x="0" y="587361"/>
                  </a:cubicBezTo>
                  <a:lnTo>
                    <a:pt x="0" y="58454"/>
                  </a:lnTo>
                  <a:cubicBezTo>
                    <a:pt x="0" y="42951"/>
                    <a:pt x="6158" y="28083"/>
                    <a:pt x="17121" y="17121"/>
                  </a:cubicBezTo>
                  <a:cubicBezTo>
                    <a:pt x="28083" y="6158"/>
                    <a:pt x="42951" y="0"/>
                    <a:pt x="58454" y="0"/>
                  </a:cubicBezTo>
                  <a:close/>
                </a:path>
              </a:pathLst>
            </a:custGeom>
            <a:solidFill>
              <a:srgbClr val="565E8F"/>
            </a:solidFill>
            <a:ln w="19050" cap="rnd">
              <a:solidFill>
                <a:srgbClr val="A6B3FF"/>
              </a:solidFill>
              <a:prstDash val="solid"/>
              <a:round/>
            </a:ln>
          </p:spPr>
        </p:sp>
        <p:sp>
          <p:nvSpPr>
            <p:cNvPr name="TextBox 28" id="28"/>
            <p:cNvSpPr txBox="true"/>
            <p:nvPr/>
          </p:nvSpPr>
          <p:spPr>
            <a:xfrm>
              <a:off x="0" y="-38100"/>
              <a:ext cx="2616204" cy="683915"/>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7985569" y="3460000"/>
            <a:ext cx="8779238" cy="3144471"/>
            <a:chOff x="0" y="0"/>
            <a:chExt cx="2312227" cy="828174"/>
          </a:xfrm>
        </p:grpSpPr>
        <p:sp>
          <p:nvSpPr>
            <p:cNvPr name="Freeform 30" id="30"/>
            <p:cNvSpPr/>
            <p:nvPr/>
          </p:nvSpPr>
          <p:spPr>
            <a:xfrm flipH="false" flipV="false" rot="0">
              <a:off x="0" y="0"/>
              <a:ext cx="2312227" cy="828173"/>
            </a:xfrm>
            <a:custGeom>
              <a:avLst/>
              <a:gdLst/>
              <a:ahLst/>
              <a:cxnLst/>
              <a:rect r="r" b="b" t="t" l="l"/>
              <a:pathLst>
                <a:path h="828173" w="2312227">
                  <a:moveTo>
                    <a:pt x="50265" y="0"/>
                  </a:moveTo>
                  <a:lnTo>
                    <a:pt x="2261962" y="0"/>
                  </a:lnTo>
                  <a:cubicBezTo>
                    <a:pt x="2275293" y="0"/>
                    <a:pt x="2288078" y="5296"/>
                    <a:pt x="2297505" y="14722"/>
                  </a:cubicBezTo>
                  <a:cubicBezTo>
                    <a:pt x="2306931" y="24149"/>
                    <a:pt x="2312227" y="36934"/>
                    <a:pt x="2312227" y="50265"/>
                  </a:cubicBezTo>
                  <a:lnTo>
                    <a:pt x="2312227" y="777908"/>
                  </a:lnTo>
                  <a:cubicBezTo>
                    <a:pt x="2312227" y="805669"/>
                    <a:pt x="2289723" y="828173"/>
                    <a:pt x="2261962" y="828173"/>
                  </a:cubicBezTo>
                  <a:lnTo>
                    <a:pt x="50265" y="828173"/>
                  </a:lnTo>
                  <a:cubicBezTo>
                    <a:pt x="36934" y="828173"/>
                    <a:pt x="24149" y="822878"/>
                    <a:pt x="14722" y="813451"/>
                  </a:cubicBezTo>
                  <a:cubicBezTo>
                    <a:pt x="5296" y="804025"/>
                    <a:pt x="0" y="791239"/>
                    <a:pt x="0" y="777908"/>
                  </a:cubicBezTo>
                  <a:lnTo>
                    <a:pt x="0" y="50265"/>
                  </a:lnTo>
                  <a:cubicBezTo>
                    <a:pt x="0" y="36934"/>
                    <a:pt x="5296" y="24149"/>
                    <a:pt x="14722" y="14722"/>
                  </a:cubicBezTo>
                  <a:cubicBezTo>
                    <a:pt x="24149" y="5296"/>
                    <a:pt x="36934" y="0"/>
                    <a:pt x="50265" y="0"/>
                  </a:cubicBezTo>
                  <a:close/>
                </a:path>
              </a:pathLst>
            </a:custGeom>
            <a:solidFill>
              <a:srgbClr val="CFD5F4"/>
            </a:solidFill>
            <a:ln w="19050" cap="rnd">
              <a:solidFill>
                <a:srgbClr val="A6B3FF"/>
              </a:solidFill>
              <a:prstDash val="solid"/>
              <a:round/>
            </a:ln>
          </p:spPr>
        </p:sp>
        <p:sp>
          <p:nvSpPr>
            <p:cNvPr name="TextBox 31" id="31"/>
            <p:cNvSpPr txBox="true"/>
            <p:nvPr/>
          </p:nvSpPr>
          <p:spPr>
            <a:xfrm>
              <a:off x="0" y="-38100"/>
              <a:ext cx="2312227" cy="866274"/>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227067" y="3793130"/>
            <a:ext cx="7939332" cy="2436819"/>
          </a:xfrm>
          <a:prstGeom prst="rect">
            <a:avLst/>
          </a:prstGeom>
        </p:spPr>
        <p:txBody>
          <a:bodyPr anchor="t" rtlCol="false" tIns="0" lIns="0" bIns="0" rIns="0">
            <a:spAutoFit/>
          </a:bodyPr>
          <a:lstStyle/>
          <a:p>
            <a:pPr algn="l" marL="495961" indent="-247981" lvl="1">
              <a:lnSpc>
                <a:spcPts val="3216"/>
              </a:lnSpc>
              <a:buFont typeface="Arial"/>
              <a:buChar char="•"/>
            </a:pPr>
            <a:r>
              <a:rPr lang="en-US" sz="2297" spc="-110">
                <a:solidFill>
                  <a:srgbClr val="565E8F"/>
                </a:solidFill>
                <a:latin typeface="Open Sauce"/>
                <a:ea typeface="Open Sauce"/>
                <a:cs typeface="Open Sauce"/>
                <a:sym typeface="Open Sauce"/>
              </a:rPr>
              <a:t>Before the AI answers, it first </a:t>
            </a:r>
            <a:r>
              <a:rPr lang="en-US" b="true" sz="2297" i="true" spc="-110">
                <a:solidFill>
                  <a:srgbClr val="565E8F"/>
                </a:solidFill>
                <a:latin typeface="Open Sauce Bold Italics"/>
                <a:ea typeface="Open Sauce Bold Italics"/>
                <a:cs typeface="Open Sauce Bold Italics"/>
                <a:sym typeface="Open Sauce Bold Italics"/>
              </a:rPr>
              <a:t>retrieves</a:t>
            </a:r>
            <a:r>
              <a:rPr lang="en-US" sz="2297" spc="-110">
                <a:solidFill>
                  <a:srgbClr val="565E8F"/>
                </a:solidFill>
                <a:latin typeface="Open Sauce"/>
                <a:ea typeface="Open Sauce"/>
                <a:cs typeface="Open Sauce"/>
                <a:sym typeface="Open Sauce"/>
              </a:rPr>
              <a:t> relevant information from a document library you provide</a:t>
            </a:r>
          </a:p>
          <a:p>
            <a:pPr algn="l" marL="495961" indent="-247981" lvl="1">
              <a:lnSpc>
                <a:spcPts val="3216"/>
              </a:lnSpc>
              <a:buFont typeface="Arial"/>
              <a:buChar char="•"/>
            </a:pPr>
            <a:r>
              <a:rPr lang="en-US" sz="2297" spc="-110">
                <a:solidFill>
                  <a:srgbClr val="565E8F"/>
                </a:solidFill>
                <a:latin typeface="Open Sauce"/>
                <a:ea typeface="Open Sauce"/>
                <a:cs typeface="Open Sauce"/>
                <a:sym typeface="Open Sauce"/>
              </a:rPr>
              <a:t>Then it uses that retrieved context to </a:t>
            </a:r>
            <a:r>
              <a:rPr lang="en-US" b="true" sz="2297" spc="-110">
                <a:solidFill>
                  <a:srgbClr val="565E8F"/>
                </a:solidFill>
                <a:latin typeface="Open Sauce Bold"/>
                <a:ea typeface="Open Sauce Bold"/>
                <a:cs typeface="Open Sauce Bold"/>
                <a:sym typeface="Open Sauce Bold"/>
              </a:rPr>
              <a:t>generate a more accurate, grounded answer</a:t>
            </a:r>
          </a:p>
          <a:p>
            <a:pPr algn="l" marL="495961" indent="-247981" lvl="1">
              <a:lnSpc>
                <a:spcPts val="3216"/>
              </a:lnSpc>
              <a:buFont typeface="Arial"/>
              <a:buChar char="•"/>
            </a:pPr>
            <a:r>
              <a:rPr lang="en-US" sz="2297" spc="-110">
                <a:solidFill>
                  <a:srgbClr val="565E8F"/>
                </a:solidFill>
                <a:latin typeface="Open Sauce"/>
                <a:ea typeface="Open Sauce"/>
                <a:cs typeface="Open Sauce"/>
                <a:sym typeface="Open Sauce"/>
              </a:rPr>
              <a:t>Think of it like an open-book exam vs. a closed-book one → </a:t>
            </a:r>
            <a:r>
              <a:rPr lang="en-US" b="true" sz="2297" spc="-110">
                <a:solidFill>
                  <a:srgbClr val="565E8F"/>
                </a:solidFill>
                <a:latin typeface="Open Sauce Bold"/>
                <a:ea typeface="Open Sauce Bold"/>
                <a:cs typeface="Open Sauce Bold"/>
                <a:sym typeface="Open Sauce Bold"/>
              </a:rPr>
              <a:t>RAG lets the AI use the book</a:t>
            </a:r>
          </a:p>
        </p:txBody>
      </p:sp>
      <p:sp>
        <p:nvSpPr>
          <p:cNvPr name="TextBox 33" id="33"/>
          <p:cNvSpPr txBox="true"/>
          <p:nvPr/>
        </p:nvSpPr>
        <p:spPr>
          <a:xfrm rot="0">
            <a:off x="7928011" y="7550447"/>
            <a:ext cx="9455114" cy="2326651"/>
          </a:xfrm>
          <a:prstGeom prst="rect">
            <a:avLst/>
          </a:prstGeom>
        </p:spPr>
        <p:txBody>
          <a:bodyPr anchor="t" rtlCol="false" tIns="0" lIns="0" bIns="0" rIns="0">
            <a:spAutoFit/>
          </a:bodyPr>
          <a:lstStyle/>
          <a:p>
            <a:pPr algn="l">
              <a:lnSpc>
                <a:spcPts val="3799"/>
              </a:lnSpc>
            </a:pPr>
            <a:r>
              <a:rPr lang="en-US" sz="2835" spc="-170" b="true">
                <a:solidFill>
                  <a:srgbClr val="F0F2FF"/>
                </a:solidFill>
                <a:latin typeface="Open Sauce Bold"/>
                <a:ea typeface="Open Sauce Bold"/>
                <a:cs typeface="Open Sauce Bold"/>
                <a:sym typeface="Open Sauce Bold"/>
              </a:rPr>
              <a:t>Everyday Use Cases</a:t>
            </a:r>
          </a:p>
          <a:p>
            <a:pPr algn="l" marL="482564" indent="-241282" lvl="1">
              <a:lnSpc>
                <a:spcPts val="2995"/>
              </a:lnSpc>
              <a:buFont typeface="Arial"/>
              <a:buChar char="•"/>
            </a:pPr>
            <a:r>
              <a:rPr lang="en-US" sz="2235" spc="-134">
                <a:solidFill>
                  <a:srgbClr val="F0F2FF"/>
                </a:solidFill>
                <a:latin typeface="Open Sauce"/>
                <a:ea typeface="Open Sauce"/>
                <a:cs typeface="Open Sauce"/>
                <a:sym typeface="Open Sauce"/>
              </a:rPr>
              <a:t>Customer support bot that actually knows your company's return policy</a:t>
            </a:r>
          </a:p>
          <a:p>
            <a:pPr algn="l" marL="482564" indent="-241282" lvl="1">
              <a:lnSpc>
                <a:spcPts val="2995"/>
              </a:lnSpc>
              <a:buFont typeface="Arial"/>
              <a:buChar char="•"/>
            </a:pPr>
            <a:r>
              <a:rPr lang="en-US" sz="2235" spc="-134">
                <a:solidFill>
                  <a:srgbClr val="F0F2FF"/>
                </a:solidFill>
                <a:latin typeface="Open Sauce"/>
                <a:ea typeface="Open Sauce"/>
                <a:cs typeface="Open Sauce"/>
                <a:sym typeface="Open Sauce"/>
              </a:rPr>
              <a:t>Asking questions over a 100-page research report</a:t>
            </a:r>
          </a:p>
          <a:p>
            <a:pPr algn="l" marL="482564" indent="-241282" lvl="1">
              <a:lnSpc>
                <a:spcPts val="2995"/>
              </a:lnSpc>
              <a:buFont typeface="Arial"/>
              <a:buChar char="•"/>
            </a:pPr>
            <a:r>
              <a:rPr lang="en-US" sz="2235" spc="-134">
                <a:solidFill>
                  <a:srgbClr val="F0F2FF"/>
                </a:solidFill>
                <a:latin typeface="Open Sauce"/>
                <a:ea typeface="Open Sauce"/>
                <a:cs typeface="Open Sauce"/>
                <a:sym typeface="Open Sauce"/>
              </a:rPr>
              <a:t>A study tool that answers questions based only on your class notes</a:t>
            </a:r>
          </a:p>
          <a:p>
            <a:pPr algn="l" marL="482564" indent="-241282" lvl="1">
              <a:lnSpc>
                <a:spcPts val="2995"/>
              </a:lnSpc>
              <a:buFont typeface="Arial"/>
              <a:buChar char="•"/>
            </a:pPr>
            <a:r>
              <a:rPr lang="en-US" sz="2235" spc="-134">
                <a:solidFill>
                  <a:srgbClr val="F0F2FF"/>
                </a:solidFill>
                <a:latin typeface="Open Sauce"/>
                <a:ea typeface="Open Sauce"/>
                <a:cs typeface="Open Sauce"/>
                <a:sym typeface="Open Sauce"/>
              </a:rPr>
              <a:t>Legal or HR teams querying internal policy documents</a:t>
            </a:r>
          </a:p>
          <a:p>
            <a:pPr algn="l" marL="0" indent="0" lvl="0">
              <a:lnSpc>
                <a:spcPts val="2995"/>
              </a:lnSpc>
            </a:pPr>
          </a:p>
        </p:txBody>
      </p:sp>
      <p:grpSp>
        <p:nvGrpSpPr>
          <p:cNvPr name="Group 34" id="34"/>
          <p:cNvGrpSpPr/>
          <p:nvPr/>
        </p:nvGrpSpPr>
        <p:grpSpPr>
          <a:xfrm rot="0">
            <a:off x="1421896" y="6781364"/>
            <a:ext cx="4959624" cy="2769534"/>
            <a:chOff x="0" y="0"/>
            <a:chExt cx="1306238" cy="729425"/>
          </a:xfrm>
        </p:grpSpPr>
        <p:sp>
          <p:nvSpPr>
            <p:cNvPr name="Freeform 35" id="35"/>
            <p:cNvSpPr/>
            <p:nvPr/>
          </p:nvSpPr>
          <p:spPr>
            <a:xfrm flipH="false" flipV="false" rot="0">
              <a:off x="0" y="0"/>
              <a:ext cx="1306238" cy="729425"/>
            </a:xfrm>
            <a:custGeom>
              <a:avLst/>
              <a:gdLst/>
              <a:ahLst/>
              <a:cxnLst/>
              <a:rect r="r" b="b" t="t" l="l"/>
              <a:pathLst>
                <a:path h="729425" w="1306238">
                  <a:moveTo>
                    <a:pt x="88976" y="0"/>
                  </a:moveTo>
                  <a:lnTo>
                    <a:pt x="1217262" y="0"/>
                  </a:lnTo>
                  <a:cubicBezTo>
                    <a:pt x="1240860" y="0"/>
                    <a:pt x="1263492" y="9374"/>
                    <a:pt x="1280178" y="26061"/>
                  </a:cubicBezTo>
                  <a:cubicBezTo>
                    <a:pt x="1296864" y="42747"/>
                    <a:pt x="1306238" y="65378"/>
                    <a:pt x="1306238" y="88976"/>
                  </a:cubicBezTo>
                  <a:lnTo>
                    <a:pt x="1306238" y="640448"/>
                  </a:lnTo>
                  <a:cubicBezTo>
                    <a:pt x="1306238" y="664046"/>
                    <a:pt x="1296864" y="686678"/>
                    <a:pt x="1280178" y="703364"/>
                  </a:cubicBezTo>
                  <a:cubicBezTo>
                    <a:pt x="1263492" y="720050"/>
                    <a:pt x="1240860" y="729425"/>
                    <a:pt x="1217262" y="729425"/>
                  </a:cubicBezTo>
                  <a:lnTo>
                    <a:pt x="88976" y="729425"/>
                  </a:lnTo>
                  <a:cubicBezTo>
                    <a:pt x="65378" y="729425"/>
                    <a:pt x="42747" y="720050"/>
                    <a:pt x="26061" y="703364"/>
                  </a:cubicBezTo>
                  <a:cubicBezTo>
                    <a:pt x="9374" y="686678"/>
                    <a:pt x="0" y="664046"/>
                    <a:pt x="0" y="640448"/>
                  </a:cubicBezTo>
                  <a:lnTo>
                    <a:pt x="0" y="88976"/>
                  </a:lnTo>
                  <a:cubicBezTo>
                    <a:pt x="0" y="65378"/>
                    <a:pt x="9374" y="42747"/>
                    <a:pt x="26061" y="26061"/>
                  </a:cubicBezTo>
                  <a:cubicBezTo>
                    <a:pt x="42747" y="9374"/>
                    <a:pt x="65378" y="0"/>
                    <a:pt x="88976" y="0"/>
                  </a:cubicBezTo>
                  <a:close/>
                </a:path>
              </a:pathLst>
            </a:custGeom>
            <a:solidFill>
              <a:srgbClr val="CFD5F4"/>
            </a:solidFill>
            <a:ln w="19050" cap="rnd">
              <a:solidFill>
                <a:srgbClr val="A6B3FF"/>
              </a:solidFill>
              <a:prstDash val="solid"/>
              <a:round/>
            </a:ln>
          </p:spPr>
        </p:sp>
        <p:sp>
          <p:nvSpPr>
            <p:cNvPr name="TextBox 36" id="36"/>
            <p:cNvSpPr txBox="true"/>
            <p:nvPr/>
          </p:nvSpPr>
          <p:spPr>
            <a:xfrm>
              <a:off x="0" y="-38100"/>
              <a:ext cx="1306238" cy="767525"/>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746737" y="7145290"/>
            <a:ext cx="4309942" cy="3184588"/>
          </a:xfrm>
          <a:prstGeom prst="rect">
            <a:avLst/>
          </a:prstGeom>
        </p:spPr>
        <p:txBody>
          <a:bodyPr anchor="t" rtlCol="false" tIns="0" lIns="0" bIns="0" rIns="0">
            <a:spAutoFit/>
          </a:bodyPr>
          <a:lstStyle/>
          <a:p>
            <a:pPr algn="l">
              <a:lnSpc>
                <a:spcPts val="3158"/>
              </a:lnSpc>
            </a:pPr>
            <a:r>
              <a:rPr lang="en-US" sz="2699" spc="-161" b="true">
                <a:solidFill>
                  <a:srgbClr val="565E8F"/>
                </a:solidFill>
                <a:latin typeface="Open Sauce Bold"/>
                <a:ea typeface="Open Sauce Bold"/>
                <a:cs typeface="Open Sauce Bold"/>
                <a:sym typeface="Open Sauce Bold"/>
              </a:rPr>
              <a:t>One-line summary: </a:t>
            </a:r>
            <a:r>
              <a:rPr lang="en-US" sz="2699" spc="-161">
                <a:solidFill>
                  <a:srgbClr val="565E8F"/>
                </a:solidFill>
                <a:latin typeface="Open Sauce"/>
                <a:ea typeface="Open Sauce"/>
                <a:cs typeface="Open Sauce"/>
                <a:sym typeface="Open Sauce"/>
              </a:rPr>
              <a:t>give the AI your documents so it can answer questions about your world, not just the general internet.</a:t>
            </a:r>
          </a:p>
          <a:p>
            <a:pPr algn="l">
              <a:lnSpc>
                <a:spcPts val="4679"/>
              </a:lnSpc>
            </a:pPr>
          </a:p>
          <a:p>
            <a:pPr algn="l" marL="0" indent="0" lvl="0">
              <a:lnSpc>
                <a:spcPts val="467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3">
              <a:alphaModFix amt="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5099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5"/>
              <a:stretch>
                <a:fillRect l="0" t="0" r="0" b="0"/>
              </a:stretch>
            </a:blipFill>
          </p:spPr>
        </p:sp>
      </p:grpSp>
      <p:grpSp>
        <p:nvGrpSpPr>
          <p:cNvPr name="Group 17" id="17"/>
          <p:cNvGrpSpPr/>
          <p:nvPr/>
        </p:nvGrpSpPr>
        <p:grpSpPr>
          <a:xfrm rot="0">
            <a:off x="752690" y="2241754"/>
            <a:ext cx="8115300" cy="4771471"/>
            <a:chOff x="0" y="0"/>
            <a:chExt cx="2205817" cy="1296932"/>
          </a:xfrm>
        </p:grpSpPr>
        <p:sp>
          <p:nvSpPr>
            <p:cNvPr name="Freeform 18" id="18"/>
            <p:cNvSpPr/>
            <p:nvPr/>
          </p:nvSpPr>
          <p:spPr>
            <a:xfrm flipH="false" flipV="false" rot="0">
              <a:off x="0" y="0"/>
              <a:ext cx="2205817" cy="1296932"/>
            </a:xfrm>
            <a:custGeom>
              <a:avLst/>
              <a:gdLst/>
              <a:ahLst/>
              <a:cxnLst/>
              <a:rect r="r" b="b" t="t" l="l"/>
              <a:pathLst>
                <a:path h="1296932" w="2205817">
                  <a:moveTo>
                    <a:pt x="57239" y="0"/>
                  </a:moveTo>
                  <a:lnTo>
                    <a:pt x="2148577" y="0"/>
                  </a:lnTo>
                  <a:cubicBezTo>
                    <a:pt x="2163758" y="0"/>
                    <a:pt x="2178317" y="6031"/>
                    <a:pt x="2189052" y="16765"/>
                  </a:cubicBezTo>
                  <a:cubicBezTo>
                    <a:pt x="2199786" y="27500"/>
                    <a:pt x="2205817" y="42059"/>
                    <a:pt x="2205817" y="57239"/>
                  </a:cubicBezTo>
                  <a:lnTo>
                    <a:pt x="2205817" y="1239692"/>
                  </a:lnTo>
                  <a:cubicBezTo>
                    <a:pt x="2205817" y="1254873"/>
                    <a:pt x="2199786" y="1269432"/>
                    <a:pt x="2189052" y="1280167"/>
                  </a:cubicBezTo>
                  <a:cubicBezTo>
                    <a:pt x="2178317" y="1290901"/>
                    <a:pt x="2163758" y="1296932"/>
                    <a:pt x="2148577" y="1296932"/>
                  </a:cubicBezTo>
                  <a:lnTo>
                    <a:pt x="57239" y="1296932"/>
                  </a:lnTo>
                  <a:cubicBezTo>
                    <a:pt x="42059" y="1296932"/>
                    <a:pt x="27500" y="1290901"/>
                    <a:pt x="16765" y="1280167"/>
                  </a:cubicBezTo>
                  <a:cubicBezTo>
                    <a:pt x="6031" y="1269432"/>
                    <a:pt x="0" y="1254873"/>
                    <a:pt x="0" y="1239692"/>
                  </a:cubicBezTo>
                  <a:lnTo>
                    <a:pt x="0" y="57239"/>
                  </a:lnTo>
                  <a:cubicBezTo>
                    <a:pt x="0" y="42059"/>
                    <a:pt x="6031" y="27500"/>
                    <a:pt x="16765" y="16765"/>
                  </a:cubicBezTo>
                  <a:cubicBezTo>
                    <a:pt x="27500" y="6031"/>
                    <a:pt x="42059" y="0"/>
                    <a:pt x="57239" y="0"/>
                  </a:cubicBezTo>
                  <a:close/>
                </a:path>
              </a:pathLst>
            </a:custGeom>
            <a:solidFill>
              <a:srgbClr val="F0F2FF">
                <a:alpha val="77647"/>
              </a:srgbClr>
            </a:solidFill>
            <a:ln w="19050" cap="rnd">
              <a:solidFill>
                <a:srgbClr val="A6B3FF">
                  <a:alpha val="77647"/>
                </a:srgbClr>
              </a:solidFill>
              <a:prstDash val="solid"/>
              <a:round/>
            </a:ln>
          </p:spPr>
        </p:sp>
        <p:sp>
          <p:nvSpPr>
            <p:cNvPr name="TextBox 19" id="19"/>
            <p:cNvSpPr txBox="true"/>
            <p:nvPr/>
          </p:nvSpPr>
          <p:spPr>
            <a:xfrm>
              <a:off x="0" y="-38100"/>
              <a:ext cx="2205817" cy="133503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863661" y="7355513"/>
            <a:ext cx="5767835" cy="684578"/>
            <a:chOff x="0" y="0"/>
            <a:chExt cx="1599259" cy="189814"/>
          </a:xfrm>
        </p:grpSpPr>
        <p:sp>
          <p:nvSpPr>
            <p:cNvPr name="Freeform 21" id="21"/>
            <p:cNvSpPr/>
            <p:nvPr/>
          </p:nvSpPr>
          <p:spPr>
            <a:xfrm flipH="false" flipV="false" rot="0">
              <a:off x="0" y="0"/>
              <a:ext cx="1599259" cy="189814"/>
            </a:xfrm>
            <a:custGeom>
              <a:avLst/>
              <a:gdLst/>
              <a:ahLst/>
              <a:cxnLst/>
              <a:rect r="r" b="b" t="t" l="l"/>
              <a:pathLst>
                <a:path h="189814" w="1599259">
                  <a:moveTo>
                    <a:pt x="94907" y="0"/>
                  </a:moveTo>
                  <a:lnTo>
                    <a:pt x="1504352" y="0"/>
                  </a:lnTo>
                  <a:cubicBezTo>
                    <a:pt x="1529523" y="0"/>
                    <a:pt x="1553663" y="9999"/>
                    <a:pt x="1571461" y="27798"/>
                  </a:cubicBezTo>
                  <a:cubicBezTo>
                    <a:pt x="1589260" y="45596"/>
                    <a:pt x="1599259" y="69736"/>
                    <a:pt x="1599259" y="94907"/>
                  </a:cubicBezTo>
                  <a:lnTo>
                    <a:pt x="1599259" y="94907"/>
                  </a:lnTo>
                  <a:cubicBezTo>
                    <a:pt x="1599259" y="147323"/>
                    <a:pt x="1556767" y="189814"/>
                    <a:pt x="1504352" y="189814"/>
                  </a:cubicBezTo>
                  <a:lnTo>
                    <a:pt x="94907" y="189814"/>
                  </a:lnTo>
                  <a:cubicBezTo>
                    <a:pt x="69736" y="189814"/>
                    <a:pt x="45596" y="179815"/>
                    <a:pt x="27798" y="162017"/>
                  </a:cubicBezTo>
                  <a:cubicBezTo>
                    <a:pt x="9999" y="144218"/>
                    <a:pt x="0" y="120078"/>
                    <a:pt x="0" y="94907"/>
                  </a:cubicBezTo>
                  <a:lnTo>
                    <a:pt x="0" y="94907"/>
                  </a:lnTo>
                  <a:cubicBezTo>
                    <a:pt x="0" y="69736"/>
                    <a:pt x="9999" y="45596"/>
                    <a:pt x="27798" y="27798"/>
                  </a:cubicBezTo>
                  <a:cubicBezTo>
                    <a:pt x="45596" y="9999"/>
                    <a:pt x="69736" y="0"/>
                    <a:pt x="94907" y="0"/>
                  </a:cubicBezTo>
                  <a:close/>
                </a:path>
              </a:pathLst>
            </a:custGeom>
            <a:solidFill>
              <a:srgbClr val="C4CAED">
                <a:alpha val="74902"/>
              </a:srgbClr>
            </a:solidFill>
            <a:ln w="19050" cap="rnd">
              <a:solidFill>
                <a:srgbClr val="7681BD">
                  <a:alpha val="74902"/>
                </a:srgbClr>
              </a:solidFill>
              <a:prstDash val="solid"/>
              <a:round/>
            </a:ln>
          </p:spPr>
        </p:sp>
        <p:sp>
          <p:nvSpPr>
            <p:cNvPr name="TextBox 22" id="22"/>
            <p:cNvSpPr txBox="true"/>
            <p:nvPr/>
          </p:nvSpPr>
          <p:spPr>
            <a:xfrm>
              <a:off x="0" y="-19050"/>
              <a:ext cx="1599259" cy="208864"/>
            </a:xfrm>
            <a:prstGeom prst="rect">
              <a:avLst/>
            </a:prstGeom>
          </p:spPr>
          <p:txBody>
            <a:bodyPr anchor="ctr" rtlCol="false" tIns="50800" lIns="50800" bIns="50800" rIns="50800"/>
            <a:lstStyle/>
            <a:p>
              <a:pPr algn="ctr">
                <a:lnSpc>
                  <a:spcPts val="1540"/>
                </a:lnSpc>
              </a:pPr>
            </a:p>
          </p:txBody>
        </p:sp>
      </p:grpSp>
      <p:grpSp>
        <p:nvGrpSpPr>
          <p:cNvPr name="Group 23" id="23"/>
          <p:cNvGrpSpPr/>
          <p:nvPr/>
        </p:nvGrpSpPr>
        <p:grpSpPr>
          <a:xfrm rot="0">
            <a:off x="9139327" y="2241754"/>
            <a:ext cx="3951048" cy="4875424"/>
            <a:chOff x="0" y="0"/>
            <a:chExt cx="1095515" cy="1351818"/>
          </a:xfrm>
        </p:grpSpPr>
        <p:sp>
          <p:nvSpPr>
            <p:cNvPr name="Freeform 24" id="24"/>
            <p:cNvSpPr/>
            <p:nvPr/>
          </p:nvSpPr>
          <p:spPr>
            <a:xfrm flipH="false" flipV="false" rot="0">
              <a:off x="0" y="0"/>
              <a:ext cx="1095515" cy="1351818"/>
            </a:xfrm>
            <a:custGeom>
              <a:avLst/>
              <a:gdLst/>
              <a:ahLst/>
              <a:cxnLst/>
              <a:rect r="r" b="b" t="t" l="l"/>
              <a:pathLst>
                <a:path h="1351818" w="1095515">
                  <a:moveTo>
                    <a:pt x="146960" y="0"/>
                  </a:moveTo>
                  <a:lnTo>
                    <a:pt x="948555" y="0"/>
                  </a:lnTo>
                  <a:cubicBezTo>
                    <a:pt x="987531" y="0"/>
                    <a:pt x="1024911" y="15483"/>
                    <a:pt x="1052471" y="43043"/>
                  </a:cubicBezTo>
                  <a:cubicBezTo>
                    <a:pt x="1080031" y="70604"/>
                    <a:pt x="1095515" y="107983"/>
                    <a:pt x="1095515" y="146960"/>
                  </a:cubicBezTo>
                  <a:lnTo>
                    <a:pt x="1095515" y="1204859"/>
                  </a:lnTo>
                  <a:cubicBezTo>
                    <a:pt x="1095515" y="1286022"/>
                    <a:pt x="1029719" y="1351818"/>
                    <a:pt x="948555" y="1351818"/>
                  </a:cubicBezTo>
                  <a:lnTo>
                    <a:pt x="146960" y="1351818"/>
                  </a:lnTo>
                  <a:cubicBezTo>
                    <a:pt x="107983" y="1351818"/>
                    <a:pt x="70604" y="1336335"/>
                    <a:pt x="43043" y="1308775"/>
                  </a:cubicBezTo>
                  <a:cubicBezTo>
                    <a:pt x="15483" y="1281215"/>
                    <a:pt x="0" y="1243835"/>
                    <a:pt x="0" y="1204859"/>
                  </a:cubicBezTo>
                  <a:lnTo>
                    <a:pt x="0" y="146960"/>
                  </a:lnTo>
                  <a:cubicBezTo>
                    <a:pt x="0" y="65796"/>
                    <a:pt x="65796" y="0"/>
                    <a:pt x="146960" y="0"/>
                  </a:cubicBezTo>
                  <a:close/>
                </a:path>
              </a:pathLst>
            </a:custGeom>
            <a:solidFill>
              <a:srgbClr val="9CA5DA">
                <a:alpha val="74902"/>
              </a:srgbClr>
            </a:solidFill>
            <a:ln w="19050" cap="rnd">
              <a:solidFill>
                <a:srgbClr val="7681BD">
                  <a:alpha val="74902"/>
                </a:srgbClr>
              </a:solidFill>
              <a:prstDash val="solid"/>
              <a:round/>
            </a:ln>
          </p:spPr>
        </p:sp>
        <p:sp>
          <p:nvSpPr>
            <p:cNvPr name="TextBox 25" id="25"/>
            <p:cNvSpPr txBox="true"/>
            <p:nvPr/>
          </p:nvSpPr>
          <p:spPr>
            <a:xfrm>
              <a:off x="0" y="-19050"/>
              <a:ext cx="1095515" cy="1370868"/>
            </a:xfrm>
            <a:prstGeom prst="rect">
              <a:avLst/>
            </a:prstGeom>
          </p:spPr>
          <p:txBody>
            <a:bodyPr anchor="ctr" rtlCol="false" tIns="50800" lIns="50800" bIns="50800" rIns="50800"/>
            <a:lstStyle/>
            <a:p>
              <a:pPr algn="ctr">
                <a:lnSpc>
                  <a:spcPts val="1540"/>
                </a:lnSpc>
              </a:pPr>
            </a:p>
          </p:txBody>
        </p:sp>
      </p:grpSp>
      <p:grpSp>
        <p:nvGrpSpPr>
          <p:cNvPr name="Group 26" id="26"/>
          <p:cNvGrpSpPr/>
          <p:nvPr/>
        </p:nvGrpSpPr>
        <p:grpSpPr>
          <a:xfrm rot="0">
            <a:off x="13316184" y="2241754"/>
            <a:ext cx="4237245" cy="4350174"/>
            <a:chOff x="0" y="0"/>
            <a:chExt cx="1174869" cy="1206181"/>
          </a:xfrm>
        </p:grpSpPr>
        <p:sp>
          <p:nvSpPr>
            <p:cNvPr name="Freeform 27" id="27"/>
            <p:cNvSpPr/>
            <p:nvPr/>
          </p:nvSpPr>
          <p:spPr>
            <a:xfrm flipH="false" flipV="false" rot="0">
              <a:off x="0" y="0"/>
              <a:ext cx="1174869" cy="1206181"/>
            </a:xfrm>
            <a:custGeom>
              <a:avLst/>
              <a:gdLst/>
              <a:ahLst/>
              <a:cxnLst/>
              <a:rect r="r" b="b" t="t" l="l"/>
              <a:pathLst>
                <a:path h="1206181" w="1174869">
                  <a:moveTo>
                    <a:pt x="137033" y="0"/>
                  </a:moveTo>
                  <a:lnTo>
                    <a:pt x="1037836" y="0"/>
                  </a:lnTo>
                  <a:cubicBezTo>
                    <a:pt x="1113517" y="0"/>
                    <a:pt x="1174869" y="61352"/>
                    <a:pt x="1174869" y="137033"/>
                  </a:cubicBezTo>
                  <a:lnTo>
                    <a:pt x="1174869" y="1069148"/>
                  </a:lnTo>
                  <a:cubicBezTo>
                    <a:pt x="1174869" y="1144829"/>
                    <a:pt x="1113517" y="1206181"/>
                    <a:pt x="1037836" y="1206181"/>
                  </a:cubicBezTo>
                  <a:lnTo>
                    <a:pt x="137033" y="1206181"/>
                  </a:lnTo>
                  <a:cubicBezTo>
                    <a:pt x="61352" y="1206181"/>
                    <a:pt x="0" y="1144829"/>
                    <a:pt x="0" y="1069148"/>
                  </a:cubicBezTo>
                  <a:lnTo>
                    <a:pt x="0" y="137033"/>
                  </a:lnTo>
                  <a:cubicBezTo>
                    <a:pt x="0" y="61352"/>
                    <a:pt x="61352" y="0"/>
                    <a:pt x="137033" y="0"/>
                  </a:cubicBezTo>
                  <a:close/>
                </a:path>
              </a:pathLst>
            </a:custGeom>
            <a:solidFill>
              <a:srgbClr val="777FC4">
                <a:alpha val="74902"/>
              </a:srgbClr>
            </a:solidFill>
            <a:ln w="19050" cap="rnd">
              <a:solidFill>
                <a:srgbClr val="7681BD">
                  <a:alpha val="74902"/>
                </a:srgbClr>
              </a:solidFill>
              <a:prstDash val="solid"/>
              <a:round/>
            </a:ln>
          </p:spPr>
        </p:sp>
        <p:sp>
          <p:nvSpPr>
            <p:cNvPr name="TextBox 28" id="28"/>
            <p:cNvSpPr txBox="true"/>
            <p:nvPr/>
          </p:nvSpPr>
          <p:spPr>
            <a:xfrm>
              <a:off x="0" y="-19050"/>
              <a:ext cx="1174869" cy="1225231"/>
            </a:xfrm>
            <a:prstGeom prst="rect">
              <a:avLst/>
            </a:prstGeom>
          </p:spPr>
          <p:txBody>
            <a:bodyPr anchor="ctr" rtlCol="false" tIns="50800" lIns="50800" bIns="50800" rIns="50800"/>
            <a:lstStyle/>
            <a:p>
              <a:pPr algn="ctr">
                <a:lnSpc>
                  <a:spcPts val="1540"/>
                </a:lnSpc>
              </a:pPr>
            </a:p>
          </p:txBody>
        </p:sp>
      </p:grpSp>
      <p:sp>
        <p:nvSpPr>
          <p:cNvPr name="TextBox 29" id="29"/>
          <p:cNvSpPr txBox="true"/>
          <p:nvPr/>
        </p:nvSpPr>
        <p:spPr>
          <a:xfrm rot="0">
            <a:off x="1208785" y="2755389"/>
            <a:ext cx="7145960" cy="4391081"/>
          </a:xfrm>
          <a:prstGeom prst="rect">
            <a:avLst/>
          </a:prstGeom>
        </p:spPr>
        <p:txBody>
          <a:bodyPr anchor="t" rtlCol="false" tIns="0" lIns="0" bIns="0" rIns="0">
            <a:spAutoFit/>
          </a:bodyPr>
          <a:lstStyle/>
          <a:p>
            <a:pPr algn="l">
              <a:lnSpc>
                <a:spcPts val="9044"/>
              </a:lnSpc>
            </a:pPr>
            <a:r>
              <a:rPr lang="en-US" sz="7933" spc="-198" b="true">
                <a:solidFill>
                  <a:srgbClr val="777FC4"/>
                </a:solidFill>
                <a:latin typeface="HK Grotesk Bold"/>
                <a:ea typeface="HK Grotesk Bold"/>
                <a:cs typeface="HK Grotesk Bold"/>
                <a:sym typeface="HK Grotesk Bold"/>
              </a:rPr>
              <a:t>Notebook</a:t>
            </a:r>
            <a:r>
              <a:rPr lang="en-US" sz="7933" spc="-198" b="true">
                <a:solidFill>
                  <a:srgbClr val="9CA5DA"/>
                </a:solidFill>
                <a:latin typeface="HK Grotesk Bold"/>
                <a:ea typeface="HK Grotesk Bold"/>
                <a:cs typeface="HK Grotesk Bold"/>
                <a:sym typeface="HK Grotesk Bold"/>
              </a:rPr>
              <a:t>LM</a:t>
            </a:r>
            <a:r>
              <a:rPr lang="en-US" sz="7933" spc="-198" b="true">
                <a:solidFill>
                  <a:srgbClr val="3E4572"/>
                </a:solidFill>
                <a:latin typeface="HK Grotesk Bold"/>
                <a:ea typeface="HK Grotesk Bold"/>
                <a:cs typeface="HK Grotesk Bold"/>
                <a:sym typeface="HK Grotesk Bold"/>
              </a:rPr>
              <a:t> </a:t>
            </a:r>
            <a:r>
              <a:rPr lang="en-US" sz="7933" spc="-198" b="true">
                <a:solidFill>
                  <a:srgbClr val="777FC4"/>
                </a:solidFill>
                <a:latin typeface="HK Grotesk Bold"/>
                <a:ea typeface="HK Grotesk Bold"/>
                <a:cs typeface="HK Grotesk Bold"/>
                <a:sym typeface="HK Grotesk Bold"/>
              </a:rPr>
              <a:t> </a:t>
            </a:r>
          </a:p>
          <a:p>
            <a:pPr algn="l" marL="630940" indent="-315470" lvl="1">
              <a:lnSpc>
                <a:spcPts val="3331"/>
              </a:lnSpc>
              <a:buFont typeface="Arial"/>
              <a:buChar char="•"/>
            </a:pPr>
            <a:r>
              <a:rPr lang="en-US" sz="2922" spc="-73">
                <a:solidFill>
                  <a:srgbClr val="777FC4"/>
                </a:solidFill>
                <a:latin typeface="HK Grotesk"/>
                <a:ea typeface="HK Grotesk"/>
                <a:cs typeface="HK Grotesk"/>
                <a:sym typeface="HK Grotesk"/>
              </a:rPr>
              <a:t>A Google product powered by Gemini, built entirely around RAG</a:t>
            </a:r>
          </a:p>
          <a:p>
            <a:pPr algn="l" marL="630940" indent="-315470" lvl="1">
              <a:lnSpc>
                <a:spcPts val="3331"/>
              </a:lnSpc>
              <a:buFont typeface="Arial"/>
              <a:buChar char="•"/>
            </a:pPr>
            <a:r>
              <a:rPr lang="en-US" sz="2922" spc="-73">
                <a:solidFill>
                  <a:srgbClr val="777FC4"/>
                </a:solidFill>
                <a:latin typeface="HK Grotesk"/>
                <a:ea typeface="HK Grotesk"/>
                <a:cs typeface="HK Grotesk"/>
                <a:sym typeface="HK Grotesk"/>
              </a:rPr>
              <a:t>You upload your own sources (PDFs, docs, YouTube links, websites, Google Drive files) and it becomes an AI that only answers based on what you gave it</a:t>
            </a:r>
          </a:p>
          <a:p>
            <a:pPr algn="l">
              <a:lnSpc>
                <a:spcPts val="5830"/>
              </a:lnSpc>
            </a:pPr>
          </a:p>
        </p:txBody>
      </p:sp>
      <p:sp>
        <p:nvSpPr>
          <p:cNvPr name="TextBox 30" id="30"/>
          <p:cNvSpPr txBox="true"/>
          <p:nvPr/>
        </p:nvSpPr>
        <p:spPr>
          <a:xfrm rot="0">
            <a:off x="1052928" y="7556721"/>
            <a:ext cx="5389300" cy="358363"/>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What Makes It Different?</a:t>
            </a:r>
          </a:p>
        </p:txBody>
      </p:sp>
      <p:sp>
        <p:nvSpPr>
          <p:cNvPr name="TextBox 31" id="31"/>
          <p:cNvSpPr txBox="true"/>
          <p:nvPr/>
        </p:nvSpPr>
        <p:spPr>
          <a:xfrm rot="0">
            <a:off x="8026665" y="2542593"/>
            <a:ext cx="6062073" cy="932710"/>
          </a:xfrm>
          <a:prstGeom prst="rect">
            <a:avLst/>
          </a:prstGeom>
        </p:spPr>
        <p:txBody>
          <a:bodyPr anchor="t" rtlCol="false" tIns="0" lIns="0" bIns="0" rIns="0">
            <a:spAutoFit/>
          </a:bodyPr>
          <a:lstStyle/>
          <a:p>
            <a:pPr algn="ctr">
              <a:lnSpc>
                <a:spcPts val="3628"/>
              </a:lnSpc>
            </a:pPr>
            <a:r>
              <a:rPr lang="en-US" sz="3268" b="true">
                <a:solidFill>
                  <a:srgbClr val="FFFFFF"/>
                </a:solidFill>
                <a:latin typeface="Open Sauce Bold"/>
                <a:ea typeface="Open Sauce Bold"/>
                <a:cs typeface="Open Sauce Bold"/>
                <a:sym typeface="Open Sauce Bold"/>
              </a:rPr>
              <a:t> Use Cases</a:t>
            </a:r>
          </a:p>
          <a:p>
            <a:pPr algn="ctr">
              <a:lnSpc>
                <a:spcPts val="3628"/>
              </a:lnSpc>
            </a:pPr>
            <a:r>
              <a:rPr lang="en-US" b="true" sz="3268">
                <a:solidFill>
                  <a:srgbClr val="FFFFFF"/>
                </a:solidFill>
                <a:latin typeface="Open Sauce Bold"/>
                <a:ea typeface="Open Sauce Bold"/>
                <a:cs typeface="Open Sauce Bold"/>
                <a:sym typeface="Open Sauce Bold"/>
              </a:rPr>
              <a:t> </a:t>
            </a:r>
            <a:r>
              <a:rPr lang="en-US" sz="3268" i="true">
                <a:solidFill>
                  <a:srgbClr val="FFFFFF"/>
                </a:solidFill>
                <a:latin typeface="Open Sauce Italics"/>
                <a:ea typeface="Open Sauce Italics"/>
                <a:cs typeface="Open Sauce Italics"/>
                <a:sym typeface="Open Sauce Italics"/>
              </a:rPr>
              <a:t>for Students</a:t>
            </a:r>
          </a:p>
        </p:txBody>
      </p:sp>
      <p:sp>
        <p:nvSpPr>
          <p:cNvPr name="TextBox 32" id="32"/>
          <p:cNvSpPr txBox="true"/>
          <p:nvPr/>
        </p:nvSpPr>
        <p:spPr>
          <a:xfrm rot="0">
            <a:off x="12574384" y="2590218"/>
            <a:ext cx="5389300" cy="844840"/>
          </a:xfrm>
          <a:prstGeom prst="rect">
            <a:avLst/>
          </a:prstGeom>
        </p:spPr>
        <p:txBody>
          <a:bodyPr anchor="t" rtlCol="false" tIns="0" lIns="0" bIns="0" rIns="0">
            <a:spAutoFit/>
          </a:bodyPr>
          <a:lstStyle/>
          <a:p>
            <a:pPr algn="ctr">
              <a:lnSpc>
                <a:spcPts val="3239"/>
              </a:lnSpc>
            </a:pPr>
            <a:r>
              <a:rPr lang="en-US" b="true" sz="3305" spc="-198">
                <a:solidFill>
                  <a:srgbClr val="FFFFFF"/>
                </a:solidFill>
                <a:latin typeface="Open Sauce Bold"/>
                <a:ea typeface="Open Sauce Bold"/>
                <a:cs typeface="Open Sauce Bold"/>
                <a:sym typeface="Open Sauce Bold"/>
              </a:rPr>
              <a:t>The RAG </a:t>
            </a:r>
          </a:p>
          <a:p>
            <a:pPr algn="ctr" marL="0" indent="0" lvl="0">
              <a:lnSpc>
                <a:spcPts val="3239"/>
              </a:lnSpc>
            </a:pPr>
            <a:r>
              <a:rPr lang="en-US" sz="3305" i="true" spc="-198">
                <a:solidFill>
                  <a:srgbClr val="FFFFFF"/>
                </a:solidFill>
                <a:latin typeface="Open Sauce Italics"/>
                <a:ea typeface="Open Sauce Italics"/>
                <a:cs typeface="Open Sauce Italics"/>
                <a:sym typeface="Open Sauce Italics"/>
              </a:rPr>
              <a:t>Connection</a:t>
            </a:r>
          </a:p>
        </p:txBody>
      </p:sp>
      <p:sp>
        <p:nvSpPr>
          <p:cNvPr name="TextBox 33" id="33"/>
          <p:cNvSpPr txBox="true"/>
          <p:nvPr/>
        </p:nvSpPr>
        <p:spPr>
          <a:xfrm rot="0">
            <a:off x="743165" y="8259712"/>
            <a:ext cx="16637703" cy="2011821"/>
          </a:xfrm>
          <a:prstGeom prst="rect">
            <a:avLst/>
          </a:prstGeom>
        </p:spPr>
        <p:txBody>
          <a:bodyPr anchor="t" rtlCol="false" tIns="0" lIns="0" bIns="0" rIns="0">
            <a:spAutoFit/>
          </a:bodyPr>
          <a:lstStyle/>
          <a:p>
            <a:pPr algn="l" marL="630941" indent="-315470" lvl="1">
              <a:lnSpc>
                <a:spcPts val="3331"/>
              </a:lnSpc>
              <a:buFont typeface="Arial"/>
              <a:buChar char="•"/>
            </a:pPr>
            <a:r>
              <a:rPr lang="en-US" sz="2922" spc="-73">
                <a:solidFill>
                  <a:srgbClr val="565E8F"/>
                </a:solidFill>
                <a:latin typeface="HK Grotesk"/>
                <a:ea typeface="HK Grotesk"/>
                <a:cs typeface="HK Grotesk"/>
                <a:sym typeface="HK Grotesk"/>
              </a:rPr>
              <a:t>No hallucinations from general training data, it cites the exact source for every answer</a:t>
            </a:r>
          </a:p>
          <a:p>
            <a:pPr algn="l" marL="630941" indent="-315470" lvl="1">
              <a:lnSpc>
                <a:spcPts val="3331"/>
              </a:lnSpc>
              <a:buFont typeface="Arial"/>
              <a:buChar char="•"/>
            </a:pPr>
            <a:r>
              <a:rPr lang="en-US" sz="2922" spc="-73">
                <a:solidFill>
                  <a:srgbClr val="565E8F"/>
                </a:solidFill>
                <a:latin typeface="HK Grotesk"/>
                <a:ea typeface="HK Grotesk"/>
                <a:cs typeface="HK Grotesk"/>
                <a:sym typeface="HK Grotesk"/>
              </a:rPr>
              <a:t>Generates study guides, FAQs, timelines, and briefing docs from your uploads automatically</a:t>
            </a:r>
          </a:p>
          <a:p>
            <a:pPr algn="l" marL="630941" indent="-315470" lvl="1">
              <a:lnSpc>
                <a:spcPts val="3331"/>
              </a:lnSpc>
              <a:buFont typeface="Arial"/>
              <a:buChar char="•"/>
            </a:pPr>
            <a:r>
              <a:rPr lang="en-US" sz="2922" spc="-73">
                <a:solidFill>
                  <a:srgbClr val="565E8F"/>
                </a:solidFill>
                <a:latin typeface="HK Grotesk"/>
                <a:ea typeface="HK Grotesk"/>
                <a:cs typeface="HK Grotesk"/>
                <a:sym typeface="HK Grotesk"/>
              </a:rPr>
              <a:t>Audio Overview feature: turns your documents into a podcast-style conversation between two AI hosts</a:t>
            </a:r>
          </a:p>
          <a:p>
            <a:pPr algn="l">
              <a:lnSpc>
                <a:spcPts val="5830"/>
              </a:lnSpc>
            </a:pPr>
          </a:p>
        </p:txBody>
      </p:sp>
      <p:sp>
        <p:nvSpPr>
          <p:cNvPr name="TextBox 34" id="34"/>
          <p:cNvSpPr txBox="true"/>
          <p:nvPr/>
        </p:nvSpPr>
        <p:spPr>
          <a:xfrm rot="0">
            <a:off x="9427653" y="3629423"/>
            <a:ext cx="3293559" cy="3151978"/>
          </a:xfrm>
          <a:prstGeom prst="rect">
            <a:avLst/>
          </a:prstGeom>
        </p:spPr>
        <p:txBody>
          <a:bodyPr anchor="t" rtlCol="false" tIns="0" lIns="0" bIns="0" rIns="0">
            <a:spAutoFit/>
          </a:bodyPr>
          <a:lstStyle/>
          <a:p>
            <a:pPr algn="l" marL="443289" indent="-221645" lvl="1">
              <a:lnSpc>
                <a:spcPts val="2320"/>
              </a:lnSpc>
              <a:buFont typeface="Arial"/>
              <a:buChar char="•"/>
            </a:pPr>
            <a:r>
              <a:rPr lang="en-US" b="true" sz="2053" spc="-57">
                <a:solidFill>
                  <a:srgbClr val="FFFFFF"/>
                </a:solidFill>
                <a:latin typeface="Open Sauce Bold"/>
                <a:ea typeface="Open Sauce Bold"/>
                <a:cs typeface="Open Sauce Bold"/>
                <a:sym typeface="Open Sauce Bold"/>
              </a:rPr>
              <a:t>Upload</a:t>
            </a:r>
            <a:r>
              <a:rPr lang="en-US" sz="2053" spc="-57">
                <a:solidFill>
                  <a:srgbClr val="FFFFFF"/>
                </a:solidFill>
                <a:latin typeface="Open Sauce"/>
                <a:ea typeface="Open Sauce"/>
                <a:cs typeface="Open Sauce"/>
                <a:sym typeface="Open Sauce"/>
              </a:rPr>
              <a:t> all your lecture slides and ask it to quiz you</a:t>
            </a:r>
          </a:p>
          <a:p>
            <a:pPr algn="l" marL="443289" indent="-221645" lvl="1">
              <a:lnSpc>
                <a:spcPts val="2320"/>
              </a:lnSpc>
              <a:buFont typeface="Arial"/>
              <a:buChar char="•"/>
            </a:pPr>
            <a:r>
              <a:rPr lang="en-US" b="true" sz="2053" spc="-57">
                <a:solidFill>
                  <a:srgbClr val="FFFFFF"/>
                </a:solidFill>
                <a:latin typeface="Open Sauce Bold"/>
                <a:ea typeface="Open Sauce Bold"/>
                <a:cs typeface="Open Sauce Bold"/>
                <a:sym typeface="Open Sauce Bold"/>
              </a:rPr>
              <a:t>Drop</a:t>
            </a:r>
            <a:r>
              <a:rPr lang="en-US" sz="2053" spc="-57">
                <a:solidFill>
                  <a:srgbClr val="FFFFFF"/>
                </a:solidFill>
                <a:latin typeface="Open Sauce"/>
                <a:ea typeface="Open Sauce"/>
                <a:cs typeface="Open Sauce"/>
                <a:sym typeface="Open Sauce"/>
              </a:rPr>
              <a:t> in a dense research paper and get a plain-English summary</a:t>
            </a:r>
          </a:p>
          <a:p>
            <a:pPr algn="l" marL="443289" indent="-221645" lvl="1">
              <a:lnSpc>
                <a:spcPts val="2320"/>
              </a:lnSpc>
              <a:buFont typeface="Arial"/>
              <a:buChar char="•"/>
            </a:pPr>
            <a:r>
              <a:rPr lang="en-US" b="true" sz="2053" spc="-57">
                <a:solidFill>
                  <a:srgbClr val="FFFFFF"/>
                </a:solidFill>
                <a:latin typeface="Open Sauce Bold"/>
                <a:ea typeface="Open Sauce Bold"/>
                <a:cs typeface="Open Sauce Bold"/>
                <a:sym typeface="Open Sauce Bold"/>
              </a:rPr>
              <a:t>Combine</a:t>
            </a:r>
            <a:r>
              <a:rPr lang="en-US" sz="2053" spc="-57">
                <a:solidFill>
                  <a:srgbClr val="FFFFFF"/>
                </a:solidFill>
                <a:latin typeface="Open Sauce"/>
                <a:ea typeface="Open Sauce"/>
                <a:cs typeface="Open Sauce"/>
                <a:sym typeface="Open Sauce"/>
              </a:rPr>
              <a:t> multiple sources and ask it to find connections across them</a:t>
            </a:r>
          </a:p>
        </p:txBody>
      </p:sp>
      <p:sp>
        <p:nvSpPr>
          <p:cNvPr name="TextBox 35" id="35"/>
          <p:cNvSpPr txBox="true"/>
          <p:nvPr/>
        </p:nvSpPr>
        <p:spPr>
          <a:xfrm rot="0">
            <a:off x="13690961" y="3638948"/>
            <a:ext cx="3450316" cy="2604911"/>
          </a:xfrm>
          <a:prstGeom prst="rect">
            <a:avLst/>
          </a:prstGeom>
        </p:spPr>
        <p:txBody>
          <a:bodyPr anchor="t" rtlCol="false" tIns="0" lIns="0" bIns="0" rIns="0">
            <a:spAutoFit/>
          </a:bodyPr>
          <a:lstStyle/>
          <a:p>
            <a:pPr algn="l" marL="478000" indent="-239000" lvl="1">
              <a:lnSpc>
                <a:spcPts val="2590"/>
              </a:lnSpc>
              <a:buFont typeface="Arial"/>
              <a:buChar char="•"/>
            </a:pPr>
            <a:r>
              <a:rPr lang="en-US" sz="2213" spc="-61">
                <a:solidFill>
                  <a:srgbClr val="FFFFFF"/>
                </a:solidFill>
                <a:latin typeface="Open Sauce"/>
                <a:ea typeface="Open Sauce"/>
                <a:cs typeface="Open Sauce"/>
                <a:sym typeface="Open Sauce"/>
              </a:rPr>
              <a:t>NotebookLM is essentially RAG with a clean UI built on t</a:t>
            </a:r>
            <a:r>
              <a:rPr lang="en-US" sz="2213" spc="-61">
                <a:solidFill>
                  <a:srgbClr val="FFFFFF"/>
                </a:solidFill>
                <a:latin typeface="Open Sauce"/>
                <a:ea typeface="Open Sauce"/>
                <a:cs typeface="Open Sauce"/>
                <a:sym typeface="Open Sauce"/>
              </a:rPr>
              <a:t>op, no setup required</a:t>
            </a:r>
          </a:p>
          <a:p>
            <a:pPr algn="l" marL="478000" indent="-239000" lvl="1">
              <a:lnSpc>
                <a:spcPts val="2590"/>
              </a:lnSpc>
              <a:buFont typeface="Arial"/>
              <a:buChar char="•"/>
            </a:pPr>
            <a:r>
              <a:rPr lang="en-US" sz="2213" spc="-61">
                <a:solidFill>
                  <a:srgbClr val="FFFFFF"/>
                </a:solidFill>
                <a:latin typeface="Open Sauce"/>
                <a:ea typeface="Open Sauce"/>
                <a:cs typeface="Open Sauce"/>
                <a:sym typeface="Open Sauce"/>
              </a:rPr>
              <a:t>Great entry point for understanding what RAG feels like before you build anything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0800000">
            <a:off x="-2257431" y="-589922"/>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76967" y="-471864"/>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1028700" y="1256003"/>
            <a:ext cx="16230600" cy="0"/>
          </a:xfrm>
          <a:prstGeom prst="line">
            <a:avLst/>
          </a:prstGeom>
          <a:ln cap="rnd" w="19050">
            <a:solidFill>
              <a:srgbClr val="7681BD"/>
            </a:solidFill>
            <a:prstDash val="solid"/>
            <a:headEnd type="none" len="sm" w="sm"/>
            <a:tailEnd type="none" len="sm" w="sm"/>
          </a:ln>
        </p:spPr>
      </p:sp>
      <p:grpSp>
        <p:nvGrpSpPr>
          <p:cNvPr name="Group 10" id="10"/>
          <p:cNvGrpSpPr/>
          <p:nvPr/>
        </p:nvGrpSpPr>
        <p:grpSpPr>
          <a:xfrm rot="0">
            <a:off x="915508" y="365374"/>
            <a:ext cx="17528009" cy="832382"/>
            <a:chOff x="0" y="0"/>
            <a:chExt cx="23370678" cy="1109842"/>
          </a:xfrm>
        </p:grpSpPr>
        <p:sp>
          <p:nvSpPr>
            <p:cNvPr name="TextBox 11" id="11"/>
            <p:cNvSpPr txBox="true"/>
            <p:nvPr/>
          </p:nvSpPr>
          <p:spPr>
            <a:xfrm rot="0">
              <a:off x="1390662" y="346846"/>
              <a:ext cx="4982923" cy="575689"/>
            </a:xfrm>
            <a:prstGeom prst="rect">
              <a:avLst/>
            </a:prstGeom>
          </p:spPr>
          <p:txBody>
            <a:bodyPr anchor="t" rtlCol="false" tIns="0" lIns="0" bIns="0" rIns="0">
              <a:spAutoFit/>
            </a:bodyPr>
            <a:lstStyle/>
            <a:p>
              <a:pPr algn="l">
                <a:lnSpc>
                  <a:spcPts val="2903"/>
                </a:lnSpc>
              </a:pPr>
              <a:r>
                <a:rPr lang="en-US" sz="3299" spc="-148" b="true">
                  <a:solidFill>
                    <a:srgbClr val="7681BD"/>
                  </a:solidFill>
                  <a:latin typeface="HK Grotesk Bold"/>
                  <a:ea typeface="HK Grotesk Bold"/>
                  <a:cs typeface="HK Grotesk Bold"/>
                  <a:sym typeface="HK Grotesk Bold"/>
                </a:rPr>
                <a:t>NetworkAI</a:t>
              </a:r>
            </a:p>
          </p:txBody>
        </p:sp>
        <p:grpSp>
          <p:nvGrpSpPr>
            <p:cNvPr name="Group 12" id="12"/>
            <p:cNvGrpSpPr/>
            <p:nvPr/>
          </p:nvGrpSpPr>
          <p:grpSpPr>
            <a:xfrm rot="0">
              <a:off x="18021129" y="169165"/>
              <a:ext cx="3513365" cy="715270"/>
              <a:chOff x="0" y="0"/>
              <a:chExt cx="749232" cy="152533"/>
            </a:xfrm>
          </p:grpSpPr>
          <p:sp>
            <p:nvSpPr>
              <p:cNvPr name="Freeform 13" id="13"/>
              <p:cNvSpPr/>
              <p:nvPr/>
            </p:nvSpPr>
            <p:spPr>
              <a:xfrm flipH="false" flipV="false" rot="0">
                <a:off x="0" y="0"/>
                <a:ext cx="749232" cy="152533"/>
              </a:xfrm>
              <a:custGeom>
                <a:avLst/>
                <a:gdLst/>
                <a:ahLst/>
                <a:cxnLst/>
                <a:rect r="r" b="b" t="t" l="l"/>
                <a:pathLst>
                  <a:path h="152533" w="749232">
                    <a:moveTo>
                      <a:pt x="76266" y="0"/>
                    </a:moveTo>
                    <a:lnTo>
                      <a:pt x="672966" y="0"/>
                    </a:lnTo>
                    <a:cubicBezTo>
                      <a:pt x="715087" y="0"/>
                      <a:pt x="749232" y="34146"/>
                      <a:pt x="749232" y="76266"/>
                    </a:cubicBezTo>
                    <a:lnTo>
                      <a:pt x="749232" y="76266"/>
                    </a:lnTo>
                    <a:cubicBezTo>
                      <a:pt x="749232" y="96494"/>
                      <a:pt x="741197" y="115892"/>
                      <a:pt x="726894" y="130195"/>
                    </a:cubicBezTo>
                    <a:cubicBezTo>
                      <a:pt x="712592" y="144498"/>
                      <a:pt x="693193" y="152533"/>
                      <a:pt x="672966" y="152533"/>
                    </a:cubicBezTo>
                    <a:lnTo>
                      <a:pt x="76266" y="152533"/>
                    </a:lnTo>
                    <a:cubicBezTo>
                      <a:pt x="34146" y="152533"/>
                      <a:pt x="0" y="118387"/>
                      <a:pt x="0" y="76266"/>
                    </a:cubicBezTo>
                    <a:lnTo>
                      <a:pt x="0" y="76266"/>
                    </a:lnTo>
                    <a:cubicBezTo>
                      <a:pt x="0" y="34146"/>
                      <a:pt x="34146" y="0"/>
                      <a:pt x="76266" y="0"/>
                    </a:cubicBezTo>
                    <a:close/>
                  </a:path>
                </a:pathLst>
              </a:custGeom>
              <a:solidFill>
                <a:srgbClr val="A6B3FF">
                  <a:alpha val="74902"/>
                </a:srgbClr>
              </a:solidFill>
              <a:ln w="19050" cap="rnd">
                <a:solidFill>
                  <a:srgbClr val="7681BD">
                    <a:alpha val="74902"/>
                  </a:srgbClr>
                </a:solidFill>
                <a:prstDash val="solid"/>
                <a:round/>
              </a:ln>
            </p:spPr>
          </p:sp>
          <p:sp>
            <p:nvSpPr>
              <p:cNvPr name="TextBox 14" id="14"/>
              <p:cNvSpPr txBox="true"/>
              <p:nvPr/>
            </p:nvSpPr>
            <p:spPr>
              <a:xfrm>
                <a:off x="0" y="-19050"/>
                <a:ext cx="749232" cy="171583"/>
              </a:xfrm>
              <a:prstGeom prst="rect">
                <a:avLst/>
              </a:prstGeom>
            </p:spPr>
            <p:txBody>
              <a:bodyPr anchor="ctr" rtlCol="false" tIns="50800" lIns="50800" bIns="50800" rIns="50800"/>
              <a:lstStyle/>
              <a:p>
                <a:pPr algn="ctr">
                  <a:lnSpc>
                    <a:spcPts val="1540"/>
                  </a:lnSpc>
                </a:pPr>
              </a:p>
            </p:txBody>
          </p:sp>
        </p:grpSp>
        <p:sp>
          <p:nvSpPr>
            <p:cNvPr name="TextBox 15" id="15"/>
            <p:cNvSpPr txBox="true"/>
            <p:nvPr/>
          </p:nvSpPr>
          <p:spPr>
            <a:xfrm rot="0">
              <a:off x="16184945" y="310187"/>
              <a:ext cx="7185734" cy="503217"/>
            </a:xfrm>
            <a:prstGeom prst="rect">
              <a:avLst/>
            </a:prstGeom>
          </p:spPr>
          <p:txBody>
            <a:bodyPr anchor="t" rtlCol="false" tIns="0" lIns="0" bIns="0" rIns="0">
              <a:spAutoFit/>
            </a:bodyPr>
            <a:lstStyle/>
            <a:p>
              <a:pPr algn="ctr" marL="0" indent="0" lvl="0">
                <a:lnSpc>
                  <a:spcPts val="2615"/>
                </a:lnSpc>
              </a:pPr>
              <a:r>
                <a:rPr lang="en-US" b="true" sz="2905" spc="-174">
                  <a:solidFill>
                    <a:srgbClr val="FFFFFF"/>
                  </a:solidFill>
                  <a:latin typeface="Open Sauce Bold"/>
                  <a:ea typeface="Open Sauce Bold"/>
                  <a:cs typeface="Open Sauce Bold"/>
                  <a:sym typeface="Open Sauce Bold"/>
                </a:rPr>
                <a:t>Workshop</a:t>
              </a:r>
            </a:p>
          </p:txBody>
        </p:sp>
        <p:sp>
          <p:nvSpPr>
            <p:cNvPr name="Freeform 16" id="16"/>
            <p:cNvSpPr/>
            <p:nvPr/>
          </p:nvSpPr>
          <p:spPr>
            <a:xfrm flipH="false" flipV="false" rot="0">
              <a:off x="0" y="0"/>
              <a:ext cx="1428762" cy="1109842"/>
            </a:xfrm>
            <a:custGeom>
              <a:avLst/>
              <a:gdLst/>
              <a:ahLst/>
              <a:cxnLst/>
              <a:rect r="r" b="b" t="t" l="l"/>
              <a:pathLst>
                <a:path h="1109842" w="1428762">
                  <a:moveTo>
                    <a:pt x="0" y="0"/>
                  </a:moveTo>
                  <a:lnTo>
                    <a:pt x="1428762" y="0"/>
                  </a:lnTo>
                  <a:lnTo>
                    <a:pt x="1428762" y="1109842"/>
                  </a:lnTo>
                  <a:lnTo>
                    <a:pt x="0" y="1109842"/>
                  </a:lnTo>
                  <a:lnTo>
                    <a:pt x="0" y="0"/>
                  </a:lnTo>
                  <a:close/>
                </a:path>
              </a:pathLst>
            </a:custGeom>
            <a:blipFill>
              <a:blip r:embed="rId4"/>
              <a:stretch>
                <a:fillRect l="0" t="0" r="0" b="0"/>
              </a:stretch>
            </a:blipFill>
          </p:spPr>
        </p:sp>
      </p:grpSp>
      <p:grpSp>
        <p:nvGrpSpPr>
          <p:cNvPr name="Group 17" id="17"/>
          <p:cNvGrpSpPr/>
          <p:nvPr/>
        </p:nvGrpSpPr>
        <p:grpSpPr>
          <a:xfrm rot="0">
            <a:off x="3780019" y="1921098"/>
            <a:ext cx="10524408" cy="1968821"/>
            <a:chOff x="0" y="0"/>
            <a:chExt cx="3162564" cy="591627"/>
          </a:xfrm>
        </p:grpSpPr>
        <p:sp>
          <p:nvSpPr>
            <p:cNvPr name="Freeform 18" id="18"/>
            <p:cNvSpPr/>
            <p:nvPr/>
          </p:nvSpPr>
          <p:spPr>
            <a:xfrm flipH="false" flipV="false" rot="0">
              <a:off x="0" y="0"/>
              <a:ext cx="3162565" cy="591627"/>
            </a:xfrm>
            <a:custGeom>
              <a:avLst/>
              <a:gdLst/>
              <a:ahLst/>
              <a:cxnLst/>
              <a:rect r="r" b="b" t="t" l="l"/>
              <a:pathLst>
                <a:path h="591627" w="3162565">
                  <a:moveTo>
                    <a:pt x="59585" y="0"/>
                  </a:moveTo>
                  <a:lnTo>
                    <a:pt x="3102980" y="0"/>
                  </a:lnTo>
                  <a:cubicBezTo>
                    <a:pt x="3118783" y="0"/>
                    <a:pt x="3133938" y="6278"/>
                    <a:pt x="3145112" y="17452"/>
                  </a:cubicBezTo>
                  <a:cubicBezTo>
                    <a:pt x="3156287" y="28626"/>
                    <a:pt x="3162565" y="43782"/>
                    <a:pt x="3162565" y="59585"/>
                  </a:cubicBezTo>
                  <a:lnTo>
                    <a:pt x="3162565" y="532042"/>
                  </a:lnTo>
                  <a:cubicBezTo>
                    <a:pt x="3162565" y="547845"/>
                    <a:pt x="3156287" y="563001"/>
                    <a:pt x="3145112" y="574175"/>
                  </a:cubicBezTo>
                  <a:cubicBezTo>
                    <a:pt x="3133938" y="585349"/>
                    <a:pt x="3118783" y="591627"/>
                    <a:pt x="3102980" y="591627"/>
                  </a:cubicBezTo>
                  <a:lnTo>
                    <a:pt x="59585" y="591627"/>
                  </a:lnTo>
                  <a:cubicBezTo>
                    <a:pt x="43782" y="591627"/>
                    <a:pt x="28626" y="585349"/>
                    <a:pt x="17452" y="574175"/>
                  </a:cubicBezTo>
                  <a:cubicBezTo>
                    <a:pt x="6278" y="563001"/>
                    <a:pt x="0" y="547845"/>
                    <a:pt x="0" y="532042"/>
                  </a:cubicBezTo>
                  <a:lnTo>
                    <a:pt x="0" y="59585"/>
                  </a:lnTo>
                  <a:cubicBezTo>
                    <a:pt x="0" y="43782"/>
                    <a:pt x="6278" y="28626"/>
                    <a:pt x="17452" y="17452"/>
                  </a:cubicBezTo>
                  <a:cubicBezTo>
                    <a:pt x="28626" y="6278"/>
                    <a:pt x="43782" y="0"/>
                    <a:pt x="59585" y="0"/>
                  </a:cubicBezTo>
                  <a:close/>
                </a:path>
              </a:pathLst>
            </a:custGeom>
            <a:solidFill>
              <a:srgbClr val="7681BD">
                <a:alpha val="77647"/>
              </a:srgbClr>
            </a:solidFill>
            <a:ln w="19050" cap="rnd">
              <a:solidFill>
                <a:srgbClr val="A6B3FF">
                  <a:alpha val="77647"/>
                </a:srgbClr>
              </a:solidFill>
              <a:prstDash val="solid"/>
              <a:round/>
            </a:ln>
          </p:spPr>
        </p:sp>
        <p:sp>
          <p:nvSpPr>
            <p:cNvPr name="TextBox 19" id="19"/>
            <p:cNvSpPr txBox="true"/>
            <p:nvPr/>
          </p:nvSpPr>
          <p:spPr>
            <a:xfrm>
              <a:off x="0" y="-38100"/>
              <a:ext cx="3162564" cy="62972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527929" y="2459139"/>
            <a:ext cx="15232142" cy="1159440"/>
          </a:xfrm>
          <a:prstGeom prst="rect">
            <a:avLst/>
          </a:prstGeom>
        </p:spPr>
        <p:txBody>
          <a:bodyPr anchor="t" rtlCol="false" tIns="0" lIns="0" bIns="0" rIns="0">
            <a:spAutoFit/>
          </a:bodyPr>
          <a:lstStyle/>
          <a:p>
            <a:pPr algn="ctr" marL="0" indent="0" lvl="0">
              <a:lnSpc>
                <a:spcPts val="8446"/>
              </a:lnSpc>
            </a:pPr>
            <a:r>
              <a:rPr lang="en-US" b="true" sz="9384" spc="-563">
                <a:solidFill>
                  <a:srgbClr val="F0F2FF"/>
                </a:solidFill>
                <a:latin typeface="Open Sauce Bold"/>
                <a:ea typeface="Open Sauce Bold"/>
                <a:cs typeface="Open Sauce Bold"/>
                <a:sym typeface="Open Sauce Bold"/>
              </a:rPr>
              <a:t>Hands On</a:t>
            </a:r>
          </a:p>
        </p:txBody>
      </p:sp>
      <p:sp>
        <p:nvSpPr>
          <p:cNvPr name="TextBox 21" id="21"/>
          <p:cNvSpPr txBox="true"/>
          <p:nvPr/>
        </p:nvSpPr>
        <p:spPr>
          <a:xfrm rot="0">
            <a:off x="842079" y="4547144"/>
            <a:ext cx="16400289" cy="4447781"/>
          </a:xfrm>
          <a:prstGeom prst="rect">
            <a:avLst/>
          </a:prstGeom>
        </p:spPr>
        <p:txBody>
          <a:bodyPr anchor="t" rtlCol="false" tIns="0" lIns="0" bIns="0" rIns="0">
            <a:spAutoFit/>
          </a:bodyPr>
          <a:lstStyle/>
          <a:p>
            <a:pPr algn="l" marL="787628" indent="-393814" lvl="1">
              <a:lnSpc>
                <a:spcPts val="4377"/>
              </a:lnSpc>
              <a:buAutoNum type="arabicPeriod" startAt="1"/>
            </a:pPr>
            <a:r>
              <a:rPr lang="en-US" b="true" sz="3648">
                <a:solidFill>
                  <a:srgbClr val="565E8F"/>
                </a:solidFill>
                <a:latin typeface="Open Sauce Bold"/>
                <a:ea typeface="Open Sauce Bold"/>
                <a:cs typeface="Open Sauce Bold"/>
                <a:sym typeface="Open Sauce Bold"/>
              </a:rPr>
              <a:t> </a:t>
            </a:r>
            <a:r>
              <a:rPr lang="en-US" sz="3648">
                <a:solidFill>
                  <a:srgbClr val="565E8F"/>
                </a:solidFill>
                <a:latin typeface="Open Sauce"/>
                <a:ea typeface="Open Sauce"/>
                <a:cs typeface="Open Sauce"/>
                <a:sym typeface="Open Sauce"/>
              </a:rPr>
              <a:t>Open </a:t>
            </a:r>
            <a:r>
              <a:rPr lang="en-US" b="true" sz="3648">
                <a:solidFill>
                  <a:srgbClr val="565E8F"/>
                </a:solidFill>
                <a:latin typeface="Open Sauce Bold"/>
                <a:ea typeface="Open Sauce Bold"/>
                <a:cs typeface="Open Sauce Bold"/>
                <a:sym typeface="Open Sauce Bold"/>
              </a:rPr>
              <a:t>Claude or ChatGPT </a:t>
            </a:r>
            <a:r>
              <a:rPr lang="en-US" sz="3648">
                <a:solidFill>
                  <a:srgbClr val="565E8F"/>
                </a:solidFill>
                <a:latin typeface="Open Sauce"/>
                <a:ea typeface="Open Sauce"/>
                <a:cs typeface="Open Sauce"/>
                <a:sym typeface="Open Sauce"/>
              </a:rPr>
              <a:t>on your laptop and play around with different connectors. </a:t>
            </a:r>
          </a:p>
          <a:p>
            <a:pPr algn="l" marL="787628" indent="-393814" lvl="1">
              <a:lnSpc>
                <a:spcPts val="4377"/>
              </a:lnSpc>
              <a:buAutoNum type="arabicPeriod" startAt="1"/>
            </a:pPr>
            <a:r>
              <a:rPr lang="en-US" sz="3648">
                <a:solidFill>
                  <a:srgbClr val="565E8F"/>
                </a:solidFill>
                <a:latin typeface="Open Sauce"/>
                <a:ea typeface="Open Sauce"/>
                <a:cs typeface="Open Sauce"/>
                <a:sym typeface="Open Sauce"/>
              </a:rPr>
              <a:t> </a:t>
            </a:r>
            <a:r>
              <a:rPr lang="en-US" sz="3648">
                <a:solidFill>
                  <a:srgbClr val="565E8F"/>
                </a:solidFill>
                <a:latin typeface="Open Sauce"/>
                <a:ea typeface="Open Sauce"/>
                <a:cs typeface="Open Sauce"/>
                <a:sym typeface="Open Sauce"/>
              </a:rPr>
              <a:t>Once you get that working, try using </a:t>
            </a:r>
            <a:r>
              <a:rPr lang="en-US" b="true" sz="3648">
                <a:solidFill>
                  <a:srgbClr val="565E8F"/>
                </a:solidFill>
                <a:latin typeface="Open Sauce Bold"/>
                <a:ea typeface="Open Sauce Bold"/>
                <a:cs typeface="Open Sauce Bold"/>
                <a:sym typeface="Open Sauce Bold"/>
              </a:rPr>
              <a:t>two</a:t>
            </a:r>
            <a:r>
              <a:rPr lang="en-US" sz="3648">
                <a:solidFill>
                  <a:srgbClr val="565E8F"/>
                </a:solidFill>
                <a:latin typeface="Open Sauce"/>
                <a:ea typeface="Open Sauce"/>
                <a:cs typeface="Open Sauce"/>
                <a:sym typeface="Open Sauce"/>
              </a:rPr>
              <a:t> at once, for example</a:t>
            </a:r>
            <a:r>
              <a:rPr lang="en-US" b="true" sz="3648">
                <a:solidFill>
                  <a:srgbClr val="565E8F"/>
                </a:solidFill>
                <a:latin typeface="Open Sauce Bold"/>
                <a:ea typeface="Open Sauce Bold"/>
                <a:cs typeface="Open Sauce Bold"/>
                <a:sym typeface="Open Sauce Bold"/>
              </a:rPr>
              <a:t>: </a:t>
            </a:r>
            <a:r>
              <a:rPr lang="en-US" sz="3648" i="true">
                <a:solidFill>
                  <a:srgbClr val="565E8F"/>
                </a:solidFill>
                <a:latin typeface="Open Sauce Italics"/>
                <a:ea typeface="Open Sauce Italics"/>
                <a:cs typeface="Open Sauce Italics"/>
                <a:sym typeface="Open Sauce Italics"/>
              </a:rPr>
              <a:t>“Check my calendar and draft a Slack message about my availability”</a:t>
            </a:r>
          </a:p>
          <a:p>
            <a:pPr algn="l" marL="787628" indent="-393814" lvl="1">
              <a:lnSpc>
                <a:spcPts val="4377"/>
              </a:lnSpc>
              <a:buAutoNum type="arabicPeriod" startAt="1"/>
            </a:pPr>
            <a:r>
              <a:rPr lang="en-US" sz="3648" i="true">
                <a:solidFill>
                  <a:srgbClr val="565E8F"/>
                </a:solidFill>
                <a:latin typeface="Open Sauce Italics"/>
                <a:ea typeface="Open Sauce Italics"/>
                <a:cs typeface="Open Sauce Italics"/>
                <a:sym typeface="Open Sauce Italics"/>
              </a:rPr>
              <a:t> </a:t>
            </a:r>
            <a:r>
              <a:rPr lang="en-US" sz="3648">
                <a:solidFill>
                  <a:srgbClr val="565E8F"/>
                </a:solidFill>
                <a:latin typeface="Open Sauce"/>
                <a:ea typeface="Open Sauce"/>
                <a:cs typeface="Open Sauce"/>
                <a:sym typeface="Open Sauce"/>
              </a:rPr>
              <a:t>Try giving </a:t>
            </a:r>
            <a:r>
              <a:rPr lang="en-US" b="true" sz="3648">
                <a:solidFill>
                  <a:srgbClr val="565E8F"/>
                </a:solidFill>
                <a:latin typeface="Open Sauce Bold"/>
                <a:ea typeface="Open Sauce Bold"/>
                <a:cs typeface="Open Sauce Bold"/>
                <a:sym typeface="Open Sauce Bold"/>
              </a:rPr>
              <a:t>multi-step tasks</a:t>
            </a:r>
            <a:r>
              <a:rPr lang="en-US" sz="3648">
                <a:solidFill>
                  <a:srgbClr val="565E8F"/>
                </a:solidFill>
                <a:latin typeface="Open Sauce"/>
                <a:ea typeface="Open Sauce"/>
                <a:cs typeface="Open Sauce"/>
                <a:sym typeface="Open Sauce"/>
              </a:rPr>
              <a:t> if your subscription allows.</a:t>
            </a:r>
          </a:p>
          <a:p>
            <a:pPr algn="l">
              <a:lnSpc>
                <a:spcPts val="4377"/>
              </a:lnSpc>
            </a:pPr>
          </a:p>
          <a:p>
            <a:pPr algn="ctr">
              <a:lnSpc>
                <a:spcPts val="4377"/>
              </a:lnSpc>
            </a:pPr>
            <a:r>
              <a:rPr lang="en-US" sz="3648" b="true">
                <a:solidFill>
                  <a:srgbClr val="7F8BCF"/>
                </a:solidFill>
                <a:latin typeface="Open Sauce Bold"/>
                <a:ea typeface="Open Sauce Bold"/>
                <a:cs typeface="Open Sauce Bold"/>
                <a:sym typeface="Open Sauce Bold"/>
              </a:rPr>
              <a:t>*</a:t>
            </a:r>
            <a:r>
              <a:rPr lang="en-US" sz="3648" b="true">
                <a:solidFill>
                  <a:srgbClr val="7F8BCF"/>
                </a:solidFill>
                <a:latin typeface="Open Sauce Bold"/>
                <a:ea typeface="Open Sauce Bold"/>
                <a:cs typeface="Open Sauce Bold"/>
                <a:sym typeface="Open Sauce Bold"/>
              </a:rPr>
              <a:t>Also feel free to try out NotebookLM. Try pasting lecture </a:t>
            </a:r>
          </a:p>
          <a:p>
            <a:pPr algn="ctr" marL="0" indent="0" lvl="0">
              <a:lnSpc>
                <a:spcPts val="4377"/>
              </a:lnSpc>
            </a:pPr>
            <a:r>
              <a:rPr lang="en-US" b="true" sz="3648">
                <a:solidFill>
                  <a:srgbClr val="7F8BCF"/>
                </a:solidFill>
                <a:latin typeface="Open Sauce Bold"/>
                <a:ea typeface="Open Sauce Bold"/>
                <a:cs typeface="Open Sauce Bold"/>
                <a:sym typeface="Open Sauce Bold"/>
              </a:rPr>
              <a:t>slides into it and ask it questions.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BEBEB"/>
        </a:solidFill>
      </p:bgPr>
    </p:bg>
    <p:spTree>
      <p:nvGrpSpPr>
        <p:cNvPr id="1" name=""/>
        <p:cNvGrpSpPr/>
        <p:nvPr/>
      </p:nvGrpSpPr>
      <p:grpSpPr>
        <a:xfrm>
          <a:off x="0" y="0"/>
          <a:ext cx="0" cy="0"/>
          <a:chOff x="0" y="0"/>
          <a:chExt cx="0" cy="0"/>
        </a:xfrm>
      </p:grpSpPr>
      <p:sp>
        <p:nvSpPr>
          <p:cNvPr name="Freeform 2" id="2"/>
          <p:cNvSpPr/>
          <p:nvPr/>
        </p:nvSpPr>
        <p:spPr>
          <a:xfrm flipH="true" flipV="true" rot="-2051359">
            <a:off x="837428" y="2271321"/>
            <a:ext cx="16613144" cy="14559155"/>
          </a:xfrm>
          <a:custGeom>
            <a:avLst/>
            <a:gdLst/>
            <a:ahLst/>
            <a:cxnLst/>
            <a:rect r="r" b="b" t="t" l="l"/>
            <a:pathLst>
              <a:path h="14559155" w="16613144">
                <a:moveTo>
                  <a:pt x="16613144" y="14559155"/>
                </a:moveTo>
                <a:lnTo>
                  <a:pt x="0" y="14559155"/>
                </a:lnTo>
                <a:lnTo>
                  <a:pt x="0" y="0"/>
                </a:lnTo>
                <a:lnTo>
                  <a:pt x="16613144" y="0"/>
                </a:lnTo>
                <a:lnTo>
                  <a:pt x="16613144" y="14559155"/>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76967" y="-471864"/>
            <a:ext cx="10268463" cy="11908374"/>
            <a:chOff x="0" y="0"/>
            <a:chExt cx="2704451" cy="3136362"/>
          </a:xfrm>
        </p:grpSpPr>
        <p:sp>
          <p:nvSpPr>
            <p:cNvPr name="Freeform 4" id="4"/>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5" id="5"/>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10800000">
            <a:off x="-2257431" y="-589922"/>
            <a:ext cx="10268463" cy="11908374"/>
            <a:chOff x="0" y="0"/>
            <a:chExt cx="2704451" cy="3136362"/>
          </a:xfrm>
        </p:grpSpPr>
        <p:sp>
          <p:nvSpPr>
            <p:cNvPr name="Freeform 7" id="7"/>
            <p:cNvSpPr/>
            <p:nvPr/>
          </p:nvSpPr>
          <p:spPr>
            <a:xfrm flipH="false" flipV="false" rot="0">
              <a:off x="0" y="0"/>
              <a:ext cx="2704451" cy="3136362"/>
            </a:xfrm>
            <a:custGeom>
              <a:avLst/>
              <a:gdLst/>
              <a:ahLst/>
              <a:cxnLst/>
              <a:rect r="r" b="b" t="t" l="l"/>
              <a:pathLst>
                <a:path h="3136362" w="2704451">
                  <a:moveTo>
                    <a:pt x="19603" y="0"/>
                  </a:moveTo>
                  <a:lnTo>
                    <a:pt x="2684849" y="0"/>
                  </a:lnTo>
                  <a:cubicBezTo>
                    <a:pt x="2695675" y="0"/>
                    <a:pt x="2704451" y="8776"/>
                    <a:pt x="2704451" y="19603"/>
                  </a:cubicBezTo>
                  <a:lnTo>
                    <a:pt x="2704451" y="3116759"/>
                  </a:lnTo>
                  <a:cubicBezTo>
                    <a:pt x="2704451" y="3127585"/>
                    <a:pt x="2695675" y="3136362"/>
                    <a:pt x="2684849" y="3136362"/>
                  </a:cubicBezTo>
                  <a:lnTo>
                    <a:pt x="19603" y="3136362"/>
                  </a:lnTo>
                  <a:cubicBezTo>
                    <a:pt x="14404" y="3136362"/>
                    <a:pt x="9418" y="3134297"/>
                    <a:pt x="5742" y="3130620"/>
                  </a:cubicBezTo>
                  <a:cubicBezTo>
                    <a:pt x="2065" y="3126944"/>
                    <a:pt x="0" y="3121958"/>
                    <a:pt x="0" y="3116759"/>
                  </a:cubicBezTo>
                  <a:lnTo>
                    <a:pt x="0" y="19603"/>
                  </a:lnTo>
                  <a:cubicBezTo>
                    <a:pt x="0" y="8776"/>
                    <a:pt x="8776" y="0"/>
                    <a:pt x="19603" y="0"/>
                  </a:cubicBezTo>
                  <a:close/>
                </a:path>
              </a:pathLst>
            </a:custGeom>
            <a:gradFill rotWithShape="true">
              <a:gsLst>
                <a:gs pos="0">
                  <a:srgbClr val="FFFFFF">
                    <a:alpha val="0"/>
                  </a:srgbClr>
                </a:gs>
                <a:gs pos="100000">
                  <a:srgbClr val="9C8BD3">
                    <a:alpha val="68000"/>
                  </a:srgbClr>
                </a:gs>
              </a:gsLst>
              <a:lin ang="0"/>
            </a:gradFill>
            <a:ln cap="rnd">
              <a:noFill/>
              <a:prstDash val="solid"/>
              <a:round/>
            </a:ln>
          </p:spPr>
        </p:sp>
        <p:sp>
          <p:nvSpPr>
            <p:cNvPr name="TextBox 8" id="8"/>
            <p:cNvSpPr txBox="true"/>
            <p:nvPr/>
          </p:nvSpPr>
          <p:spPr>
            <a:xfrm>
              <a:off x="0" y="-38100"/>
              <a:ext cx="2704451" cy="31744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205290" y="714084"/>
            <a:ext cx="7877419" cy="1069605"/>
            <a:chOff x="0" y="0"/>
            <a:chExt cx="10503226" cy="1426140"/>
          </a:xfrm>
        </p:grpSpPr>
        <p:grpSp>
          <p:nvGrpSpPr>
            <p:cNvPr name="Group 10" id="10"/>
            <p:cNvGrpSpPr/>
            <p:nvPr/>
          </p:nvGrpSpPr>
          <p:grpSpPr>
            <a:xfrm rot="0">
              <a:off x="0" y="0"/>
              <a:ext cx="10503226" cy="1426140"/>
              <a:chOff x="0" y="0"/>
              <a:chExt cx="1686881" cy="229047"/>
            </a:xfrm>
          </p:grpSpPr>
          <p:sp>
            <p:nvSpPr>
              <p:cNvPr name="Freeform 11" id="11"/>
              <p:cNvSpPr/>
              <p:nvPr/>
            </p:nvSpPr>
            <p:spPr>
              <a:xfrm flipH="false" flipV="false" rot="0">
                <a:off x="0" y="0"/>
                <a:ext cx="1686881" cy="229047"/>
              </a:xfrm>
              <a:custGeom>
                <a:avLst/>
                <a:gdLst/>
                <a:ahLst/>
                <a:cxnLst/>
                <a:rect r="r" b="b" t="t" l="l"/>
                <a:pathLst>
                  <a:path h="229047" w="1686881">
                    <a:moveTo>
                      <a:pt x="73710" y="0"/>
                    </a:moveTo>
                    <a:lnTo>
                      <a:pt x="1613171" y="0"/>
                    </a:lnTo>
                    <a:cubicBezTo>
                      <a:pt x="1653880" y="0"/>
                      <a:pt x="1686881" y="33001"/>
                      <a:pt x="1686881" y="73710"/>
                    </a:cubicBezTo>
                    <a:lnTo>
                      <a:pt x="1686881" y="155337"/>
                    </a:lnTo>
                    <a:cubicBezTo>
                      <a:pt x="1686881" y="196046"/>
                      <a:pt x="1653880" y="229047"/>
                      <a:pt x="1613171" y="229047"/>
                    </a:cubicBezTo>
                    <a:lnTo>
                      <a:pt x="73710" y="229047"/>
                    </a:lnTo>
                    <a:cubicBezTo>
                      <a:pt x="33001" y="229047"/>
                      <a:pt x="0" y="196046"/>
                      <a:pt x="0" y="155337"/>
                    </a:cubicBezTo>
                    <a:lnTo>
                      <a:pt x="0" y="73710"/>
                    </a:lnTo>
                    <a:cubicBezTo>
                      <a:pt x="0" y="33001"/>
                      <a:pt x="33001" y="0"/>
                      <a:pt x="73710" y="0"/>
                    </a:cubicBezTo>
                    <a:close/>
                  </a:path>
                </a:pathLst>
              </a:custGeom>
              <a:solidFill>
                <a:srgbClr val="565E8F">
                  <a:alpha val="74902"/>
                </a:srgbClr>
              </a:solidFill>
              <a:ln w="19050" cap="rnd">
                <a:solidFill>
                  <a:srgbClr val="99CCFF">
                    <a:alpha val="74902"/>
                  </a:srgbClr>
                </a:solidFill>
                <a:prstDash val="solid"/>
                <a:round/>
              </a:ln>
            </p:spPr>
          </p:sp>
          <p:sp>
            <p:nvSpPr>
              <p:cNvPr name="TextBox 12" id="12"/>
              <p:cNvSpPr txBox="true"/>
              <p:nvPr/>
            </p:nvSpPr>
            <p:spPr>
              <a:xfrm>
                <a:off x="0" y="-28575"/>
                <a:ext cx="1686881" cy="257622"/>
              </a:xfrm>
              <a:prstGeom prst="rect">
                <a:avLst/>
              </a:prstGeom>
            </p:spPr>
            <p:txBody>
              <a:bodyPr anchor="ctr" rtlCol="false" tIns="50800" lIns="50800" bIns="50800" rIns="50800"/>
              <a:lstStyle/>
              <a:p>
                <a:pPr algn="ctr">
                  <a:lnSpc>
                    <a:spcPts val="2100"/>
                  </a:lnSpc>
                </a:pPr>
              </a:p>
            </p:txBody>
          </p:sp>
        </p:grpSp>
        <p:sp>
          <p:nvSpPr>
            <p:cNvPr name="TextBox 13" id="13"/>
            <p:cNvSpPr txBox="true"/>
            <p:nvPr/>
          </p:nvSpPr>
          <p:spPr>
            <a:xfrm rot="0">
              <a:off x="606638" y="337442"/>
              <a:ext cx="9541192" cy="903655"/>
            </a:xfrm>
            <a:prstGeom prst="rect">
              <a:avLst/>
            </a:prstGeom>
          </p:spPr>
          <p:txBody>
            <a:bodyPr anchor="t" rtlCol="false" tIns="0" lIns="0" bIns="0" rIns="0">
              <a:spAutoFit/>
            </a:bodyPr>
            <a:lstStyle/>
            <a:p>
              <a:pPr algn="ctr" marL="0" indent="0" lvl="0">
                <a:lnSpc>
                  <a:spcPts val="4720"/>
                </a:lnSpc>
              </a:pPr>
              <a:r>
                <a:rPr lang="en-US" b="true" sz="5245" spc="-314">
                  <a:gradFill>
                    <a:gsLst>
                      <a:gs pos="0">
                        <a:srgbClr val="99CCFF">
                          <a:alpha val="100000"/>
                        </a:srgbClr>
                      </a:gs>
                      <a:gs pos="33333">
                        <a:srgbClr val="FFFFFF">
                          <a:alpha val="100000"/>
                        </a:srgbClr>
                      </a:gs>
                      <a:gs pos="66667">
                        <a:srgbClr val="FFFFFF">
                          <a:alpha val="100000"/>
                        </a:srgbClr>
                      </a:gs>
                      <a:gs pos="100000">
                        <a:srgbClr val="99CCFF">
                          <a:alpha val="100000"/>
                        </a:srgbClr>
                      </a:gs>
                    </a:gsLst>
                    <a:lin ang="5400000"/>
                  </a:gradFill>
                  <a:latin typeface="Open Sauce Bold"/>
                  <a:ea typeface="Open Sauce Bold"/>
                  <a:cs typeface="Open Sauce Bold"/>
                  <a:sym typeface="Open Sauce Bold"/>
                </a:rPr>
                <a:t>Announcements</a:t>
              </a:r>
            </a:p>
          </p:txBody>
        </p:sp>
      </p:grpSp>
      <p:sp>
        <p:nvSpPr>
          <p:cNvPr name="TextBox 14" id="14"/>
          <p:cNvSpPr txBox="true"/>
          <p:nvPr/>
        </p:nvSpPr>
        <p:spPr>
          <a:xfrm rot="0">
            <a:off x="854498" y="6040954"/>
            <a:ext cx="16579004" cy="3956816"/>
          </a:xfrm>
          <a:prstGeom prst="rect">
            <a:avLst/>
          </a:prstGeom>
        </p:spPr>
        <p:txBody>
          <a:bodyPr anchor="t" rtlCol="false" tIns="0" lIns="0" bIns="0" rIns="0">
            <a:spAutoFit/>
          </a:bodyPr>
          <a:lstStyle/>
          <a:p>
            <a:pPr algn="l">
              <a:lnSpc>
                <a:spcPts val="3892"/>
              </a:lnSpc>
            </a:pPr>
          </a:p>
          <a:p>
            <a:pPr algn="l">
              <a:lnSpc>
                <a:spcPts val="4312"/>
              </a:lnSpc>
            </a:pPr>
            <a:r>
              <a:rPr lang="en-US" sz="4106" spc="-114" u="sng">
                <a:solidFill>
                  <a:srgbClr val="7681BD"/>
                </a:solidFill>
                <a:latin typeface="Open Sauce"/>
                <a:ea typeface="Open Sauce"/>
                <a:cs typeface="Open Sauce"/>
                <a:sym typeface="Open Sauce"/>
              </a:rPr>
              <a:t>Upcoming events</a:t>
            </a:r>
            <a:r>
              <a:rPr lang="en-US" sz="4106" spc="-114" b="true">
                <a:solidFill>
                  <a:srgbClr val="7681BD"/>
                </a:solidFill>
                <a:latin typeface="Open Sauce Bold"/>
                <a:ea typeface="Open Sauce Bold"/>
                <a:cs typeface="Open Sauce Bold"/>
                <a:sym typeface="Open Sauce Bold"/>
              </a:rPr>
              <a:t> </a:t>
            </a:r>
          </a:p>
          <a:p>
            <a:pPr algn="l">
              <a:lnSpc>
                <a:spcPts val="3892"/>
              </a:lnSpc>
            </a:pPr>
          </a:p>
          <a:p>
            <a:pPr algn="l">
              <a:lnSpc>
                <a:spcPts val="3892"/>
              </a:lnSpc>
            </a:pPr>
            <a:r>
              <a:rPr lang="en-US" sz="3706" spc="-103" b="true">
                <a:solidFill>
                  <a:srgbClr val="7681BD"/>
                </a:solidFill>
                <a:latin typeface="Open Sauce Bold"/>
                <a:ea typeface="Open Sauce Bold"/>
                <a:cs typeface="Open Sauce Bold"/>
                <a:sym typeface="Open Sauce Bold"/>
              </a:rPr>
              <a:t>NetworkAI x KTP Recruiter Event | Tuesday, May 5</a:t>
            </a:r>
            <a:r>
              <a:rPr lang="en-US" sz="3706" spc="-103" b="true">
                <a:solidFill>
                  <a:srgbClr val="7681BD"/>
                </a:solidFill>
                <a:latin typeface="Open Sauce Bold"/>
                <a:ea typeface="Open Sauce Bold"/>
                <a:cs typeface="Open Sauce Bold"/>
                <a:sym typeface="Open Sauce Bold"/>
              </a:rPr>
              <a:t>th</a:t>
            </a:r>
            <a:r>
              <a:rPr lang="en-US" sz="3706" spc="-103" b="true">
                <a:solidFill>
                  <a:srgbClr val="7681BD"/>
                </a:solidFill>
                <a:latin typeface="Open Sauce Bold"/>
                <a:ea typeface="Open Sauce Bold"/>
                <a:cs typeface="Open Sauce Bold"/>
                <a:sym typeface="Open Sauce Bold"/>
              </a:rPr>
              <a:t> @ 6-7:30 DEMP 004 </a:t>
            </a:r>
          </a:p>
          <a:p>
            <a:pPr algn="l" marL="800318" indent="-400159" lvl="1">
              <a:lnSpc>
                <a:spcPts val="3892"/>
              </a:lnSpc>
              <a:buFont typeface="Arial"/>
              <a:buChar char="•"/>
            </a:pPr>
            <a:r>
              <a:rPr lang="en-US" sz="3706" spc="-103">
                <a:solidFill>
                  <a:srgbClr val="7681BD"/>
                </a:solidFill>
                <a:latin typeface="Open Sauce"/>
                <a:ea typeface="Open Sauce"/>
                <a:cs typeface="Open Sauce"/>
                <a:sym typeface="Open Sauce"/>
              </a:rPr>
              <a:t>Connect with recruiters and learn how AI shows up in hiring.</a:t>
            </a:r>
          </a:p>
          <a:p>
            <a:pPr algn="l">
              <a:lnSpc>
                <a:spcPts val="3892"/>
              </a:lnSpc>
            </a:pPr>
          </a:p>
          <a:p>
            <a:pPr algn="l">
              <a:lnSpc>
                <a:spcPts val="3892"/>
              </a:lnSpc>
            </a:pPr>
            <a:r>
              <a:rPr lang="en-US" sz="3706" spc="-103" b="true">
                <a:solidFill>
                  <a:srgbClr val="7681BD"/>
                </a:solidFill>
                <a:latin typeface="Open Sauce Bold"/>
                <a:ea typeface="Open Sauce Bold"/>
                <a:cs typeface="Open Sauce Bold"/>
                <a:sym typeface="Open Sauce Bold"/>
              </a:rPr>
              <a:t>AI Ethics with Business Ethics Association | Monday, May 18</a:t>
            </a:r>
            <a:r>
              <a:rPr lang="en-US" sz="3706" spc="-103" b="true">
                <a:solidFill>
                  <a:srgbClr val="7681BD"/>
                </a:solidFill>
                <a:latin typeface="Open Sauce Bold"/>
                <a:ea typeface="Open Sauce Bold"/>
                <a:cs typeface="Open Sauce Bold"/>
                <a:sym typeface="Open Sauce Bold"/>
              </a:rPr>
              <a:t>th</a:t>
            </a:r>
            <a:r>
              <a:rPr lang="en-US" sz="3706" spc="-103" b="true">
                <a:solidFill>
                  <a:srgbClr val="7681BD"/>
                </a:solidFill>
                <a:latin typeface="Open Sauce Bold"/>
                <a:ea typeface="Open Sauce Bold"/>
                <a:cs typeface="Open Sauce Bold"/>
                <a:sym typeface="Open Sauce Bold"/>
              </a:rPr>
              <a:t> @6:30-7:30 </a:t>
            </a:r>
          </a:p>
          <a:p>
            <a:pPr algn="l" marL="800318" indent="-400159" lvl="1">
              <a:lnSpc>
                <a:spcPts val="3892"/>
              </a:lnSpc>
              <a:buFont typeface="Arial"/>
              <a:buChar char="•"/>
            </a:pPr>
            <a:r>
              <a:rPr lang="en-US" sz="3706" spc="-103">
                <a:solidFill>
                  <a:srgbClr val="7681BD"/>
                </a:solidFill>
                <a:latin typeface="Open Sauce"/>
                <a:ea typeface="Open Sauce"/>
                <a:cs typeface="Open Sauce"/>
                <a:sym typeface="Open Sauce"/>
              </a:rPr>
              <a:t>Joint session on responsible AI in business contexts.</a:t>
            </a:r>
          </a:p>
        </p:txBody>
      </p:sp>
      <p:sp>
        <p:nvSpPr>
          <p:cNvPr name="TextBox 15" id="15"/>
          <p:cNvSpPr txBox="true"/>
          <p:nvPr/>
        </p:nvSpPr>
        <p:spPr>
          <a:xfrm rot="0">
            <a:off x="1310420" y="2711118"/>
            <a:ext cx="15667159" cy="752476"/>
          </a:xfrm>
          <a:prstGeom prst="rect">
            <a:avLst/>
          </a:prstGeom>
        </p:spPr>
        <p:txBody>
          <a:bodyPr anchor="t" rtlCol="false" tIns="0" lIns="0" bIns="0" rIns="0">
            <a:spAutoFit/>
          </a:bodyPr>
          <a:lstStyle/>
          <a:p>
            <a:pPr algn="ctr" marL="0" indent="0" lvl="0">
              <a:lnSpc>
                <a:spcPts val="5400"/>
              </a:lnSpc>
            </a:pPr>
            <a:r>
              <a:rPr lang="en-US" sz="6000" spc="-360">
                <a:solidFill>
                  <a:srgbClr val="777FC4"/>
                </a:solidFill>
                <a:latin typeface="Open Sauce"/>
                <a:ea typeface="Open Sauce"/>
                <a:cs typeface="Open Sauce"/>
                <a:sym typeface="Open Sauce"/>
              </a:rPr>
              <a:t>Join the Discord if you haven’t already  </a:t>
            </a:r>
          </a:p>
        </p:txBody>
      </p:sp>
      <p:sp>
        <p:nvSpPr>
          <p:cNvPr name="TextBox 16" id="16"/>
          <p:cNvSpPr txBox="true"/>
          <p:nvPr/>
        </p:nvSpPr>
        <p:spPr>
          <a:xfrm rot="0">
            <a:off x="1310420" y="4391024"/>
            <a:ext cx="15667159" cy="752476"/>
          </a:xfrm>
          <a:prstGeom prst="rect">
            <a:avLst/>
          </a:prstGeom>
        </p:spPr>
        <p:txBody>
          <a:bodyPr anchor="t" rtlCol="false" tIns="0" lIns="0" bIns="0" rIns="0">
            <a:spAutoFit/>
          </a:bodyPr>
          <a:lstStyle/>
          <a:p>
            <a:pPr algn="ctr" marL="0" indent="0" lvl="0">
              <a:lnSpc>
                <a:spcPts val="5400"/>
              </a:lnSpc>
            </a:pPr>
            <a:r>
              <a:rPr lang="en-US" sz="6000" spc="-360">
                <a:solidFill>
                  <a:srgbClr val="777FC4"/>
                </a:solidFill>
                <a:latin typeface="Open Sauce"/>
                <a:ea typeface="Open Sauce"/>
                <a:cs typeface="Open Sauce"/>
                <a:sym typeface="Open Sauce"/>
              </a:rPr>
              <a:t>Recruiter Event RSVP will be out soon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DAHHysWlBe0</dc:identifier>
  <dcterms:modified xsi:type="dcterms:W3CDTF">2011-08-01T06:04:30Z</dcterms:modified>
  <cp:revision>1</cp:revision>
  <dc:title>NetworkAI MCP Workshop Slides</dc:title>
</cp:coreProperties>
</file>